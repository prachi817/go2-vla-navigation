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Roboto"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D03E0C-C031-4C38-83CD-E9B4D8B3B06F}">
  <a:tblStyle styleId="{C6D03E0C-C031-4C38-83CD-E9B4D8B3B06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71980"/>
  </p:normalViewPr>
  <p:slideViewPr>
    <p:cSldViewPr snapToGrid="0">
      <p:cViewPr varScale="1">
        <p:scale>
          <a:sx n="84" d="100"/>
          <a:sy n="84" d="100"/>
        </p:scale>
        <p:origin x="1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Hi everyone. My capstone project is called WalkTheTalk. The goal is to teach a four-legged robot, the Unitree Go2, to follow plain spoken instructions, like ‘exit the bedroom, turn left, and stop near the rug’, and walk there on its own, without a map.</a:t>
            </a:r>
            <a:endParaRPr sz="1100">
              <a:latin typeface="Arial"/>
              <a:ea typeface="Arial"/>
              <a:cs typeface="Arial"/>
              <a:sym typeface="Arial"/>
            </a:endParaRPr>
          </a:p>
          <a:p>
            <a:pPr marL="0" lvl="0" indent="0" algn="l" rtl="0">
              <a:lnSpc>
                <a:spcPct val="115000"/>
              </a:lnSpc>
              <a:spcBef>
                <a:spcPts val="1200"/>
              </a:spcBef>
              <a:spcAft>
                <a:spcPts val="0"/>
              </a:spcAft>
              <a:buSzPts val="1100"/>
              <a:buNone/>
            </a:pPr>
            <a:r>
              <a:rPr lang="en-US" sz="1100">
                <a:latin typeface="Arial"/>
                <a:ea typeface="Arial"/>
                <a:cs typeface="Arial"/>
                <a:sym typeface="Arial"/>
              </a:rPr>
              <a:t>To do that I use a Vision-Language-Action model called NaVILA which basically serves as a brain ,  it looks at the robot’s camera, reads the instruction, and decides the next move in words, like ‘move forward 75 centimetres’ or ‘turn left 30 degrees’. The robot’s walking controller is the ‘legs’: it turns that command into actual steps and keeps the robot balanced.</a:t>
            </a:r>
            <a:endParaRPr sz="1100">
              <a:latin typeface="Arial"/>
              <a:ea typeface="Arial"/>
              <a:cs typeface="Arial"/>
              <a:sym typeface="Arial"/>
            </a:endParaRPr>
          </a:p>
          <a:p>
            <a:pPr marL="0" lvl="0" indent="0" algn="l" rtl="0">
              <a:lnSpc>
                <a:spcPct val="115000"/>
              </a:lnSpc>
              <a:spcBef>
                <a:spcPts val="1200"/>
              </a:spcBef>
              <a:spcAft>
                <a:spcPts val="0"/>
              </a:spcAft>
              <a:buSzPts val="1100"/>
              <a:buNone/>
            </a:pP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1200"/>
              </a:spcBef>
              <a:spcAft>
                <a:spcPts val="0"/>
              </a:spcAft>
              <a:buNone/>
            </a:pPr>
            <a:endParaRPr/>
          </a:p>
        </p:txBody>
      </p:sp>
      <p:sp>
        <p:nvSpPr>
          <p:cNvPr id="24" name="Google Shape;2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The project has four tasks. In my last presentation I covered the first two: connecting the onboard computer to the real Go2, and getting the Go2 walking in the Isaac Sim simulator. Today I’ll cover Task 3, where NaVILA now drives the simulated robot end to end, and the contribution I plan to make, a fix for NaVILA’s habit of finding the goal but not stopping there</a:t>
            </a:r>
            <a:endParaRPr/>
          </a:p>
        </p:txBody>
      </p:sp>
      <p:sp>
        <p:nvSpPr>
          <p:cNvPr id="32" name="Google Shape;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Task 3 loop working end to end, and this is the ss from one of our episode videos. </a:t>
            </a:r>
            <a:r>
              <a:rPr lang="en-US" sz="1000" b="1" dirty="0">
                <a:solidFill>
                  <a:srgbClr val="CCCCCC"/>
                </a:solidFill>
                <a:highlight>
                  <a:srgbClr val="181818"/>
                </a:highlight>
                <a:latin typeface="Roboto"/>
                <a:ea typeface="Roboto"/>
                <a:cs typeface="Roboto"/>
                <a:sym typeface="Roboto"/>
              </a:rPr>
              <a:t>We connected Isaac Sim to </a:t>
            </a:r>
            <a:r>
              <a:rPr lang="en-US" sz="1000" b="1" dirty="0" err="1">
                <a:solidFill>
                  <a:srgbClr val="CCCCCC"/>
                </a:solidFill>
                <a:highlight>
                  <a:srgbClr val="181818"/>
                </a:highlight>
                <a:latin typeface="Roboto"/>
                <a:ea typeface="Roboto"/>
                <a:cs typeface="Roboto"/>
                <a:sym typeface="Roboto"/>
              </a:rPr>
              <a:t>NaVILA</a:t>
            </a:r>
            <a:r>
              <a:rPr lang="en-US" sz="1000" b="1" dirty="0">
                <a:solidFill>
                  <a:srgbClr val="CCCCCC"/>
                </a:solidFill>
                <a:highlight>
                  <a:srgbClr val="181818"/>
                </a:highlight>
                <a:latin typeface="Roboto"/>
                <a:ea typeface="Roboto"/>
                <a:cs typeface="Roboto"/>
                <a:sym typeface="Roboto"/>
              </a:rPr>
              <a:t> so that, for each instruction in the benchmark, </a:t>
            </a:r>
            <a:r>
              <a:rPr lang="en-US" sz="1000" b="1" dirty="0" err="1">
                <a:solidFill>
                  <a:srgbClr val="CCCCCC"/>
                </a:solidFill>
                <a:highlight>
                  <a:srgbClr val="181818"/>
                </a:highlight>
                <a:latin typeface="Roboto"/>
                <a:ea typeface="Roboto"/>
                <a:cs typeface="Roboto"/>
                <a:sym typeface="Roboto"/>
              </a:rPr>
              <a:t>NaVILA</a:t>
            </a:r>
            <a:r>
              <a:rPr lang="en-US" sz="1000" b="1" dirty="0">
                <a:solidFill>
                  <a:srgbClr val="CCCCCC"/>
                </a:solidFill>
                <a:highlight>
                  <a:srgbClr val="181818"/>
                </a:highlight>
                <a:latin typeface="Roboto"/>
                <a:ea typeface="Roboto"/>
                <a:cs typeface="Roboto"/>
                <a:sym typeface="Roboto"/>
              </a:rPr>
              <a:t> reads the instruction, watches the simulated Go2's camera, and picks the next move in words, while the walking policy carries each move out, until </a:t>
            </a:r>
            <a:r>
              <a:rPr lang="en-US" sz="1000" b="1" dirty="0" err="1">
                <a:solidFill>
                  <a:srgbClr val="CCCCCC"/>
                </a:solidFill>
                <a:highlight>
                  <a:srgbClr val="181818"/>
                </a:highlight>
                <a:latin typeface="Roboto"/>
                <a:ea typeface="Roboto"/>
                <a:cs typeface="Roboto"/>
                <a:sym typeface="Roboto"/>
              </a:rPr>
              <a:t>NaVILA</a:t>
            </a:r>
            <a:r>
              <a:rPr lang="en-US" sz="1000" b="1" dirty="0">
                <a:solidFill>
                  <a:srgbClr val="CCCCCC"/>
                </a:solidFill>
                <a:highlight>
                  <a:srgbClr val="181818"/>
                </a:highlight>
                <a:latin typeface="Roboto"/>
                <a:ea typeface="Roboto"/>
                <a:cs typeface="Roboto"/>
                <a:sym typeface="Roboto"/>
              </a:rPr>
              <a:t> decides it has arrived.</a:t>
            </a:r>
            <a:endParaRPr sz="1000" b="1" dirty="0">
              <a:solidFill>
                <a:srgbClr val="CCCCCC"/>
              </a:solidFill>
              <a:highlight>
                <a:srgbClr val="181818"/>
              </a:highlight>
              <a:latin typeface="Roboto"/>
              <a:ea typeface="Roboto"/>
              <a:cs typeface="Roboto"/>
              <a:sym typeface="Roboto"/>
            </a:endParaRPr>
          </a:p>
          <a:p>
            <a:pPr marL="0" lvl="0" indent="0" algn="l" rtl="0">
              <a:spcBef>
                <a:spcPts val="0"/>
              </a:spcBef>
              <a:spcAft>
                <a:spcPts val="0"/>
              </a:spcAft>
              <a:buNone/>
            </a:pPr>
            <a:endParaRPr dirty="0"/>
          </a:p>
          <a:p>
            <a:pPr marL="0" lvl="0" indent="0" algn="l" rtl="0">
              <a:spcBef>
                <a:spcPts val="0"/>
              </a:spcBef>
              <a:spcAft>
                <a:spcPts val="0"/>
              </a:spcAft>
              <a:buNone/>
            </a:pPr>
            <a:r>
              <a:rPr lang="en-US" dirty="0"/>
              <a:t>On the left is the instruction: exit the bedroom, turn left, walk past the gray couch and stop near the rug. On the right is the Go2 in the hallway, with </a:t>
            </a:r>
            <a:r>
              <a:rPr lang="en-US" dirty="0" err="1"/>
              <a:t>NaVILA's</a:t>
            </a:r>
            <a:r>
              <a:rPr lang="en-US" dirty="0"/>
              <a:t> current decision, move forward 75 cm. The camera </a:t>
            </a:r>
            <a:r>
              <a:rPr lang="en-US" dirty="0" err="1"/>
              <a:t>fr</a:t>
            </a:r>
            <a:endParaRPr lang="en-US" dirty="0"/>
          </a:p>
          <a:p>
            <a:pPr marL="0" lvl="0" indent="0" algn="l" rtl="0">
              <a:spcBef>
                <a:spcPts val="0"/>
              </a:spcBef>
              <a:spcAft>
                <a:spcPts val="0"/>
              </a:spcAft>
              <a:buNone/>
            </a:pPr>
            <a:r>
              <a:rPr lang="en-US" dirty="0"/>
              <a:t>Ame and instruction go into </a:t>
            </a:r>
            <a:r>
              <a:rPr lang="en-US" dirty="0" err="1"/>
              <a:t>NaVILA</a:t>
            </a:r>
            <a:r>
              <a:rPr lang="en-US" dirty="0"/>
              <a:t>, </a:t>
            </a:r>
            <a:r>
              <a:rPr lang="en-US" dirty="0" err="1"/>
              <a:t>NaVILA</a:t>
            </a:r>
            <a:r>
              <a:rPr lang="en-US" dirty="0"/>
              <a:t> answers in words, code maps those words to a velocity command, and the moves the legs. Then it repeats.</a:t>
            </a:r>
          </a:p>
          <a:p>
            <a:pPr marL="0" lvl="0" indent="0" algn="l" rtl="0">
              <a:spcBef>
                <a:spcPts val="0"/>
              </a:spcBef>
              <a:spcAft>
                <a:spcPts val="0"/>
              </a:spcAft>
              <a:buNone/>
            </a:pPr>
            <a:endParaRPr lang="en-US" dirty="0"/>
          </a:p>
          <a:p>
            <a:r>
              <a:rPr lang="en-US" dirty="0">
                <a:effectLst/>
                <a:latin typeface="Helvetica Neue" panose="02000503000000020004" pitchFamily="2" charset="0"/>
              </a:rPr>
              <a:t>Instructions comes from benchmark dataset</a:t>
            </a:r>
          </a:p>
          <a:p>
            <a:pPr>
              <a:buFont typeface="Arial" panose="020B0604020202020204" pitchFamily="34" charset="0"/>
              <a:buChar char="•"/>
            </a:pPr>
            <a:r>
              <a:rPr lang="en-US" dirty="0">
                <a:effectLst/>
                <a:latin typeface="Helvetica Neue" panose="02000503000000020004" pitchFamily="2" charset="0"/>
              </a:rPr>
              <a:t>It's built from </a:t>
            </a:r>
            <a:r>
              <a:rPr lang="en-US" b="1" dirty="0">
                <a:effectLst/>
                <a:latin typeface="Helvetica Neue" panose="02000503000000020004" pitchFamily="2" charset="0"/>
              </a:rPr>
              <a:t>R2R</a:t>
            </a:r>
            <a:r>
              <a:rPr lang="en-US" dirty="0">
                <a:effectLst/>
                <a:latin typeface="Helvetica Neue" panose="02000503000000020004" pitchFamily="2" charset="0"/>
              </a:rPr>
              <a:t> (Room-to-Room), a well-known research dataset where </a:t>
            </a:r>
            <a:r>
              <a:rPr lang="en-US" b="1" dirty="0">
                <a:effectLst/>
                <a:latin typeface="Helvetica Neue" panose="02000503000000020004" pitchFamily="2" charset="0"/>
              </a:rPr>
              <a:t>people wrote directions</a:t>
            </a:r>
            <a:r>
              <a:rPr lang="en-US" dirty="0">
                <a:effectLst/>
                <a:latin typeface="Helvetica Neue" panose="02000503000000020004" pitchFamily="2" charset="0"/>
              </a:rPr>
              <a:t> for routes through real houses. The houses were 3D-scanned; that collection is called </a:t>
            </a:r>
            <a:r>
              <a:rPr lang="en-US" b="1" dirty="0">
                <a:effectLst/>
                <a:latin typeface="Helvetica Neue" panose="02000503000000020004" pitchFamily="2" charset="0"/>
              </a:rPr>
              <a:t>Matterport3D</a:t>
            </a:r>
            <a:r>
              <a:rPr lang="en-US" dirty="0">
                <a:effectLst/>
                <a:latin typeface="Helvetica Neue" panose="02000503000000020004" pitchFamily="2" charset="0"/>
              </a:rPr>
              <a:t>.</a:t>
            </a:r>
          </a:p>
          <a:p>
            <a:pPr>
              <a:buFont typeface="Arial" panose="020B0604020202020204" pitchFamily="34" charset="0"/>
              <a:buChar char="•"/>
            </a:pPr>
            <a:r>
              <a:rPr lang="en-US" dirty="0">
                <a:effectLst/>
                <a:latin typeface="Helvetica Neue" panose="02000503000000020004" pitchFamily="2" charset="0"/>
              </a:rPr>
              <a:t>The </a:t>
            </a:r>
            <a:r>
              <a:rPr lang="en-US" dirty="0" err="1">
                <a:effectLst/>
                <a:latin typeface="Helvetica Neue" panose="02000503000000020004" pitchFamily="2" charset="0"/>
              </a:rPr>
              <a:t>NaVILA</a:t>
            </a:r>
            <a:r>
              <a:rPr lang="en-US" dirty="0">
                <a:effectLst/>
                <a:latin typeface="Helvetica Neue" panose="02000503000000020004" pitchFamily="2" charset="0"/>
              </a:rPr>
              <a:t> authors took </a:t>
            </a:r>
            <a:r>
              <a:rPr lang="en-US" b="1" dirty="0">
                <a:effectLst/>
                <a:latin typeface="Helvetica Neue" panose="02000503000000020004" pitchFamily="2" charset="0"/>
              </a:rPr>
              <a:t>1,077 of those routes</a:t>
            </a:r>
            <a:r>
              <a:rPr lang="en-US" dirty="0">
                <a:effectLst/>
                <a:latin typeface="Helvetica Neue" panose="02000503000000020004" pitchFamily="2" charset="0"/>
              </a:rPr>
              <a:t> and placed them in Isaac Sim, so a simulated Go2 can walk them. Those are the 1,077 "episodes."</a:t>
            </a:r>
          </a:p>
          <a:p>
            <a:pPr>
              <a:buFont typeface="Arial" panose="020B0604020202020204" pitchFamily="34" charset="0"/>
              <a:buChar char="•"/>
            </a:pPr>
            <a:r>
              <a:rPr lang="en-US" dirty="0">
                <a:effectLst/>
                <a:latin typeface="Helvetica Neue" panose="02000503000000020004" pitchFamily="2" charset="0"/>
              </a:rPr>
              <a:t>Each episode has three things:</a:t>
            </a:r>
          </a:p>
          <a:p>
            <a:pPr marL="742950" lvl="1" indent="-285750">
              <a:buFont typeface="+mj-lt"/>
              <a:buAutoNum type="arabicPeriod"/>
            </a:pPr>
            <a:r>
              <a:rPr lang="en-US" b="1" dirty="0">
                <a:effectLst/>
                <a:latin typeface="Helvetica Neue" panose="02000503000000020004" pitchFamily="2" charset="0"/>
              </a:rPr>
              <a:t>A house</a:t>
            </a:r>
            <a:r>
              <a:rPr lang="en-US" dirty="0">
                <a:effectLst/>
                <a:latin typeface="Helvetica Neue" panose="02000503000000020004" pitchFamily="2" charset="0"/>
              </a:rPr>
              <a:t> (a 3D-scanned home loaded into Isaac Sim)</a:t>
            </a:r>
          </a:p>
          <a:p>
            <a:pPr marL="742950" lvl="1" indent="-285750">
              <a:buFont typeface="+mj-lt"/>
              <a:buAutoNum type="arabicPeriod"/>
            </a:pPr>
            <a:r>
              <a:rPr lang="en-US" b="1" dirty="0">
                <a:effectLst/>
                <a:latin typeface="Helvetica Neue" panose="02000503000000020004" pitchFamily="2" charset="0"/>
              </a:rPr>
              <a:t>A start position</a:t>
            </a:r>
            <a:r>
              <a:rPr lang="en-US" dirty="0">
                <a:effectLst/>
                <a:latin typeface="Helvetica Neue" panose="02000503000000020004" pitchFamily="2" charset="0"/>
              </a:rPr>
              <a:t> for the robot</a:t>
            </a:r>
          </a:p>
          <a:p>
            <a:pPr marL="742950" lvl="1" indent="-285750">
              <a:buFont typeface="+mj-lt"/>
              <a:buAutoNum type="arabicPeriod"/>
            </a:pPr>
            <a:r>
              <a:rPr lang="en-US" b="1" dirty="0">
                <a:effectLst/>
                <a:latin typeface="Helvetica Neue" panose="02000503000000020004" pitchFamily="2" charset="0"/>
              </a:rPr>
              <a:t>A written instruction</a:t>
            </a:r>
            <a:r>
              <a:rPr lang="en-US" dirty="0">
                <a:effectLst/>
                <a:latin typeface="Helvetica Neue" panose="02000503000000020004" pitchFamily="2" charset="0"/>
              </a:rPr>
              <a:t>, in this style: </a:t>
            </a:r>
            <a:r>
              <a:rPr lang="en-US" i="1" dirty="0">
                <a:effectLst/>
                <a:latin typeface="Helvetica Neue" panose="02000503000000020004" pitchFamily="2" charset="0"/>
              </a:rPr>
              <a:t>"Walk past the kitchen counter, turn left into the hallway, and stop at the bathroom door."</a:t>
            </a:r>
            <a:r>
              <a:rPr lang="en-US" dirty="0">
                <a:effectLst/>
                <a:latin typeface="Helvetica Neue" panose="02000503000000020004" pitchFamily="2" charset="0"/>
              </a:rPr>
              <a:t> (That's an example of the style, not a specific episode.)</a:t>
            </a:r>
          </a:p>
          <a:p>
            <a:pPr>
              <a:buFont typeface="Arial" panose="020B0604020202020204" pitchFamily="34" charset="0"/>
              <a:buChar char="•"/>
            </a:pPr>
            <a:r>
              <a:rPr lang="en-US" dirty="0">
                <a:effectLst/>
                <a:latin typeface="Helvetica Neue" panose="02000503000000020004" pitchFamily="2" charset="0"/>
              </a:rPr>
              <a:t>The dataset also stores the </a:t>
            </a:r>
            <a:r>
              <a:rPr lang="en-US" b="1" dirty="0">
                <a:effectLst/>
                <a:latin typeface="Helvetica Neue" panose="02000503000000020004" pitchFamily="2" charset="0"/>
              </a:rPr>
              <a:t>goal location</a:t>
            </a:r>
            <a:r>
              <a:rPr lang="en-US" dirty="0">
                <a:effectLst/>
                <a:latin typeface="Helvetica Neue" panose="02000503000000020004" pitchFamily="2" charset="0"/>
              </a:rPr>
              <a:t>, but </a:t>
            </a:r>
            <a:r>
              <a:rPr lang="en-US" b="1" dirty="0">
                <a:effectLst/>
                <a:latin typeface="Helvetica Neue" panose="02000503000000020004" pitchFamily="2" charset="0"/>
              </a:rPr>
              <a:t>only the scoring code sees it</a:t>
            </a:r>
            <a:r>
              <a:rPr lang="en-US" dirty="0">
                <a:effectLst/>
                <a:latin typeface="Helvetica Neue" panose="02000503000000020004" pitchFamily="2" charset="0"/>
              </a:rPr>
              <a:t>. </a:t>
            </a:r>
            <a:r>
              <a:rPr lang="en-US" dirty="0" err="1">
                <a:effectLst/>
                <a:latin typeface="Helvetica Neue" panose="02000503000000020004" pitchFamily="2" charset="0"/>
              </a:rPr>
              <a:t>NaVILA</a:t>
            </a:r>
            <a:r>
              <a:rPr lang="en-US" dirty="0">
                <a:effectLst/>
                <a:latin typeface="Helvetica Neue" panose="02000503000000020004" pitchFamily="2" charset="0"/>
              </a:rPr>
              <a:t> never gets the goal's coordinates and must find it from the words and the camera alone.</a:t>
            </a:r>
          </a:p>
          <a:p>
            <a:r>
              <a:rPr lang="en-US" dirty="0">
                <a:effectLst/>
                <a:latin typeface="Helvetica Neue" panose="02000503000000020004" pitchFamily="2" charset="0"/>
              </a:rPr>
              <a:t>It's an AI model with 8 billion parameters, similar in kind to the models behind chatbots, but trained on navigation data.</a:t>
            </a:r>
          </a:p>
          <a:p>
            <a:r>
              <a:rPr lang="en-US" i="1" dirty="0">
                <a:effectLst/>
                <a:latin typeface="Helvetica Neue" panose="02000503000000020004" pitchFamily="2" charset="0"/>
              </a:rPr>
              <a:t>"…serves as a brain: it looks at the robot's camera, reads the instruction, and decides the next move in words…"</a:t>
            </a:r>
            <a:endParaRPr lang="en-US" dirty="0">
              <a:effectLst/>
              <a:latin typeface="Helvetica Neue" panose="02000503000000020004" pitchFamily="2" charset="0"/>
            </a:endParaRPr>
          </a:p>
          <a:p>
            <a:r>
              <a:rPr lang="en-US" dirty="0">
                <a:effectLst/>
                <a:latin typeface="Helvetica Neue" panose="02000503000000020004" pitchFamily="2" charset="0"/>
              </a:rPr>
              <a:t>Each time a decision is needed, </a:t>
            </a:r>
            <a:r>
              <a:rPr lang="en-US" dirty="0" err="1">
                <a:effectLst/>
                <a:latin typeface="Helvetica Neue" panose="02000503000000020004" pitchFamily="2" charset="0"/>
              </a:rPr>
              <a:t>NaVILA</a:t>
            </a:r>
            <a:r>
              <a:rPr lang="en-US" dirty="0">
                <a:effectLst/>
                <a:latin typeface="Helvetica Neue" panose="02000503000000020004" pitchFamily="2" charset="0"/>
              </a:rPr>
              <a:t> receives:</a:t>
            </a:r>
          </a:p>
          <a:p>
            <a:pPr>
              <a:buFont typeface="Arial" panose="020B0604020202020204" pitchFamily="34" charset="0"/>
              <a:buChar char="•"/>
            </a:pPr>
            <a:r>
              <a:rPr lang="en-US" b="1" dirty="0">
                <a:effectLst/>
                <a:latin typeface="Helvetica Neue" panose="02000503000000020004" pitchFamily="2" charset="0"/>
              </a:rPr>
              <a:t>8 camera images</a:t>
            </a:r>
            <a:r>
              <a:rPr lang="en-US" dirty="0">
                <a:effectLst/>
                <a:latin typeface="Helvetica Neue" panose="02000503000000020004" pitchFamily="2" charset="0"/>
              </a:rPr>
              <a:t> from the robot's simulated front camera: the current view plus 7 earlier ones, so it remembers where it has been</a:t>
            </a:r>
          </a:p>
          <a:p>
            <a:pPr>
              <a:buFont typeface="Arial" panose="020B0604020202020204" pitchFamily="34" charset="0"/>
              <a:buChar char="•"/>
            </a:pPr>
            <a:r>
              <a:rPr lang="en-US" b="1" dirty="0">
                <a:effectLst/>
                <a:latin typeface="Helvetica Neue" panose="02000503000000020004" pitchFamily="2" charset="0"/>
              </a:rPr>
              <a:t>The instruction text</a:t>
            </a:r>
            <a:endParaRPr lang="en-US" dirty="0">
              <a:effectLst/>
              <a:latin typeface="Helvetica Neue" panose="02000503000000020004" pitchFamily="2" charset="0"/>
            </a:endParaRPr>
          </a:p>
          <a:p>
            <a:r>
              <a:rPr lang="en-US" dirty="0">
                <a:effectLst/>
                <a:latin typeface="Helvetica Neue" panose="02000503000000020004" pitchFamily="2" charset="0"/>
              </a:rPr>
              <a:t>It replies with </a:t>
            </a:r>
            <a:r>
              <a:rPr lang="en-US" b="1" dirty="0">
                <a:effectLst/>
                <a:latin typeface="Helvetica Neue" panose="02000503000000020004" pitchFamily="2" charset="0"/>
              </a:rPr>
              <a:t>one sentence</a:t>
            </a:r>
            <a:r>
              <a:rPr lang="en-US" dirty="0">
                <a:effectLst/>
                <a:latin typeface="Helvetica Neue" panose="02000503000000020004" pitchFamily="2" charset="0"/>
              </a:rPr>
              <a:t>, like </a:t>
            </a:r>
            <a:r>
              <a:rPr lang="en-US" i="1" dirty="0">
                <a:effectLst/>
                <a:latin typeface="Helvetica Neue" panose="02000503000000020004" pitchFamily="2" charset="0"/>
              </a:rPr>
              <a:t>"The next action is move forward 75 cm."</a:t>
            </a:r>
            <a:r>
              <a:rPr lang="en-US" dirty="0">
                <a:effectLst/>
                <a:latin typeface="Helvetica Neue" panose="02000503000000020004" pitchFamily="2" charset="0"/>
              </a:rPr>
              <a:t> That's the "decides the next move in words" part. It only ever chooses from a small set of moves:</a:t>
            </a:r>
          </a:p>
          <a:p>
            <a:pPr>
              <a:buFont typeface="Arial" panose="020B0604020202020204" pitchFamily="34" charset="0"/>
              <a:buChar char="•"/>
            </a:pPr>
            <a:r>
              <a:rPr lang="en-US" dirty="0">
                <a:effectLst/>
                <a:latin typeface="Helvetica Neue" panose="02000503000000020004" pitchFamily="2" charset="0"/>
              </a:rPr>
              <a:t>move forward </a:t>
            </a:r>
            <a:r>
              <a:rPr lang="en-US" b="1" dirty="0">
                <a:effectLst/>
                <a:latin typeface="Helvetica Neue" panose="02000503000000020004" pitchFamily="2" charset="0"/>
              </a:rPr>
              <a:t>25, 50 or 75 cm</a:t>
            </a:r>
            <a:endParaRPr lang="en-US" dirty="0">
              <a:effectLst/>
              <a:latin typeface="Helvetica Neue" panose="02000503000000020004" pitchFamily="2" charset="0"/>
            </a:endParaRPr>
          </a:p>
          <a:p>
            <a:pPr>
              <a:buFont typeface="Arial" panose="020B0604020202020204" pitchFamily="34" charset="0"/>
              <a:buChar char="•"/>
            </a:pPr>
            <a:r>
              <a:rPr lang="en-US" dirty="0">
                <a:effectLst/>
                <a:latin typeface="Helvetica Neue" panose="02000503000000020004" pitchFamily="2" charset="0"/>
              </a:rPr>
              <a:t>turn left or right </a:t>
            </a:r>
            <a:r>
              <a:rPr lang="en-US" b="1" dirty="0">
                <a:effectLst/>
                <a:latin typeface="Helvetica Neue" panose="02000503000000020004" pitchFamily="2" charset="0"/>
              </a:rPr>
              <a:t>15, 30 or 45 degrees</a:t>
            </a:r>
            <a:endParaRPr lang="en-US" dirty="0">
              <a:effectLst/>
              <a:latin typeface="Helvetica Neue" panose="02000503000000020004" pitchFamily="2" charset="0"/>
            </a:endParaRPr>
          </a:p>
          <a:p>
            <a:r>
              <a:rPr lang="en-US" dirty="0">
                <a:effectLst/>
                <a:latin typeface="Menlo" panose="020B0609030804020204" pitchFamily="49" charset="0"/>
              </a:rPr>
              <a:t>• • </a:t>
            </a:r>
            <a:r>
              <a:rPr lang="en-US" b="1" dirty="0">
                <a:effectLst/>
                <a:latin typeface="Helvetica Neue" panose="02000503000000020004" pitchFamily="2" charset="0"/>
              </a:rPr>
              <a:t>stop</a:t>
            </a:r>
            <a:endParaRPr lang="en-US" dirty="0">
              <a:effectLst/>
              <a:latin typeface="Menlo" panose="020B0609030804020204" pitchFamily="49" charset="0"/>
            </a:endParaRPr>
          </a:p>
          <a:p>
            <a:pPr marL="0" lvl="0" indent="0" algn="l" rtl="0">
              <a:spcBef>
                <a:spcPts val="0"/>
              </a:spcBef>
              <a:spcAft>
                <a:spcPts val="0"/>
              </a:spcAft>
              <a:buNone/>
            </a:pPr>
            <a:endParaRPr lang="en-US" dirty="0"/>
          </a:p>
        </p:txBody>
      </p:sp>
      <p:sp>
        <p:nvSpPr>
          <p:cNvPr id="73" name="Google Shape;7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log from one of our episodes. Each pair of lines is one NaVILA decision: the sentence it outputs, labelled VLM output, and the velocity command my code sends to the walking policy. The three numbers are forward speed, sideways speed and turning speed. Turn left 30 and turn left 15 both turn at 0.52 radians per second, about 30 degrees per second, but for 50 and 25 steps. Move forward 25 and 75 both go at 0.5 metres per second, for 25 and 75 steps. So speed is fixed and the step count sets the distance; 75 steps at 0.5 m/s gives 75 cm, which means the sim runs at about 50 steps per second. When NaVILA says it has finished the instruction, the command goes to zero and the episode ends. The "not enough images" line just means NaVILA had fewer than 8 past frames at the start, so it padded. This mapping, the get_vel_command function, is exactly where the </a:t>
            </a:r>
            <a:r>
              <a:rPr lang="en-US" b="1"/>
              <a:t>stop-aware controller</a:t>
            </a:r>
            <a:r>
              <a:rPr lang="en-US"/>
              <a:t> will sit.</a:t>
            </a: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NaVILA has 8 billion parameters. Stored at 16-bit, each one takes 2 bytes, so about 16 GB for the weights alone, and over 24 GB once the camera frames and working memory are added. That is why last time I said it would not fit. At 8-bit each weight takes 1 byte, so the weights shrink to about 8 GB, and the measured peak is 12.9 GB. That leaves about 7 GB for Isaac Sim on the 20 GB A4500. Nothing is retrained; the weights are rounded when the model is loaded. The trade-off is some possible accuracy loss, which I measure as part of the contribution.</a:t>
            </a:r>
            <a:endParaRPr/>
          </a:p>
        </p:txBody>
      </p:sp>
      <p:sp>
        <p:nvSpPr>
          <p:cNvPr id="119" name="Google Shape;11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are the first 10 benchmark episodes of 8-bit NaVILA on the lab machine; the episode numbers are the benchmark's own IDs. 70% success, 90% oracle success, and an SPL of 0.647. Oracle success means the robot got to the goal area at some point; success means it also stopped there. Three episodes failed: 0, 6 and 12. When I re-ran just those three, one of them succeeded, which lifts the score to 80% and the SPL to 0.736. So the same episode can pass or fail on different runs, which matters for the question at the end. Both numbers are above the paper's 50.2%, but 10 episodes is far too few to claim that: the margin of error is about plus or minus 28 points. The 210-episode run is the fair baseline.</a:t>
            </a:r>
            <a:endParaRPr/>
          </a:p>
        </p:txBody>
      </p:sp>
      <p:sp>
        <p:nvSpPr>
          <p:cNvPr id="143" name="Google Shape;14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five criteria come straight from the project description and our hardware. Criteria 3 to 5 matter most in practice: without public weights we cannot run a model at all, without Isaac Sim support we would have to redo Task 2, and it has to fit on the GPU we actually have.</a:t>
            </a:r>
            <a:endParaRPr/>
          </a:p>
        </p:txBody>
      </p:sp>
      <p:sp>
        <p:nvSpPr>
          <p:cNvPr id="171" name="Google Shape;17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Blue cells meet the criterion, white cells do not, grey is partly. The two models with the best benchmark scores, Efficient-VLN and ABot, have not released their models, so they cannot be our base. StreamVLN and MobileVLA-R1 are open but built for the Habitat simulator, so they would mean redoing Task 2. NaVILA is the only one that is open, legged, and works in Isaac Sim, and the only one we have run on our GPU.</a:t>
            </a:r>
            <a:endParaRPr/>
          </a:p>
        </p:txBody>
      </p:sp>
      <p:sp>
        <p:nvSpPr>
          <p:cNvPr id="215" name="Google Shape;21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From the NaVILA paper, Cheng et al., RSS 2025: 54% success on R2R-CE, the standard language-navigation benchmark; 50.2% on the Go2 in Isaac Sim, which is exactly the benchmark I run; and 88% on a real Go2. The two-level design is also why it suits a contribution: NaVILA's decisions are plain text, so I can add a small module between its output and the walking policy without touching the model.</a:t>
            </a:r>
            <a:endParaRPr/>
          </a:p>
        </p:txBody>
      </p:sp>
      <p:sp>
        <p:nvSpPr>
          <p:cNvPr id="225" name="Google Shape;22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Oracle success counts any episode where the robot got within about 3 m of the goal. Success also requires NaVILA to say stop there. The difference between the two bars is the stopping problem: 8.5 points in the paper and 20 in our first run. On the right are the three failure types from NaVILA's logged decisions. Never stopped and overshot are both stopping failures, which is what we target. Stopping in the wrong room is a different, harder problem about understanding the instruction, and we are not trying to fix it.</a:t>
            </a:r>
            <a:endParaRPr/>
          </a:p>
        </p:txBody>
      </p:sp>
      <p:sp>
        <p:nvSpPr>
          <p:cNvPr id="253" name="Google Shape;25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fix is a small module between NaVILA's text output and the walking policy, in code we already run: the command mapping (get_vel_command) and the evaluation loop. Idea 1 targets overshooting by taking smaller steps near the goal. Idea 2 targets never stopping by asking NaVILA a direct yes/no question. The wrong-room failure is not addressed. Idea 3 is a secondary result that measures the cost of running on our hardware.</a:t>
            </a:r>
            <a:endParaRPr/>
          </a:p>
        </p:txBody>
      </p:sp>
      <p:sp>
        <p:nvSpPr>
          <p:cNvPr id="277" name="Google Shape;27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key design choice is comparing before and after on exactly the same episodes, so the only thing that changes is the fix. The paper's 50.2% is a reference point, but our own 8-bit baseline is the fair comparison. The success-rate improvement is a target, not a result yet. Which leads to my question.</a:t>
            </a:r>
            <a:endParaRPr dirty="0"/>
          </a:p>
        </p:txBody>
      </p:sp>
      <p:sp>
        <p:nvSpPr>
          <p:cNvPr id="318" name="Google Shape;31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My question: how many simulation runs do I need for the baseline-vs-fix comparison to count? Option A is the 210 episodes I planned, about 9 hours per run, with a margin of about plus or minus 6 points. Option B adds the variance check, re-running about 30 episodes twice. Option C is the full 1,077-episode benchmark, about 45 hours per run but a margin of about plus or minus 3 points. Because both runs use the same episodes, the comparison is stronger than the single margin suggests. If the fix gives a small gain, only the larger runs will show it clearly. Related questions if there is time: is a workshop paper the goal, how much lab GPU time can I use, and is 8-bit NaVILA acceptable?</a:t>
            </a:r>
            <a:endParaRPr/>
          </a:p>
        </p:txBody>
      </p:sp>
      <p:sp>
        <p:nvSpPr>
          <p:cNvPr id="361" name="Google Shape;36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lt1"/>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body" idx="1"/>
          </p:nvPr>
        </p:nvSpPr>
        <p:spPr>
          <a:xfrm>
            <a:off x="731520" y="1554480"/>
            <a:ext cx="10698480" cy="457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accent1"/>
              </a:buClr>
              <a:buSzPts val="1600"/>
              <a:buFont typeface="Arial"/>
              <a:buNone/>
              <a:defRPr sz="1600" b="1"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title"/>
          </p:nvPr>
        </p:nvSpPr>
        <p:spPr>
          <a:xfrm>
            <a:off x="731520" y="2057400"/>
            <a:ext cx="10698480" cy="17373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800"/>
              <a:buFont typeface="Calibri"/>
              <a:buNone/>
              <a:defRPr sz="48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body" idx="2"/>
          </p:nvPr>
        </p:nvSpPr>
        <p:spPr>
          <a:xfrm>
            <a:off x="731520" y="3931920"/>
            <a:ext cx="10698480" cy="10972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dk2"/>
              </a:buClr>
              <a:buSzPts val="2000"/>
              <a:buFont typeface="Arial"/>
              <a:buNone/>
              <a:defRPr sz="2000" b="0" i="0" u="none" strike="noStrike" cap="none">
                <a:solidFill>
                  <a:schemeClr val="dk2"/>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solidFill>
          <a:schemeClr val="lt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548640" y="274320"/>
            <a:ext cx="11064240" cy="274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accent1"/>
              </a:buClr>
              <a:buSzPts val="1200"/>
              <a:buFont typeface="Arial"/>
              <a:buNone/>
              <a:defRPr sz="1200" b="1"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548640" y="548640"/>
            <a:ext cx="1106424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alibri"/>
              <a:buNone/>
              <a:defRPr sz="34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3"/>
          <p:cNvSpPr/>
          <p:nvPr/>
        </p:nvSpPr>
        <p:spPr>
          <a:xfrm>
            <a:off x="548640" y="640080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000"/>
              <a:buFont typeface="Calibri"/>
              <a:buNone/>
            </a:pPr>
            <a:r>
              <a:rPr lang="en-US" sz="1000" b="0" i="0" u="none" strike="noStrike" cap="none">
                <a:solidFill>
                  <a:schemeClr val="dk2"/>
                </a:solidFill>
                <a:latin typeface="Calibri"/>
                <a:ea typeface="Calibri"/>
                <a:cs typeface="Calibri"/>
                <a:sym typeface="Calibri"/>
              </a:rPr>
              <a:t>WalkTheTalk  ·  Go2 VLA Navigation  ·  Prachi</a:t>
            </a:r>
            <a:endParaRPr sz="1000" b="0" i="0" u="none" strike="noStrike" cap="none">
              <a:solidFill>
                <a:schemeClr val="dk1"/>
              </a:solidFill>
              <a:latin typeface="Calibri"/>
              <a:ea typeface="Calibri"/>
              <a:cs typeface="Calibri"/>
              <a:sym typeface="Calibri"/>
            </a:endParaRPr>
          </a:p>
        </p:txBody>
      </p:sp>
      <p:sp>
        <p:nvSpPr>
          <p:cNvPr id="19" name="Google Shape;19;p3"/>
          <p:cNvSpPr txBox="1">
            <a:spLocks noGrp="1"/>
          </p:cNvSpPr>
          <p:nvPr>
            <p:ph type="sldNum" idx="12"/>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chemeClr val="dk2"/>
                </a:solidFill>
                <a:latin typeface="Calibri"/>
                <a:ea typeface="Calibri"/>
                <a:cs typeface="Calibri"/>
                <a:sym typeface="Calibri"/>
              </a:defRPr>
            </a:lvl1pPr>
            <a:lvl2pPr marL="0" marR="0" lvl="1" indent="0" algn="r">
              <a:spcBef>
                <a:spcPts val="0"/>
              </a:spcBef>
              <a:buNone/>
              <a:defRPr sz="1000" b="0" i="0" u="none" strike="noStrike" cap="none">
                <a:solidFill>
                  <a:schemeClr val="dk2"/>
                </a:solidFill>
                <a:latin typeface="Calibri"/>
                <a:ea typeface="Calibri"/>
                <a:cs typeface="Calibri"/>
                <a:sym typeface="Calibri"/>
              </a:defRPr>
            </a:lvl2pPr>
            <a:lvl3pPr marL="0" marR="0" lvl="2" indent="0" algn="r">
              <a:spcBef>
                <a:spcPts val="0"/>
              </a:spcBef>
              <a:buNone/>
              <a:defRPr sz="1000" b="0" i="0" u="none" strike="noStrike" cap="none">
                <a:solidFill>
                  <a:schemeClr val="dk2"/>
                </a:solidFill>
                <a:latin typeface="Calibri"/>
                <a:ea typeface="Calibri"/>
                <a:cs typeface="Calibri"/>
                <a:sym typeface="Calibri"/>
              </a:defRPr>
            </a:lvl3pPr>
            <a:lvl4pPr marL="0" marR="0" lvl="3" indent="0" algn="r">
              <a:spcBef>
                <a:spcPts val="0"/>
              </a:spcBef>
              <a:buNone/>
              <a:defRPr sz="1000" b="0" i="0" u="none" strike="noStrike" cap="none">
                <a:solidFill>
                  <a:schemeClr val="dk2"/>
                </a:solidFill>
                <a:latin typeface="Calibri"/>
                <a:ea typeface="Calibri"/>
                <a:cs typeface="Calibri"/>
                <a:sym typeface="Calibri"/>
              </a:defRPr>
            </a:lvl4pPr>
            <a:lvl5pPr marL="0" marR="0" lvl="4" indent="0" algn="r">
              <a:spcBef>
                <a:spcPts val="0"/>
              </a:spcBef>
              <a:buNone/>
              <a:defRPr sz="1000" b="0" i="0" u="none" strike="noStrike" cap="none">
                <a:solidFill>
                  <a:schemeClr val="dk2"/>
                </a:solidFill>
                <a:latin typeface="Calibri"/>
                <a:ea typeface="Calibri"/>
                <a:cs typeface="Calibri"/>
                <a:sym typeface="Calibri"/>
              </a:defRPr>
            </a:lvl5pPr>
            <a:lvl6pPr marL="0" marR="0" lvl="5" indent="0" algn="r">
              <a:spcBef>
                <a:spcPts val="0"/>
              </a:spcBef>
              <a:buNone/>
              <a:defRPr sz="1000" b="0" i="0" u="none" strike="noStrike" cap="none">
                <a:solidFill>
                  <a:schemeClr val="dk2"/>
                </a:solidFill>
                <a:latin typeface="Calibri"/>
                <a:ea typeface="Calibri"/>
                <a:cs typeface="Calibri"/>
                <a:sym typeface="Calibri"/>
              </a:defRPr>
            </a:lvl6pPr>
            <a:lvl7pPr marL="0" marR="0" lvl="6" indent="0" algn="r">
              <a:spcBef>
                <a:spcPts val="0"/>
              </a:spcBef>
              <a:buNone/>
              <a:defRPr sz="1000" b="0" i="0" u="none" strike="noStrike" cap="none">
                <a:solidFill>
                  <a:schemeClr val="dk2"/>
                </a:solidFill>
                <a:latin typeface="Calibri"/>
                <a:ea typeface="Calibri"/>
                <a:cs typeface="Calibri"/>
                <a:sym typeface="Calibri"/>
              </a:defRPr>
            </a:lvl7pPr>
            <a:lvl8pPr marL="0" marR="0" lvl="7" indent="0" algn="r">
              <a:spcBef>
                <a:spcPts val="0"/>
              </a:spcBef>
              <a:buNone/>
              <a:defRPr sz="1000" b="0" i="0" u="none" strike="noStrike" cap="none">
                <a:solidFill>
                  <a:schemeClr val="dk2"/>
                </a:solidFill>
                <a:latin typeface="Calibri"/>
                <a:ea typeface="Calibri"/>
                <a:cs typeface="Calibri"/>
                <a:sym typeface="Calibri"/>
              </a:defRPr>
            </a:lvl8pPr>
            <a:lvl9pPr marL="0" marR="0" lvl="8" indent="0" algn="r">
              <a:spcBef>
                <a:spcPts val="0"/>
              </a:spcBef>
              <a:buNone/>
              <a:defRPr sz="10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chemeClr val="dk2"/>
                </a:solidFill>
                <a:latin typeface="Calibri"/>
                <a:ea typeface="Calibri"/>
                <a:cs typeface="Calibri"/>
                <a:sym typeface="Calibri"/>
              </a:defRPr>
            </a:lvl1pPr>
            <a:lvl2pPr marL="0" marR="0" lvl="1" indent="0" algn="r" rtl="0">
              <a:spcBef>
                <a:spcPts val="0"/>
              </a:spcBef>
              <a:buNone/>
              <a:defRPr sz="1000" b="0" i="0" u="none" strike="noStrike" cap="none">
                <a:solidFill>
                  <a:schemeClr val="dk2"/>
                </a:solidFill>
                <a:latin typeface="Calibri"/>
                <a:ea typeface="Calibri"/>
                <a:cs typeface="Calibri"/>
                <a:sym typeface="Calibri"/>
              </a:defRPr>
            </a:lvl2pPr>
            <a:lvl3pPr marL="0" marR="0" lvl="2" indent="0" algn="r" rtl="0">
              <a:spcBef>
                <a:spcPts val="0"/>
              </a:spcBef>
              <a:buNone/>
              <a:defRPr sz="1000" b="0" i="0" u="none" strike="noStrike" cap="none">
                <a:solidFill>
                  <a:schemeClr val="dk2"/>
                </a:solidFill>
                <a:latin typeface="Calibri"/>
                <a:ea typeface="Calibri"/>
                <a:cs typeface="Calibri"/>
                <a:sym typeface="Calibri"/>
              </a:defRPr>
            </a:lvl3pPr>
            <a:lvl4pPr marL="0" marR="0" lvl="3" indent="0" algn="r" rtl="0">
              <a:spcBef>
                <a:spcPts val="0"/>
              </a:spcBef>
              <a:buNone/>
              <a:defRPr sz="1000" b="0" i="0" u="none" strike="noStrike" cap="none">
                <a:solidFill>
                  <a:schemeClr val="dk2"/>
                </a:solidFill>
                <a:latin typeface="Calibri"/>
                <a:ea typeface="Calibri"/>
                <a:cs typeface="Calibri"/>
                <a:sym typeface="Calibri"/>
              </a:defRPr>
            </a:lvl4pPr>
            <a:lvl5pPr marL="0" marR="0" lvl="4" indent="0" algn="r" rtl="0">
              <a:spcBef>
                <a:spcPts val="0"/>
              </a:spcBef>
              <a:buNone/>
              <a:defRPr sz="1000" b="0" i="0" u="none" strike="noStrike" cap="none">
                <a:solidFill>
                  <a:schemeClr val="dk2"/>
                </a:solidFill>
                <a:latin typeface="Calibri"/>
                <a:ea typeface="Calibri"/>
                <a:cs typeface="Calibri"/>
                <a:sym typeface="Calibri"/>
              </a:defRPr>
            </a:lvl5pPr>
            <a:lvl6pPr marL="0" marR="0" lvl="5" indent="0" algn="r" rtl="0">
              <a:spcBef>
                <a:spcPts val="0"/>
              </a:spcBef>
              <a:buNone/>
              <a:defRPr sz="1000" b="0" i="0" u="none" strike="noStrike" cap="none">
                <a:solidFill>
                  <a:schemeClr val="dk2"/>
                </a:solidFill>
                <a:latin typeface="Calibri"/>
                <a:ea typeface="Calibri"/>
                <a:cs typeface="Calibri"/>
                <a:sym typeface="Calibri"/>
              </a:defRPr>
            </a:lvl6pPr>
            <a:lvl7pPr marL="0" marR="0" lvl="6" indent="0" algn="r" rtl="0">
              <a:spcBef>
                <a:spcPts val="0"/>
              </a:spcBef>
              <a:buNone/>
              <a:defRPr sz="1000" b="0" i="0" u="none" strike="noStrike" cap="none">
                <a:solidFill>
                  <a:schemeClr val="dk2"/>
                </a:solidFill>
                <a:latin typeface="Calibri"/>
                <a:ea typeface="Calibri"/>
                <a:cs typeface="Calibri"/>
                <a:sym typeface="Calibri"/>
              </a:defRPr>
            </a:lvl7pPr>
            <a:lvl8pPr marL="0" marR="0" lvl="7" indent="0" algn="r" rtl="0">
              <a:spcBef>
                <a:spcPts val="0"/>
              </a:spcBef>
              <a:buNone/>
              <a:defRPr sz="1000" b="0" i="0" u="none" strike="noStrike" cap="none">
                <a:solidFill>
                  <a:schemeClr val="dk2"/>
                </a:solidFill>
                <a:latin typeface="Calibri"/>
                <a:ea typeface="Calibri"/>
                <a:cs typeface="Calibri"/>
                <a:sym typeface="Calibri"/>
              </a:defRPr>
            </a:lvl8pPr>
            <a:lvl9pPr marL="0" marR="0" lvl="8" indent="0" algn="r" rtl="0">
              <a:spcBef>
                <a:spcPts val="0"/>
              </a:spcBef>
              <a:buNone/>
              <a:defRPr sz="10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p5"/>
          <p:cNvSpPr txBox="1">
            <a:spLocks noGrp="1"/>
          </p:cNvSpPr>
          <p:nvPr>
            <p:ph type="body" idx="1"/>
          </p:nvPr>
        </p:nvSpPr>
        <p:spPr>
          <a:xfrm>
            <a:off x="731520" y="1554480"/>
            <a:ext cx="1069848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600"/>
              <a:buNone/>
            </a:pPr>
            <a:r>
              <a:rPr lang="en-US" sz="1600" b="1">
                <a:solidFill>
                  <a:schemeClr val="accent1"/>
                </a:solidFill>
              </a:rPr>
              <a:t>CAPSTONE PROGRESS UPDATE 3</a:t>
            </a:r>
            <a:endParaRPr sz="1600"/>
          </a:p>
        </p:txBody>
      </p:sp>
      <p:sp>
        <p:nvSpPr>
          <p:cNvPr id="27" name="Google Shape;27;p5"/>
          <p:cNvSpPr txBox="1">
            <a:spLocks noGrp="1"/>
          </p:cNvSpPr>
          <p:nvPr>
            <p:ph type="title"/>
          </p:nvPr>
        </p:nvSpPr>
        <p:spPr>
          <a:xfrm>
            <a:off x="731520" y="2057400"/>
            <a:ext cx="10698480" cy="173736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4800"/>
              <a:buFont typeface="Calibri"/>
              <a:buNone/>
            </a:pPr>
            <a:r>
              <a:rPr lang="en-US" sz="4800" b="1">
                <a:solidFill>
                  <a:schemeClr val="dk1"/>
                </a:solidFill>
              </a:rPr>
              <a:t>Task 3: </a:t>
            </a:r>
            <a:r>
              <a:rPr lang="en-US"/>
              <a:t>VLA-Based control in simulation</a:t>
            </a:r>
            <a:br>
              <a:rPr lang="en-US"/>
            </a:br>
            <a:endParaRPr sz="4800"/>
          </a:p>
        </p:txBody>
      </p:sp>
      <p:sp>
        <p:nvSpPr>
          <p:cNvPr id="28" name="Google Shape;28;p5"/>
          <p:cNvSpPr txBox="1">
            <a:spLocks noGrp="1"/>
          </p:cNvSpPr>
          <p:nvPr>
            <p:ph type="body" idx="2"/>
          </p:nvPr>
        </p:nvSpPr>
        <p:spPr>
          <a:xfrm>
            <a:off x="731520" y="3931920"/>
            <a:ext cx="10698480" cy="109728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2"/>
              </a:buClr>
              <a:buSzPts val="2000"/>
              <a:buNone/>
            </a:pPr>
            <a:r>
              <a:rPr lang="en-US" sz="2000">
                <a:solidFill>
                  <a:schemeClr val="dk2"/>
                </a:solidFill>
              </a:rPr>
              <a:t>WalkTheTalk  ·  Vision-Language-Action navigation on a Unitree Go2</a:t>
            </a:r>
            <a:endParaRPr sz="2000"/>
          </a:p>
          <a:p>
            <a:pPr marL="0" lvl="0" indent="0" algn="l" rtl="0">
              <a:spcBef>
                <a:spcPts val="400"/>
              </a:spcBef>
              <a:spcAft>
                <a:spcPts val="0"/>
              </a:spcAft>
              <a:buClr>
                <a:schemeClr val="dk2"/>
              </a:buClr>
              <a:buSzPts val="2000"/>
              <a:buNone/>
            </a:pP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Tasks 1 and 2 are done; NaVILA now runs in simulation</a:t>
            </a:r>
            <a:endParaRPr sz="3400"/>
          </a:p>
        </p:txBody>
      </p:sp>
      <p:cxnSp>
        <p:nvCxnSpPr>
          <p:cNvPr id="35" name="Google Shape;35;p6"/>
          <p:cNvCxnSpPr/>
          <p:nvPr/>
        </p:nvCxnSpPr>
        <p:spPr>
          <a:xfrm>
            <a:off x="960120" y="1783080"/>
            <a:ext cx="8457286" cy="0"/>
          </a:xfrm>
          <a:prstGeom prst="straightConnector1">
            <a:avLst/>
          </a:prstGeom>
          <a:noFill/>
          <a:ln w="25400" cap="flat" cmpd="sng">
            <a:solidFill>
              <a:schemeClr val="accent5"/>
            </a:solidFill>
            <a:prstDash val="solid"/>
            <a:round/>
            <a:headEnd type="none" w="sm" len="sm"/>
            <a:tailEnd type="none" w="sm" len="sm"/>
          </a:ln>
        </p:spPr>
      </p:cxnSp>
      <p:sp>
        <p:nvSpPr>
          <p:cNvPr id="36" name="Google Shape;36;p6"/>
          <p:cNvSpPr/>
          <p:nvPr/>
        </p:nvSpPr>
        <p:spPr>
          <a:xfrm>
            <a:off x="685800" y="1508760"/>
            <a:ext cx="548640" cy="548640"/>
          </a:xfrm>
          <a:prstGeom prst="ellipse">
            <a:avLst/>
          </a:prstGeom>
          <a:solidFill>
            <a:schemeClr val="accen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txBox="1"/>
          <p:nvPr/>
        </p:nvSpPr>
        <p:spPr>
          <a:xfrm>
            <a:off x="685800" y="15087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38" name="Google Shape;38;p6"/>
          <p:cNvSpPr/>
          <p:nvPr/>
        </p:nvSpPr>
        <p:spPr>
          <a:xfrm>
            <a:off x="548640" y="2194560"/>
            <a:ext cx="2606040" cy="301752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p:nvPr/>
        </p:nvSpPr>
        <p:spPr>
          <a:xfrm>
            <a:off x="777240" y="2468880"/>
            <a:ext cx="1417320" cy="32918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6"/>
          <p:cNvSpPr txBox="1"/>
          <p:nvPr/>
        </p:nvSpPr>
        <p:spPr>
          <a:xfrm>
            <a:off x="777240" y="2468880"/>
            <a:ext cx="14173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100"/>
              <a:buFont typeface="Calibri"/>
              <a:buNone/>
            </a:pPr>
            <a:r>
              <a:rPr lang="en-US" sz="1100" b="1" i="0" u="none" strike="noStrike" cap="none">
                <a:solidFill>
                  <a:schemeClr val="lt1"/>
                </a:solidFill>
                <a:latin typeface="Calibri"/>
                <a:ea typeface="Calibri"/>
                <a:cs typeface="Calibri"/>
                <a:sym typeface="Calibri"/>
              </a:rPr>
              <a:t>DONE</a:t>
            </a:r>
            <a:endParaRPr sz="1100" b="0" i="0" u="none" strike="noStrike" cap="none">
              <a:solidFill>
                <a:schemeClr val="dk1"/>
              </a:solidFill>
              <a:latin typeface="Calibri"/>
              <a:ea typeface="Calibri"/>
              <a:cs typeface="Calibri"/>
              <a:sym typeface="Calibri"/>
            </a:endParaRPr>
          </a:p>
        </p:txBody>
      </p:sp>
      <p:sp>
        <p:nvSpPr>
          <p:cNvPr id="41" name="Google Shape;41;p6"/>
          <p:cNvSpPr txBox="1"/>
          <p:nvPr/>
        </p:nvSpPr>
        <p:spPr>
          <a:xfrm>
            <a:off x="777240" y="30175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Task 1</a:t>
            </a:r>
            <a:endParaRPr sz="1400" b="0" i="0" u="none" strike="noStrike" cap="none">
              <a:solidFill>
                <a:schemeClr val="dk1"/>
              </a:solidFill>
              <a:latin typeface="Calibri"/>
              <a:ea typeface="Calibri"/>
              <a:cs typeface="Calibri"/>
              <a:sym typeface="Calibri"/>
            </a:endParaRPr>
          </a:p>
        </p:txBody>
      </p:sp>
      <p:sp>
        <p:nvSpPr>
          <p:cNvPr id="42" name="Google Shape;42;p6"/>
          <p:cNvSpPr txBox="1"/>
          <p:nvPr/>
        </p:nvSpPr>
        <p:spPr>
          <a:xfrm>
            <a:off x="777240" y="3383280"/>
            <a:ext cx="214884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Orin–Go2 integration &amp; high-level control</a:t>
            </a:r>
            <a:endParaRPr sz="1800" b="0" i="0" u="none" strike="noStrike" cap="none">
              <a:solidFill>
                <a:schemeClr val="dk1"/>
              </a:solidFill>
              <a:latin typeface="Calibri"/>
              <a:ea typeface="Calibri"/>
              <a:cs typeface="Calibri"/>
              <a:sym typeface="Calibri"/>
            </a:endParaRPr>
          </a:p>
        </p:txBody>
      </p:sp>
      <p:sp>
        <p:nvSpPr>
          <p:cNvPr id="43" name="Google Shape;43;p6"/>
          <p:cNvSpPr txBox="1"/>
          <p:nvPr/>
        </p:nvSpPr>
        <p:spPr>
          <a:xfrm>
            <a:off x="777240" y="46177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Covered last time</a:t>
            </a:r>
            <a:endParaRPr sz="1300" b="0" i="0" u="none" strike="noStrike" cap="none">
              <a:solidFill>
                <a:schemeClr val="dk1"/>
              </a:solidFill>
              <a:latin typeface="Calibri"/>
              <a:ea typeface="Calibri"/>
              <a:cs typeface="Calibri"/>
              <a:sym typeface="Calibri"/>
            </a:endParaRPr>
          </a:p>
        </p:txBody>
      </p:sp>
      <p:sp>
        <p:nvSpPr>
          <p:cNvPr id="44" name="Google Shape;44;p6"/>
          <p:cNvSpPr/>
          <p:nvPr/>
        </p:nvSpPr>
        <p:spPr>
          <a:xfrm>
            <a:off x="3504895" y="1508760"/>
            <a:ext cx="548640" cy="548640"/>
          </a:xfrm>
          <a:prstGeom prst="ellipse">
            <a:avLst/>
          </a:prstGeom>
          <a:solidFill>
            <a:schemeClr val="accen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6"/>
          <p:cNvSpPr txBox="1"/>
          <p:nvPr/>
        </p:nvSpPr>
        <p:spPr>
          <a:xfrm>
            <a:off x="3504895" y="15087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2</a:t>
            </a:r>
            <a:endParaRPr sz="1800" b="0" i="0" u="none" strike="noStrike" cap="none">
              <a:solidFill>
                <a:schemeClr val="dk1"/>
              </a:solidFill>
              <a:latin typeface="Calibri"/>
              <a:ea typeface="Calibri"/>
              <a:cs typeface="Calibri"/>
              <a:sym typeface="Calibri"/>
            </a:endParaRPr>
          </a:p>
        </p:txBody>
      </p:sp>
      <p:sp>
        <p:nvSpPr>
          <p:cNvPr id="46" name="Google Shape;46;p6"/>
          <p:cNvSpPr/>
          <p:nvPr/>
        </p:nvSpPr>
        <p:spPr>
          <a:xfrm>
            <a:off x="3367735" y="2194560"/>
            <a:ext cx="2606040" cy="301752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3596335" y="2468880"/>
            <a:ext cx="1417320" cy="32918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txBox="1"/>
          <p:nvPr/>
        </p:nvSpPr>
        <p:spPr>
          <a:xfrm>
            <a:off x="3596335" y="2468880"/>
            <a:ext cx="14173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100"/>
              <a:buFont typeface="Calibri"/>
              <a:buNone/>
            </a:pPr>
            <a:r>
              <a:rPr lang="en-US" sz="1100" b="1" i="0" u="none" strike="noStrike" cap="none">
                <a:solidFill>
                  <a:schemeClr val="lt1"/>
                </a:solidFill>
                <a:latin typeface="Calibri"/>
                <a:ea typeface="Calibri"/>
                <a:cs typeface="Calibri"/>
                <a:sym typeface="Calibri"/>
              </a:rPr>
              <a:t>DONE</a:t>
            </a:r>
            <a:endParaRPr sz="1100" b="0" i="0" u="none" strike="noStrike" cap="none">
              <a:solidFill>
                <a:schemeClr val="dk1"/>
              </a:solidFill>
              <a:latin typeface="Calibri"/>
              <a:ea typeface="Calibri"/>
              <a:cs typeface="Calibri"/>
              <a:sym typeface="Calibri"/>
            </a:endParaRPr>
          </a:p>
        </p:txBody>
      </p:sp>
      <p:sp>
        <p:nvSpPr>
          <p:cNvPr id="49" name="Google Shape;49;p6"/>
          <p:cNvSpPr txBox="1"/>
          <p:nvPr/>
        </p:nvSpPr>
        <p:spPr>
          <a:xfrm>
            <a:off x="3596335" y="30175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Task 2</a:t>
            </a:r>
            <a:endParaRPr sz="1400" b="0" i="0" u="none" strike="noStrike" cap="none">
              <a:solidFill>
                <a:schemeClr val="dk1"/>
              </a:solidFill>
              <a:latin typeface="Calibri"/>
              <a:ea typeface="Calibri"/>
              <a:cs typeface="Calibri"/>
              <a:sym typeface="Calibri"/>
            </a:endParaRPr>
          </a:p>
        </p:txBody>
      </p:sp>
      <p:sp>
        <p:nvSpPr>
          <p:cNvPr id="50" name="Google Shape;50;p6"/>
          <p:cNvSpPr txBox="1"/>
          <p:nvPr/>
        </p:nvSpPr>
        <p:spPr>
          <a:xfrm>
            <a:off x="3596335" y="3383280"/>
            <a:ext cx="214884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Go2 simulation environment (Isaac Sim)</a:t>
            </a:r>
            <a:endParaRPr sz="1800" b="0" i="0" u="none" strike="noStrike" cap="none">
              <a:solidFill>
                <a:schemeClr val="dk1"/>
              </a:solidFill>
              <a:latin typeface="Calibri"/>
              <a:ea typeface="Calibri"/>
              <a:cs typeface="Calibri"/>
              <a:sym typeface="Calibri"/>
            </a:endParaRPr>
          </a:p>
        </p:txBody>
      </p:sp>
      <p:sp>
        <p:nvSpPr>
          <p:cNvPr id="51" name="Google Shape;51;p6"/>
          <p:cNvSpPr txBox="1"/>
          <p:nvPr/>
        </p:nvSpPr>
        <p:spPr>
          <a:xfrm>
            <a:off x="3596335" y="46177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Covered last time</a:t>
            </a:r>
            <a:endParaRPr sz="1300" b="0" i="0" u="none" strike="noStrike" cap="none">
              <a:solidFill>
                <a:schemeClr val="dk1"/>
              </a:solidFill>
              <a:latin typeface="Calibri"/>
              <a:ea typeface="Calibri"/>
              <a:cs typeface="Calibri"/>
              <a:sym typeface="Calibri"/>
            </a:endParaRPr>
          </a:p>
        </p:txBody>
      </p:sp>
      <p:sp>
        <p:nvSpPr>
          <p:cNvPr id="52" name="Google Shape;52;p6"/>
          <p:cNvSpPr/>
          <p:nvPr/>
        </p:nvSpPr>
        <p:spPr>
          <a:xfrm>
            <a:off x="6323990" y="1508760"/>
            <a:ext cx="548640" cy="548640"/>
          </a:xfrm>
          <a:prstGeom prst="ellipse">
            <a:avLst/>
          </a:prstGeom>
          <a:solidFill>
            <a:schemeClr val="accent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txBox="1"/>
          <p:nvPr/>
        </p:nvSpPr>
        <p:spPr>
          <a:xfrm>
            <a:off x="6323990" y="15087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p:txBody>
      </p:sp>
      <p:sp>
        <p:nvSpPr>
          <p:cNvPr id="54" name="Google Shape;54;p6"/>
          <p:cNvSpPr/>
          <p:nvPr/>
        </p:nvSpPr>
        <p:spPr>
          <a:xfrm>
            <a:off x="6186830" y="2194560"/>
            <a:ext cx="2606040" cy="3017520"/>
          </a:xfrm>
          <a:prstGeom prst="roundRect">
            <a:avLst>
              <a:gd name="adj" fmla="val 2807"/>
            </a:avLst>
          </a:prstGeom>
          <a:solidFill>
            <a:schemeClr val="accent5"/>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a:off x="6415430" y="2468880"/>
            <a:ext cx="1417320" cy="32918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txBox="1"/>
          <p:nvPr/>
        </p:nvSpPr>
        <p:spPr>
          <a:xfrm>
            <a:off x="6415430" y="2468880"/>
            <a:ext cx="14173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100"/>
              <a:buFont typeface="Calibri"/>
              <a:buNone/>
            </a:pPr>
            <a:r>
              <a:rPr lang="en-US" sz="1100" b="1" i="0" u="none" strike="noStrike" cap="none">
                <a:solidFill>
                  <a:schemeClr val="lt1"/>
                </a:solidFill>
                <a:latin typeface="Calibri"/>
                <a:ea typeface="Calibri"/>
                <a:cs typeface="Calibri"/>
                <a:sym typeface="Calibri"/>
              </a:rPr>
              <a:t>IN PROGRESS</a:t>
            </a:r>
            <a:endParaRPr sz="1100" b="0" i="0" u="none" strike="noStrike" cap="none">
              <a:solidFill>
                <a:schemeClr val="dk1"/>
              </a:solidFill>
              <a:latin typeface="Calibri"/>
              <a:ea typeface="Calibri"/>
              <a:cs typeface="Calibri"/>
              <a:sym typeface="Calibri"/>
            </a:endParaRPr>
          </a:p>
        </p:txBody>
      </p:sp>
      <p:sp>
        <p:nvSpPr>
          <p:cNvPr id="57" name="Google Shape;57;p6"/>
          <p:cNvSpPr txBox="1"/>
          <p:nvPr/>
        </p:nvSpPr>
        <p:spPr>
          <a:xfrm>
            <a:off x="6415430" y="30175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Task 3</a:t>
            </a:r>
            <a:endParaRPr sz="1400" b="0" i="0" u="none" strike="noStrike" cap="none">
              <a:solidFill>
                <a:schemeClr val="dk1"/>
              </a:solidFill>
              <a:latin typeface="Calibri"/>
              <a:ea typeface="Calibri"/>
              <a:cs typeface="Calibri"/>
              <a:sym typeface="Calibri"/>
            </a:endParaRPr>
          </a:p>
        </p:txBody>
      </p:sp>
      <p:sp>
        <p:nvSpPr>
          <p:cNvPr id="58" name="Google Shape;58;p6"/>
          <p:cNvSpPr txBox="1"/>
          <p:nvPr/>
        </p:nvSpPr>
        <p:spPr>
          <a:xfrm>
            <a:off x="6415430" y="3383280"/>
            <a:ext cx="214884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VLA-based control in simulation</a:t>
            </a:r>
            <a:endParaRPr sz="1800" b="0" i="0" u="none" strike="noStrike" cap="none">
              <a:solidFill>
                <a:schemeClr val="dk1"/>
              </a:solidFill>
              <a:latin typeface="Calibri"/>
              <a:ea typeface="Calibri"/>
              <a:cs typeface="Calibri"/>
              <a:sym typeface="Calibri"/>
            </a:endParaRPr>
          </a:p>
        </p:txBody>
      </p:sp>
      <p:sp>
        <p:nvSpPr>
          <p:cNvPr id="59" name="Google Shape;59;p6"/>
          <p:cNvSpPr txBox="1"/>
          <p:nvPr/>
        </p:nvSpPr>
        <p:spPr>
          <a:xfrm>
            <a:off x="6415430" y="46177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Today · Phase 2, Oct 1 – Nov 15</a:t>
            </a:r>
            <a:endParaRPr sz="1300" b="0" i="0" u="none" strike="noStrike" cap="none">
              <a:solidFill>
                <a:schemeClr val="dk1"/>
              </a:solidFill>
              <a:latin typeface="Calibri"/>
              <a:ea typeface="Calibri"/>
              <a:cs typeface="Calibri"/>
              <a:sym typeface="Calibri"/>
            </a:endParaRPr>
          </a:p>
        </p:txBody>
      </p:sp>
      <p:sp>
        <p:nvSpPr>
          <p:cNvPr id="60" name="Google Shape;60;p6"/>
          <p:cNvSpPr/>
          <p:nvPr/>
        </p:nvSpPr>
        <p:spPr>
          <a:xfrm>
            <a:off x="9143086" y="1508760"/>
            <a:ext cx="548640" cy="548640"/>
          </a:xfrm>
          <a:prstGeom prst="ellipse">
            <a:avLst/>
          </a:prstGeom>
          <a:solidFill>
            <a:schemeClr val="dk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txBox="1"/>
          <p:nvPr/>
        </p:nvSpPr>
        <p:spPr>
          <a:xfrm>
            <a:off x="9143086" y="15087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4</a:t>
            </a:r>
            <a:endParaRPr sz="1800" b="0" i="0" u="none" strike="noStrike" cap="none">
              <a:solidFill>
                <a:schemeClr val="dk1"/>
              </a:solidFill>
              <a:latin typeface="Calibri"/>
              <a:ea typeface="Calibri"/>
              <a:cs typeface="Calibri"/>
              <a:sym typeface="Calibri"/>
            </a:endParaRPr>
          </a:p>
        </p:txBody>
      </p:sp>
      <p:sp>
        <p:nvSpPr>
          <p:cNvPr id="62" name="Google Shape;62;p6"/>
          <p:cNvSpPr/>
          <p:nvPr/>
        </p:nvSpPr>
        <p:spPr>
          <a:xfrm>
            <a:off x="9005926" y="2194560"/>
            <a:ext cx="2606040" cy="301752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9234526" y="2468880"/>
            <a:ext cx="1417320" cy="329184"/>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txBox="1"/>
          <p:nvPr/>
        </p:nvSpPr>
        <p:spPr>
          <a:xfrm>
            <a:off x="9234526" y="2468880"/>
            <a:ext cx="14173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100"/>
              <a:buFont typeface="Calibri"/>
              <a:buNone/>
            </a:pPr>
            <a:r>
              <a:rPr lang="en-US" sz="1100" b="1" i="0" u="none" strike="noStrike" cap="none">
                <a:solidFill>
                  <a:schemeClr val="lt1"/>
                </a:solidFill>
                <a:latin typeface="Calibri"/>
                <a:ea typeface="Calibri"/>
                <a:cs typeface="Calibri"/>
                <a:sym typeface="Calibri"/>
              </a:rPr>
              <a:t>LATER</a:t>
            </a:r>
            <a:endParaRPr sz="1100" b="0" i="0" u="none" strike="noStrike" cap="none">
              <a:solidFill>
                <a:schemeClr val="dk1"/>
              </a:solidFill>
              <a:latin typeface="Calibri"/>
              <a:ea typeface="Calibri"/>
              <a:cs typeface="Calibri"/>
              <a:sym typeface="Calibri"/>
            </a:endParaRPr>
          </a:p>
        </p:txBody>
      </p:sp>
      <p:sp>
        <p:nvSpPr>
          <p:cNvPr id="65" name="Google Shape;65;p6"/>
          <p:cNvSpPr txBox="1"/>
          <p:nvPr/>
        </p:nvSpPr>
        <p:spPr>
          <a:xfrm>
            <a:off x="9234526" y="30175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Task 4</a:t>
            </a:r>
            <a:endParaRPr sz="1400" b="0" i="0" u="none" strike="noStrike" cap="none">
              <a:solidFill>
                <a:schemeClr val="dk1"/>
              </a:solidFill>
              <a:latin typeface="Calibri"/>
              <a:ea typeface="Calibri"/>
              <a:cs typeface="Calibri"/>
              <a:sym typeface="Calibri"/>
            </a:endParaRPr>
          </a:p>
        </p:txBody>
      </p:sp>
      <p:sp>
        <p:nvSpPr>
          <p:cNvPr id="66" name="Google Shape;66;p6"/>
          <p:cNvSpPr txBox="1"/>
          <p:nvPr/>
        </p:nvSpPr>
        <p:spPr>
          <a:xfrm>
            <a:off x="9234526" y="3383280"/>
            <a:ext cx="214884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VLA deployment on the real Go2</a:t>
            </a:r>
            <a:endParaRPr sz="1800" b="0" i="0" u="none" strike="noStrike" cap="none">
              <a:solidFill>
                <a:schemeClr val="dk1"/>
              </a:solidFill>
              <a:latin typeface="Calibri"/>
              <a:ea typeface="Calibri"/>
              <a:cs typeface="Calibri"/>
              <a:sym typeface="Calibri"/>
            </a:endParaRPr>
          </a:p>
        </p:txBody>
      </p:sp>
      <p:sp>
        <p:nvSpPr>
          <p:cNvPr id="67" name="Google Shape;67;p6"/>
          <p:cNvSpPr txBox="1"/>
          <p:nvPr/>
        </p:nvSpPr>
        <p:spPr>
          <a:xfrm>
            <a:off x="9234526" y="4617720"/>
            <a:ext cx="2148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Phase 3 · Nov 16 – Dec 7</a:t>
            </a:r>
            <a:endParaRPr sz="1300" b="0" i="0" u="none" strike="noStrike" cap="none">
              <a:solidFill>
                <a:schemeClr val="dk1"/>
              </a:solidFill>
              <a:latin typeface="Calibri"/>
              <a:ea typeface="Calibri"/>
              <a:cs typeface="Calibri"/>
              <a:sym typeface="Calibri"/>
            </a:endParaRPr>
          </a:p>
        </p:txBody>
      </p:sp>
      <p:sp>
        <p:nvSpPr>
          <p:cNvPr id="68" name="Google Shape;68;p6"/>
          <p:cNvSpPr txBox="1"/>
          <p:nvPr/>
        </p:nvSpPr>
        <p:spPr>
          <a:xfrm>
            <a:off x="548640" y="557784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600"/>
              <a:buFont typeface="Calibri"/>
              <a:buNone/>
            </a:pPr>
            <a:r>
              <a:rPr lang="en-US" sz="1600" b="1" i="0" u="none" strike="noStrike" cap="none">
                <a:solidFill>
                  <a:schemeClr val="accent1"/>
                </a:solidFill>
                <a:latin typeface="Calibri"/>
                <a:ea typeface="Calibri"/>
                <a:cs typeface="Calibri"/>
                <a:sym typeface="Calibri"/>
              </a:rPr>
              <a:t>Today:  1) Task 3 progress   2) Why NaVILA   3) Our planned contribution   </a:t>
            </a:r>
            <a:endParaRPr sz="1600" b="0" i="0" u="none" strike="noStrike" cap="none">
              <a:solidFill>
                <a:schemeClr val="dk1"/>
              </a:solidFill>
              <a:latin typeface="Calibri"/>
              <a:ea typeface="Calibri"/>
              <a:cs typeface="Calibri"/>
              <a:sym typeface="Calibri"/>
            </a:endParaRPr>
          </a:p>
        </p:txBody>
      </p:sp>
      <p:sp>
        <p:nvSpPr>
          <p:cNvPr id="69" name="Google Shape;69;p6"/>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2</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7"/>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TASK 3</a:t>
            </a:r>
            <a:endParaRPr sz="1200"/>
          </a:p>
        </p:txBody>
      </p:sp>
      <p:sp>
        <p:nvSpPr>
          <p:cNvPr id="76" name="Google Shape;76;p7"/>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NaVILA now drives the simulated Go2 end to end</a:t>
            </a:r>
            <a:endParaRPr sz="3400"/>
          </a:p>
        </p:txBody>
      </p:sp>
      <p:pic>
        <p:nvPicPr>
          <p:cNvPr id="77" name="Google Shape;77;p7" descr="Episode video: the instruction on the left, and on the right the Go2 in a hallway with NaVILA saying move forward 75 cm"/>
          <p:cNvPicPr preferRelativeResize="0"/>
          <p:nvPr/>
        </p:nvPicPr>
        <p:blipFill rotWithShape="1">
          <a:blip r:embed="rId3">
            <a:alphaModFix/>
          </a:blip>
          <a:srcRect/>
          <a:stretch/>
        </p:blipFill>
        <p:spPr>
          <a:xfrm>
            <a:off x="548640" y="1463040"/>
            <a:ext cx="5669280" cy="2839458"/>
          </a:xfrm>
          <a:prstGeom prst="rect">
            <a:avLst/>
          </a:prstGeom>
          <a:noFill/>
          <a:ln>
            <a:noFill/>
          </a:ln>
        </p:spPr>
      </p:pic>
      <p:sp>
        <p:nvSpPr>
          <p:cNvPr id="78" name="Google Shape;78;p7"/>
          <p:cNvSpPr txBox="1"/>
          <p:nvPr/>
        </p:nvSpPr>
        <p:spPr>
          <a:xfrm>
            <a:off x="548640" y="4393938"/>
            <a:ext cx="56692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Episode video from our run: the instruction (left) and NaVILA's decision with the Go2 (right)</a:t>
            </a:r>
            <a:endParaRPr sz="1200" b="0" i="0" u="none" strike="noStrike" cap="none">
              <a:solidFill>
                <a:schemeClr val="dk1"/>
              </a:solidFill>
              <a:latin typeface="Calibri"/>
              <a:ea typeface="Calibri"/>
              <a:cs typeface="Calibri"/>
              <a:sym typeface="Calibri"/>
            </a:endParaRPr>
          </a:p>
        </p:txBody>
      </p:sp>
      <p:sp>
        <p:nvSpPr>
          <p:cNvPr id="79" name="Google Shape;79;p7"/>
          <p:cNvSpPr/>
          <p:nvPr/>
        </p:nvSpPr>
        <p:spPr>
          <a:xfrm>
            <a:off x="6537960" y="1508760"/>
            <a:ext cx="594360" cy="59436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7" descr="Camera frame + instruction"/>
          <p:cNvPicPr preferRelativeResize="0"/>
          <p:nvPr/>
        </p:nvPicPr>
        <p:blipFill rotWithShape="1">
          <a:blip r:embed="rId4">
            <a:alphaModFix/>
          </a:blip>
          <a:srcRect/>
          <a:stretch/>
        </p:blipFill>
        <p:spPr>
          <a:xfrm>
            <a:off x="6686550" y="1657350"/>
            <a:ext cx="297180" cy="297180"/>
          </a:xfrm>
          <a:prstGeom prst="rect">
            <a:avLst/>
          </a:prstGeom>
          <a:noFill/>
          <a:ln>
            <a:noFill/>
          </a:ln>
        </p:spPr>
      </p:pic>
      <p:sp>
        <p:nvSpPr>
          <p:cNvPr id="81" name="Google Shape;81;p7"/>
          <p:cNvSpPr txBox="1"/>
          <p:nvPr/>
        </p:nvSpPr>
        <p:spPr>
          <a:xfrm>
            <a:off x="7315200" y="1463040"/>
            <a:ext cx="42976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Camera frame + instruction</a:t>
            </a:r>
            <a:endParaRPr sz="1700" b="0" i="0" u="none" strike="noStrike" cap="none">
              <a:solidFill>
                <a:schemeClr val="dk1"/>
              </a:solidFill>
              <a:latin typeface="Calibri"/>
              <a:ea typeface="Calibri"/>
              <a:cs typeface="Calibri"/>
              <a:sym typeface="Calibri"/>
            </a:endParaRPr>
          </a:p>
        </p:txBody>
      </p:sp>
      <p:sp>
        <p:nvSpPr>
          <p:cNvPr id="82" name="Google Shape;82;p7"/>
          <p:cNvSpPr txBox="1"/>
          <p:nvPr/>
        </p:nvSpPr>
        <p:spPr>
          <a:xfrm>
            <a:off x="7315200" y="1810512"/>
            <a:ext cx="4297680" cy="5303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"Exit the bedroom and turn left. Walk straight passing the gray couch and stop near the rug."</a:t>
            </a:r>
            <a:endParaRPr sz="1300" b="0" i="0" u="none" strike="noStrike" cap="none">
              <a:solidFill>
                <a:schemeClr val="dk1"/>
              </a:solidFill>
              <a:latin typeface="Calibri"/>
              <a:ea typeface="Calibri"/>
              <a:cs typeface="Calibri"/>
              <a:sym typeface="Calibri"/>
            </a:endParaRPr>
          </a:p>
        </p:txBody>
      </p:sp>
      <p:cxnSp>
        <p:nvCxnSpPr>
          <p:cNvPr id="83" name="Google Shape;83;p7"/>
          <p:cNvCxnSpPr/>
          <p:nvPr/>
        </p:nvCxnSpPr>
        <p:spPr>
          <a:xfrm>
            <a:off x="6835140" y="2121408"/>
            <a:ext cx="0" cy="237744"/>
          </a:xfrm>
          <a:prstGeom prst="straightConnector1">
            <a:avLst/>
          </a:prstGeom>
          <a:noFill/>
          <a:ln w="25400" cap="flat" cmpd="sng">
            <a:solidFill>
              <a:schemeClr val="accent5"/>
            </a:solidFill>
            <a:prstDash val="solid"/>
            <a:round/>
            <a:headEnd type="none" w="sm" len="sm"/>
            <a:tailEnd type="none" w="sm" len="sm"/>
          </a:ln>
        </p:spPr>
      </p:cxnSp>
      <p:sp>
        <p:nvSpPr>
          <p:cNvPr id="84" name="Google Shape;84;p7"/>
          <p:cNvSpPr/>
          <p:nvPr/>
        </p:nvSpPr>
        <p:spPr>
          <a:xfrm>
            <a:off x="6537960" y="2404872"/>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 name="Google Shape;85;p7" descr="NaVILA (8-bit) decides"/>
          <p:cNvPicPr preferRelativeResize="0"/>
          <p:nvPr/>
        </p:nvPicPr>
        <p:blipFill rotWithShape="1">
          <a:blip r:embed="rId5">
            <a:alphaModFix/>
          </a:blip>
          <a:srcRect/>
          <a:stretch/>
        </p:blipFill>
        <p:spPr>
          <a:xfrm>
            <a:off x="6686550" y="2553462"/>
            <a:ext cx="297180" cy="297180"/>
          </a:xfrm>
          <a:prstGeom prst="rect">
            <a:avLst/>
          </a:prstGeom>
          <a:noFill/>
          <a:ln>
            <a:noFill/>
          </a:ln>
        </p:spPr>
      </p:pic>
      <p:sp>
        <p:nvSpPr>
          <p:cNvPr id="86" name="Google Shape;86;p7"/>
          <p:cNvSpPr txBox="1"/>
          <p:nvPr/>
        </p:nvSpPr>
        <p:spPr>
          <a:xfrm>
            <a:off x="7315200" y="2359152"/>
            <a:ext cx="42976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NaVILA (8-bit) decides</a:t>
            </a:r>
            <a:endParaRPr sz="1700" b="0" i="0" u="none" strike="noStrike" cap="none">
              <a:solidFill>
                <a:schemeClr val="dk1"/>
              </a:solidFill>
              <a:latin typeface="Calibri"/>
              <a:ea typeface="Calibri"/>
              <a:cs typeface="Calibri"/>
              <a:sym typeface="Calibri"/>
            </a:endParaRPr>
          </a:p>
        </p:txBody>
      </p:sp>
      <p:sp>
        <p:nvSpPr>
          <p:cNvPr id="87" name="Google Shape;87;p7"/>
          <p:cNvSpPr txBox="1"/>
          <p:nvPr/>
        </p:nvSpPr>
        <p:spPr>
          <a:xfrm>
            <a:off x="7315200" y="2706624"/>
            <a:ext cx="4297680" cy="5303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Replies in words: "move forward 75 cm", "turn left 45 degree" or "stop"</a:t>
            </a:r>
            <a:endParaRPr sz="1300" b="0" i="0" u="none" strike="noStrike" cap="none">
              <a:solidFill>
                <a:schemeClr val="dk1"/>
              </a:solidFill>
              <a:latin typeface="Calibri"/>
              <a:ea typeface="Calibri"/>
              <a:cs typeface="Calibri"/>
              <a:sym typeface="Calibri"/>
            </a:endParaRPr>
          </a:p>
        </p:txBody>
      </p:sp>
      <p:cxnSp>
        <p:nvCxnSpPr>
          <p:cNvPr id="88" name="Google Shape;88;p7"/>
          <p:cNvCxnSpPr/>
          <p:nvPr/>
        </p:nvCxnSpPr>
        <p:spPr>
          <a:xfrm>
            <a:off x="6835140" y="3017520"/>
            <a:ext cx="0" cy="237744"/>
          </a:xfrm>
          <a:prstGeom prst="straightConnector1">
            <a:avLst/>
          </a:prstGeom>
          <a:noFill/>
          <a:ln w="25400" cap="flat" cmpd="sng">
            <a:solidFill>
              <a:schemeClr val="accent5"/>
            </a:solidFill>
            <a:prstDash val="solid"/>
            <a:round/>
            <a:headEnd type="none" w="sm" len="sm"/>
            <a:tailEnd type="none" w="sm" len="sm"/>
          </a:ln>
        </p:spPr>
      </p:cxnSp>
      <p:sp>
        <p:nvSpPr>
          <p:cNvPr id="89" name="Google Shape;89;p7"/>
          <p:cNvSpPr/>
          <p:nvPr/>
        </p:nvSpPr>
        <p:spPr>
          <a:xfrm>
            <a:off x="6537960" y="3300984"/>
            <a:ext cx="594360" cy="59436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 name="Google Shape;90;p7" descr="Command mapping"/>
          <p:cNvPicPr preferRelativeResize="0"/>
          <p:nvPr/>
        </p:nvPicPr>
        <p:blipFill rotWithShape="1">
          <a:blip r:embed="rId6">
            <a:alphaModFix/>
          </a:blip>
          <a:srcRect/>
          <a:stretch/>
        </p:blipFill>
        <p:spPr>
          <a:xfrm>
            <a:off x="6686550" y="3449574"/>
            <a:ext cx="297180" cy="297180"/>
          </a:xfrm>
          <a:prstGeom prst="rect">
            <a:avLst/>
          </a:prstGeom>
          <a:noFill/>
          <a:ln>
            <a:noFill/>
          </a:ln>
        </p:spPr>
      </p:pic>
      <p:sp>
        <p:nvSpPr>
          <p:cNvPr id="91" name="Google Shape;91;p7"/>
          <p:cNvSpPr txBox="1"/>
          <p:nvPr/>
        </p:nvSpPr>
        <p:spPr>
          <a:xfrm>
            <a:off x="7315200" y="3255264"/>
            <a:ext cx="42976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Command mapping</a:t>
            </a:r>
            <a:endParaRPr sz="1700" b="0" i="0" u="none" strike="noStrike" cap="none">
              <a:solidFill>
                <a:schemeClr val="dk1"/>
              </a:solidFill>
              <a:latin typeface="Calibri"/>
              <a:ea typeface="Calibri"/>
              <a:cs typeface="Calibri"/>
              <a:sym typeface="Calibri"/>
            </a:endParaRPr>
          </a:p>
        </p:txBody>
      </p:sp>
      <p:sp>
        <p:nvSpPr>
          <p:cNvPr id="92" name="Google Shape;92;p7"/>
          <p:cNvSpPr txBox="1"/>
          <p:nvPr/>
        </p:nvSpPr>
        <p:spPr>
          <a:xfrm>
            <a:off x="7315200" y="3602736"/>
            <a:ext cx="4297680" cy="5303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Python turns the words into a velocity command</a:t>
            </a:r>
            <a:endParaRPr sz="1300" b="0" i="0" u="none" strike="noStrike" cap="none">
              <a:solidFill>
                <a:schemeClr val="dk1"/>
              </a:solidFill>
              <a:latin typeface="Calibri"/>
              <a:ea typeface="Calibri"/>
              <a:cs typeface="Calibri"/>
              <a:sym typeface="Calibri"/>
            </a:endParaRPr>
          </a:p>
        </p:txBody>
      </p:sp>
      <p:cxnSp>
        <p:nvCxnSpPr>
          <p:cNvPr id="93" name="Google Shape;93;p7"/>
          <p:cNvCxnSpPr/>
          <p:nvPr/>
        </p:nvCxnSpPr>
        <p:spPr>
          <a:xfrm>
            <a:off x="6835140" y="3913632"/>
            <a:ext cx="0" cy="237744"/>
          </a:xfrm>
          <a:prstGeom prst="straightConnector1">
            <a:avLst/>
          </a:prstGeom>
          <a:noFill/>
          <a:ln w="25400" cap="flat" cmpd="sng">
            <a:solidFill>
              <a:schemeClr val="accent5"/>
            </a:solidFill>
            <a:prstDash val="solid"/>
            <a:round/>
            <a:headEnd type="none" w="sm" len="sm"/>
            <a:tailEnd type="none" w="sm" len="sm"/>
          </a:ln>
        </p:spPr>
      </p:cxnSp>
      <p:sp>
        <p:nvSpPr>
          <p:cNvPr id="94" name="Google Shape;94;p7"/>
          <p:cNvSpPr/>
          <p:nvPr/>
        </p:nvSpPr>
        <p:spPr>
          <a:xfrm>
            <a:off x="6537960" y="4197096"/>
            <a:ext cx="594360" cy="59436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7" descr="Walking policy moves the Go2"/>
          <p:cNvPicPr preferRelativeResize="0"/>
          <p:nvPr/>
        </p:nvPicPr>
        <p:blipFill rotWithShape="1">
          <a:blip r:embed="rId7">
            <a:alphaModFix/>
          </a:blip>
          <a:srcRect/>
          <a:stretch/>
        </p:blipFill>
        <p:spPr>
          <a:xfrm>
            <a:off x="6686550" y="4345686"/>
            <a:ext cx="297180" cy="297180"/>
          </a:xfrm>
          <a:prstGeom prst="rect">
            <a:avLst/>
          </a:prstGeom>
          <a:noFill/>
          <a:ln>
            <a:noFill/>
          </a:ln>
        </p:spPr>
      </p:pic>
      <p:sp>
        <p:nvSpPr>
          <p:cNvPr id="96" name="Google Shape;96;p7"/>
          <p:cNvSpPr txBox="1"/>
          <p:nvPr/>
        </p:nvSpPr>
        <p:spPr>
          <a:xfrm>
            <a:off x="7315200" y="4151376"/>
            <a:ext cx="42976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Walking policy moves the Go2</a:t>
            </a:r>
            <a:endParaRPr sz="1700" b="0" i="0" u="none" strike="noStrike" cap="none">
              <a:solidFill>
                <a:schemeClr val="dk1"/>
              </a:solidFill>
              <a:latin typeface="Calibri"/>
              <a:ea typeface="Calibri"/>
              <a:cs typeface="Calibri"/>
              <a:sym typeface="Calibri"/>
            </a:endParaRPr>
          </a:p>
        </p:txBody>
      </p:sp>
      <p:sp>
        <p:nvSpPr>
          <p:cNvPr id="97" name="Google Shape;97;p7"/>
          <p:cNvSpPr txBox="1"/>
          <p:nvPr/>
        </p:nvSpPr>
        <p:spPr>
          <a:xfrm>
            <a:off x="7315200" y="4498848"/>
            <a:ext cx="4297680" cy="5303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Low-level legs controller handles balance; repeat with the next frame</a:t>
            </a:r>
            <a:endParaRPr sz="1300" b="0" i="0" u="none" strike="noStrike" cap="none">
              <a:solidFill>
                <a:schemeClr val="dk1"/>
              </a:solidFill>
              <a:latin typeface="Calibri"/>
              <a:ea typeface="Calibri"/>
              <a:cs typeface="Calibri"/>
              <a:sym typeface="Calibri"/>
            </a:endParaRPr>
          </a:p>
        </p:txBody>
      </p:sp>
      <p:sp>
        <p:nvSpPr>
          <p:cNvPr id="98" name="Google Shape;98;p7"/>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3</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8"/>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TASK 3 · HOW IT WORKS</a:t>
            </a:r>
            <a:endParaRPr sz="1200"/>
          </a:p>
        </p:txBody>
      </p:sp>
      <p:sp>
        <p:nvSpPr>
          <p:cNvPr id="105" name="Google Shape;105;p8"/>
          <p:cNvSpPr txBox="1">
            <a:spLocks noGrp="1"/>
          </p:cNvSpPr>
          <p:nvPr>
            <p:ph type="title"/>
          </p:nvPr>
        </p:nvSpPr>
        <p:spPr>
          <a:xfrm>
            <a:off x="579120" y="45720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How NaVILA's words become motion</a:t>
            </a:r>
            <a:endParaRPr sz="3400"/>
          </a:p>
        </p:txBody>
      </p:sp>
      <p:pic>
        <p:nvPicPr>
          <p:cNvPr id="106" name="Google Shape;106;p8" descr="Terminal log: turn left 30 degree and turn left 15 degree give a turn command for 50 and 25 steps; move forward 25 cm and 75 cm give a forward command for 25 and 75 steps"/>
          <p:cNvPicPr preferRelativeResize="0"/>
          <p:nvPr/>
        </p:nvPicPr>
        <p:blipFill rotWithShape="1">
          <a:blip r:embed="rId3">
            <a:alphaModFix/>
          </a:blip>
          <a:srcRect/>
          <a:stretch/>
        </p:blipFill>
        <p:spPr>
          <a:xfrm>
            <a:off x="548640" y="1463040"/>
            <a:ext cx="5486400" cy="2391979"/>
          </a:xfrm>
          <a:prstGeom prst="rect">
            <a:avLst/>
          </a:prstGeom>
          <a:noFill/>
          <a:ln>
            <a:noFill/>
          </a:ln>
        </p:spPr>
      </p:pic>
      <p:sp>
        <p:nvSpPr>
          <p:cNvPr id="107" name="Google Shape;107;p8"/>
          <p:cNvSpPr txBox="1"/>
          <p:nvPr/>
        </p:nvSpPr>
        <p:spPr>
          <a:xfrm>
            <a:off x="548640" y="3900739"/>
            <a:ext cx="54864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300"/>
              <a:buFont typeface="Calibri"/>
              <a:buNone/>
            </a:pPr>
            <a:r>
              <a:rPr lang="en-US" sz="1300" b="0" i="1" u="none" strike="noStrike" cap="none">
                <a:solidFill>
                  <a:schemeClr val="dk2"/>
                </a:solidFill>
                <a:latin typeface="Calibri"/>
                <a:ea typeface="Calibri"/>
                <a:cs typeface="Calibri"/>
                <a:sym typeface="Calibri"/>
              </a:rPr>
              <a:t>… more moves and turns …</a:t>
            </a:r>
            <a:endParaRPr sz="1300" b="0" i="0" u="none" strike="noStrike" cap="none">
              <a:solidFill>
                <a:schemeClr val="dk1"/>
              </a:solidFill>
              <a:latin typeface="Calibri"/>
              <a:ea typeface="Calibri"/>
              <a:cs typeface="Calibri"/>
              <a:sym typeface="Calibri"/>
            </a:endParaRPr>
          </a:p>
        </p:txBody>
      </p:sp>
      <p:pic>
        <p:nvPicPr>
          <p:cNvPr id="108" name="Google Shape;108;p8" descr="Terminal log: I think I should stop because I have finished the instruction, with a zero velocity command"/>
          <p:cNvPicPr preferRelativeResize="0"/>
          <p:nvPr/>
        </p:nvPicPr>
        <p:blipFill rotWithShape="1">
          <a:blip r:embed="rId4">
            <a:alphaModFix/>
          </a:blip>
          <a:srcRect/>
          <a:stretch/>
        </p:blipFill>
        <p:spPr>
          <a:xfrm>
            <a:off x="548640" y="4266499"/>
            <a:ext cx="5486400" cy="426505"/>
          </a:xfrm>
          <a:prstGeom prst="rect">
            <a:avLst/>
          </a:prstGeom>
          <a:noFill/>
          <a:ln>
            <a:noFill/>
          </a:ln>
        </p:spPr>
      </p:pic>
      <p:sp>
        <p:nvSpPr>
          <p:cNvPr id="109" name="Google Shape;109;p8"/>
          <p:cNvSpPr txBox="1"/>
          <p:nvPr/>
        </p:nvSpPr>
        <p:spPr>
          <a:xfrm>
            <a:off x="548640" y="4784443"/>
            <a:ext cx="548640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Log from one of our episodes: each NaVILA reply (VLM output) and the command it became (Vel Command)</a:t>
            </a:r>
            <a:endParaRPr sz="1200" b="0" i="0" u="none" strike="noStrike" cap="none">
              <a:solidFill>
                <a:schemeClr val="dk1"/>
              </a:solidFill>
              <a:latin typeface="Calibri"/>
              <a:ea typeface="Calibri"/>
              <a:cs typeface="Calibri"/>
              <a:sym typeface="Calibri"/>
            </a:endParaRPr>
          </a:p>
        </p:txBody>
      </p:sp>
      <p:graphicFrame>
        <p:nvGraphicFramePr>
          <p:cNvPr id="110" name="Google Shape;110;p8"/>
          <p:cNvGraphicFramePr/>
          <p:nvPr/>
        </p:nvGraphicFramePr>
        <p:xfrm>
          <a:off x="6355080" y="1463040"/>
          <a:ext cx="5257800" cy="1975100"/>
        </p:xfrm>
        <a:graphic>
          <a:graphicData uri="http://schemas.openxmlformats.org/drawingml/2006/table">
            <a:tbl>
              <a:tblPr>
                <a:noFill/>
                <a:tableStyleId>{C6D03E0C-C031-4C38-83CD-E9B4D8B3B06F}</a:tableStyleId>
              </a:tblPr>
              <a:tblGrid>
                <a:gridCol w="2240275">
                  <a:extLst>
                    <a:ext uri="{9D8B030D-6E8A-4147-A177-3AD203B41FA5}">
                      <a16:colId xmlns:a16="http://schemas.microsoft.com/office/drawing/2014/main" val="20000"/>
                    </a:ext>
                  </a:extLst>
                </a:gridCol>
                <a:gridCol w="1691650">
                  <a:extLst>
                    <a:ext uri="{9D8B030D-6E8A-4147-A177-3AD203B41FA5}">
                      <a16:colId xmlns:a16="http://schemas.microsoft.com/office/drawing/2014/main" val="20001"/>
                    </a:ext>
                  </a:extLst>
                </a:gridCol>
                <a:gridCol w="1325875">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NaVILA says</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Command</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For</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66925">
                <a:tc>
                  <a:txBody>
                    <a:bodyPr/>
                    <a:lstStyle/>
                    <a:p>
                      <a:pPr marL="0" marR="0" lvl="0" indent="0" algn="l" rtl="0">
                        <a:spcBef>
                          <a:spcPts val="0"/>
                        </a:spcBef>
                        <a:spcAft>
                          <a:spcPts val="0"/>
                        </a:spcAft>
                        <a:buClr>
                          <a:srgbClr val="0B3A8F"/>
                        </a:buClr>
                        <a:buSzPts val="1300"/>
                        <a:buFont typeface="Calibri"/>
                        <a:buNone/>
                      </a:pPr>
                      <a:r>
                        <a:rPr lang="en-US" sz="1300" b="1" u="none" strike="noStrike" cap="none" dirty="0">
                          <a:solidFill>
                            <a:srgbClr val="0B3A8F"/>
                          </a:solidFill>
                          <a:latin typeface="Calibri"/>
                          <a:ea typeface="Calibri"/>
                          <a:cs typeface="Calibri"/>
                          <a:sym typeface="Calibri"/>
                        </a:rPr>
                        <a:t>"move forward 25 / 50 / 75 cm"</a:t>
                      </a:r>
                      <a:endParaRPr sz="1300" u="none" strike="noStrike" cap="none" dirty="0">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0.5 m/s forward</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dirty="0">
                          <a:solidFill>
                            <a:srgbClr val="333333"/>
                          </a:solidFill>
                          <a:latin typeface="Calibri"/>
                          <a:ea typeface="Calibri"/>
                          <a:cs typeface="Calibri"/>
                          <a:sym typeface="Calibri"/>
                        </a:rPr>
                        <a:t>25 / 50 / 75 steps</a:t>
                      </a:r>
                      <a:endParaRPr sz="1300" u="none" strike="noStrike" cap="none" dirty="0">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66925">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"turn left / right 15 / 30 / 45 degree"</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0.52 rad/s turn (30°/s)</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25 / 50 / 75 steps</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"I think I should stop…"</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zero</a:t>
                      </a:r>
                      <a:endParaRPr sz="1300" u="none" strike="noStrike" cap="none">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dirty="0">
                          <a:solidFill>
                            <a:srgbClr val="333333"/>
                          </a:solidFill>
                          <a:latin typeface="Calibri"/>
                          <a:ea typeface="Calibri"/>
                          <a:cs typeface="Calibri"/>
                          <a:sym typeface="Calibri"/>
                        </a:rPr>
                        <a:t>episode ends</a:t>
                      </a:r>
                      <a:endParaRPr sz="1300" u="none" strike="noStrike" cap="none" dirty="0">
                        <a:latin typeface="Calibri"/>
                        <a:ea typeface="Calibri"/>
                        <a:cs typeface="Calibri"/>
                        <a:sym typeface="Calibri"/>
                      </a:endParaRPr>
                    </a:p>
                  </a:txBody>
                  <a:tcPr marL="73150" marR="731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11" name="Google Shape;111;p8"/>
          <p:cNvSpPr/>
          <p:nvPr/>
        </p:nvSpPr>
        <p:spPr>
          <a:xfrm>
            <a:off x="6355080" y="3794760"/>
            <a:ext cx="5257800" cy="960120"/>
          </a:xfrm>
          <a:prstGeom prst="roundRect">
            <a:avLst>
              <a:gd name="adj" fmla="val 7619"/>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txBox="1"/>
          <p:nvPr/>
        </p:nvSpPr>
        <p:spPr>
          <a:xfrm>
            <a:off x="6583680" y="3794760"/>
            <a:ext cx="4800600"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Speed is fixed; the step count sets the distance. </a:t>
            </a:r>
            <a:r>
              <a:rPr lang="en-US" sz="1400" b="0" i="0" u="none" strike="noStrike" cap="none">
                <a:solidFill>
                  <a:schemeClr val="dk2"/>
                </a:solidFill>
                <a:latin typeface="Calibri"/>
                <a:ea typeface="Calibri"/>
                <a:cs typeface="Calibri"/>
                <a:sym typeface="Calibri"/>
              </a:rPr>
              <a:t>75 steps at 0.5 m/s covers 75 cm, so the sim runs about 50 steps per second.</a:t>
            </a:r>
            <a:endParaRPr sz="1400" b="0" i="0" u="none" strike="noStrike" cap="none">
              <a:solidFill>
                <a:schemeClr val="dk1"/>
              </a:solidFill>
              <a:latin typeface="Calibri"/>
              <a:ea typeface="Calibri"/>
              <a:cs typeface="Calibri"/>
              <a:sym typeface="Calibri"/>
            </a:endParaRPr>
          </a:p>
        </p:txBody>
      </p:sp>
      <p:sp>
        <p:nvSpPr>
          <p:cNvPr id="113" name="Google Shape;113;p8"/>
          <p:cNvSpPr/>
          <p:nvPr/>
        </p:nvSpPr>
        <p:spPr>
          <a:xfrm>
            <a:off x="6355080" y="4983480"/>
            <a:ext cx="5257800" cy="914400"/>
          </a:xfrm>
          <a:prstGeom prst="roundRect">
            <a:avLst>
              <a:gd name="adj" fmla="val 8000"/>
            </a:avLst>
          </a:prstGeom>
          <a:solidFill>
            <a:schemeClr val="accent5"/>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txBox="1"/>
          <p:nvPr/>
        </p:nvSpPr>
        <p:spPr>
          <a:xfrm>
            <a:off x="6583680" y="4983480"/>
            <a:ext cx="48006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alibri"/>
              <a:buNone/>
            </a:pPr>
            <a:r>
              <a:rPr lang="en-US" sz="1400" b="1" i="0" u="none" strike="noStrike" cap="none">
                <a:solidFill>
                  <a:schemeClr val="accent2"/>
                </a:solidFill>
                <a:latin typeface="Calibri"/>
                <a:ea typeface="Calibri"/>
                <a:cs typeface="Calibri"/>
                <a:sym typeface="Calibri"/>
              </a:rPr>
              <a:t>This mapping is where our fix plugs in: </a:t>
            </a:r>
            <a:r>
              <a:rPr lang="en-US" sz="1400" b="0" i="0" u="none" strike="noStrike" cap="none">
                <a:solidFill>
                  <a:schemeClr val="dk1"/>
                </a:solidFill>
                <a:latin typeface="Calibri"/>
                <a:ea typeface="Calibri"/>
                <a:cs typeface="Calibri"/>
                <a:sym typeface="Calibri"/>
              </a:rPr>
              <a:t>near the goal, swap 75-step moves for 25-step moves.</a:t>
            </a:r>
            <a:endParaRPr sz="1400" b="0" i="0" u="none" strike="noStrike" cap="none">
              <a:solidFill>
                <a:schemeClr val="dk1"/>
              </a:solidFill>
              <a:latin typeface="Calibri"/>
              <a:ea typeface="Calibri"/>
              <a:cs typeface="Calibri"/>
              <a:sym typeface="Calibri"/>
            </a:endParaRPr>
          </a:p>
        </p:txBody>
      </p:sp>
      <p:sp>
        <p:nvSpPr>
          <p:cNvPr id="115" name="Google Shape;115;p8"/>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4</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9"/>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TASK 3 · MAKING IT FIT</a:t>
            </a:r>
            <a:endParaRPr sz="1200"/>
          </a:p>
        </p:txBody>
      </p:sp>
      <p:sp>
        <p:nvSpPr>
          <p:cNvPr id="122" name="Google Shape;122;p9"/>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8-bit weights let NaVILA fit beside Isaac Sim</a:t>
            </a:r>
            <a:endParaRPr sz="3400"/>
          </a:p>
        </p:txBody>
      </p:sp>
      <p:sp>
        <p:nvSpPr>
          <p:cNvPr id="123" name="Google Shape;123;p9"/>
          <p:cNvSpPr/>
          <p:nvPr/>
        </p:nvSpPr>
        <p:spPr>
          <a:xfrm>
            <a:off x="548640" y="1463040"/>
            <a:ext cx="11064240" cy="1097280"/>
          </a:xfrm>
          <a:prstGeom prst="roundRect">
            <a:avLst>
              <a:gd name="adj" fmla="val 6667"/>
            </a:avLst>
          </a:prstGeom>
          <a:solidFill>
            <a:schemeClr val="accent5"/>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9"/>
          <p:cNvSpPr txBox="1"/>
          <p:nvPr/>
        </p:nvSpPr>
        <p:spPr>
          <a:xfrm>
            <a:off x="868680" y="1463040"/>
            <a:ext cx="104241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100"/>
              <a:buFont typeface="Calibri"/>
              <a:buNone/>
            </a:pPr>
            <a:r>
              <a:rPr lang="en-US" sz="2100" b="1" i="0" u="none" strike="noStrike" cap="none">
                <a:solidFill>
                  <a:schemeClr val="dk1"/>
                </a:solidFill>
                <a:latin typeface="Calibri"/>
                <a:ea typeface="Calibri"/>
                <a:cs typeface="Calibri"/>
                <a:sym typeface="Calibri"/>
              </a:rPr>
              <a:t>We store NaVILA's 8 billion parameters at 8-bit instead of 16-bit precision, halving its memory so it fits beside Isaac Sim on a 20 GB GPU.</a:t>
            </a:r>
            <a:endParaRPr sz="2100" b="0" i="0" u="none" strike="noStrike" cap="none">
              <a:solidFill>
                <a:schemeClr val="dk1"/>
              </a:solidFill>
              <a:latin typeface="Calibri"/>
              <a:ea typeface="Calibri"/>
              <a:cs typeface="Calibri"/>
              <a:sym typeface="Calibri"/>
            </a:endParaRPr>
          </a:p>
        </p:txBody>
      </p:sp>
      <p:sp>
        <p:nvSpPr>
          <p:cNvPr id="125" name="Google Shape;125;p9"/>
          <p:cNvSpPr txBox="1"/>
          <p:nvPr/>
        </p:nvSpPr>
        <p:spPr>
          <a:xfrm>
            <a:off x="548640" y="2834640"/>
            <a:ext cx="65836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GPU memory on the lab RTX A4500 (20 GB)</a:t>
            </a:r>
            <a:endParaRPr sz="1600" b="0" i="0" u="none" strike="noStrike" cap="none">
              <a:solidFill>
                <a:schemeClr val="dk1"/>
              </a:solidFill>
              <a:latin typeface="Calibri"/>
              <a:ea typeface="Calibri"/>
              <a:cs typeface="Calibri"/>
              <a:sym typeface="Calibri"/>
            </a:endParaRPr>
          </a:p>
        </p:txBody>
      </p:sp>
      <p:sp>
        <p:nvSpPr>
          <p:cNvPr id="126" name="Google Shape;126;p9"/>
          <p:cNvSpPr txBox="1"/>
          <p:nvPr/>
        </p:nvSpPr>
        <p:spPr>
          <a:xfrm>
            <a:off x="548640" y="329184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16-bit NaVILA (original)</a:t>
            </a:r>
            <a:endParaRPr sz="1300" b="0" i="0" u="none" strike="noStrike" cap="none">
              <a:solidFill>
                <a:schemeClr val="dk1"/>
              </a:solidFill>
              <a:latin typeface="Calibri"/>
              <a:ea typeface="Calibri"/>
              <a:cs typeface="Calibri"/>
              <a:sym typeface="Calibri"/>
            </a:endParaRPr>
          </a:p>
        </p:txBody>
      </p:sp>
      <p:sp>
        <p:nvSpPr>
          <p:cNvPr id="127" name="Google Shape;127;p9"/>
          <p:cNvSpPr/>
          <p:nvPr/>
        </p:nvSpPr>
        <p:spPr>
          <a:xfrm>
            <a:off x="548640" y="3593592"/>
            <a:ext cx="4846320" cy="41148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9"/>
          <p:cNvSpPr txBox="1"/>
          <p:nvPr/>
        </p:nvSpPr>
        <p:spPr>
          <a:xfrm>
            <a:off x="5504688" y="3593592"/>
            <a:ext cx="14630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 24 GB needed</a:t>
            </a:r>
            <a:endParaRPr sz="1500" b="0" i="0" u="none" strike="noStrike" cap="none">
              <a:solidFill>
                <a:schemeClr val="dk1"/>
              </a:solidFill>
              <a:latin typeface="Calibri"/>
              <a:ea typeface="Calibri"/>
              <a:cs typeface="Calibri"/>
              <a:sym typeface="Calibri"/>
            </a:endParaRPr>
          </a:p>
        </p:txBody>
      </p:sp>
      <p:sp>
        <p:nvSpPr>
          <p:cNvPr id="129" name="Google Shape;129;p9"/>
          <p:cNvSpPr txBox="1"/>
          <p:nvPr/>
        </p:nvSpPr>
        <p:spPr>
          <a:xfrm>
            <a:off x="548640" y="425196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8-bit NaVILA (ours)</a:t>
            </a:r>
            <a:endParaRPr sz="1300" b="0" i="0" u="none" strike="noStrike" cap="none">
              <a:solidFill>
                <a:schemeClr val="dk1"/>
              </a:solidFill>
              <a:latin typeface="Calibri"/>
              <a:ea typeface="Calibri"/>
              <a:cs typeface="Calibri"/>
              <a:sym typeface="Calibri"/>
            </a:endParaRPr>
          </a:p>
        </p:txBody>
      </p:sp>
      <p:sp>
        <p:nvSpPr>
          <p:cNvPr id="130" name="Google Shape;130;p9"/>
          <p:cNvSpPr/>
          <p:nvPr/>
        </p:nvSpPr>
        <p:spPr>
          <a:xfrm>
            <a:off x="548640" y="4553712"/>
            <a:ext cx="2604897" cy="41148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
          <p:cNvSpPr txBox="1"/>
          <p:nvPr/>
        </p:nvSpPr>
        <p:spPr>
          <a:xfrm>
            <a:off x="548640" y="4553712"/>
            <a:ext cx="2604897"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12.9 GB peak</a:t>
            </a:r>
            <a:endParaRPr sz="1400" b="0" i="0" u="none" strike="noStrike" cap="none">
              <a:solidFill>
                <a:schemeClr val="dk1"/>
              </a:solidFill>
              <a:latin typeface="Calibri"/>
              <a:ea typeface="Calibri"/>
              <a:cs typeface="Calibri"/>
              <a:sym typeface="Calibri"/>
            </a:endParaRPr>
          </a:p>
        </p:txBody>
      </p:sp>
      <p:sp>
        <p:nvSpPr>
          <p:cNvPr id="132" name="Google Shape;132;p9"/>
          <p:cNvSpPr/>
          <p:nvPr/>
        </p:nvSpPr>
        <p:spPr>
          <a:xfrm>
            <a:off x="3153537" y="4553712"/>
            <a:ext cx="1433703" cy="41148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txBox="1"/>
          <p:nvPr/>
        </p:nvSpPr>
        <p:spPr>
          <a:xfrm>
            <a:off x="3153537" y="4553712"/>
            <a:ext cx="1433703"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Isaac Sim</a:t>
            </a:r>
            <a:endParaRPr sz="1200" b="0" i="0" u="none" strike="noStrike" cap="none">
              <a:solidFill>
                <a:schemeClr val="dk1"/>
              </a:solidFill>
              <a:latin typeface="Calibri"/>
              <a:ea typeface="Calibri"/>
              <a:cs typeface="Calibri"/>
              <a:sym typeface="Calibri"/>
            </a:endParaRPr>
          </a:p>
        </p:txBody>
      </p:sp>
      <p:cxnSp>
        <p:nvCxnSpPr>
          <p:cNvPr id="134" name="Google Shape;134;p9"/>
          <p:cNvCxnSpPr/>
          <p:nvPr/>
        </p:nvCxnSpPr>
        <p:spPr>
          <a:xfrm>
            <a:off x="4587240" y="3429000"/>
            <a:ext cx="0" cy="1783080"/>
          </a:xfrm>
          <a:prstGeom prst="straightConnector1">
            <a:avLst/>
          </a:prstGeom>
          <a:noFill/>
          <a:ln w="25400" cap="flat" cmpd="sng">
            <a:solidFill>
              <a:schemeClr val="accent2"/>
            </a:solidFill>
            <a:prstDash val="dash"/>
            <a:round/>
            <a:headEnd type="none" w="sm" len="sm"/>
            <a:tailEnd type="none" w="sm" len="sm"/>
          </a:ln>
        </p:spPr>
      </p:cxnSp>
      <p:sp>
        <p:nvSpPr>
          <p:cNvPr id="135" name="Google Shape;135;p9"/>
          <p:cNvSpPr txBox="1"/>
          <p:nvPr/>
        </p:nvSpPr>
        <p:spPr>
          <a:xfrm>
            <a:off x="4038600" y="5230368"/>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20 GB limit</a:t>
            </a:r>
            <a:endParaRPr sz="1200" b="0" i="0" u="none" strike="noStrike" cap="none">
              <a:solidFill>
                <a:schemeClr val="dk1"/>
              </a:solidFill>
              <a:latin typeface="Calibri"/>
              <a:ea typeface="Calibri"/>
              <a:cs typeface="Calibri"/>
              <a:sym typeface="Calibri"/>
            </a:endParaRPr>
          </a:p>
        </p:txBody>
      </p:sp>
      <p:sp>
        <p:nvSpPr>
          <p:cNvPr id="136" name="Google Shape;136;p9"/>
          <p:cNvSpPr/>
          <p:nvPr/>
        </p:nvSpPr>
        <p:spPr>
          <a:xfrm>
            <a:off x="7406640" y="2834640"/>
            <a:ext cx="4206240" cy="3017520"/>
          </a:xfrm>
          <a:prstGeom prst="roundRect">
            <a:avLst>
              <a:gd name="adj" fmla="val 2424"/>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txBox="1"/>
          <p:nvPr/>
        </p:nvSpPr>
        <p:spPr>
          <a:xfrm>
            <a:off x="7680960" y="3017520"/>
            <a:ext cx="3657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Why it halves the memory</a:t>
            </a:r>
            <a:endParaRPr sz="1600" b="0" i="0" u="none" strike="noStrike" cap="none">
              <a:solidFill>
                <a:schemeClr val="dk1"/>
              </a:solidFill>
              <a:latin typeface="Calibri"/>
              <a:ea typeface="Calibri"/>
              <a:cs typeface="Calibri"/>
              <a:sym typeface="Calibri"/>
            </a:endParaRPr>
          </a:p>
        </p:txBody>
      </p:sp>
      <p:sp>
        <p:nvSpPr>
          <p:cNvPr id="138" name="Google Shape;138;p9"/>
          <p:cNvSpPr txBox="1"/>
          <p:nvPr/>
        </p:nvSpPr>
        <p:spPr>
          <a:xfrm>
            <a:off x="7680950" y="3429000"/>
            <a:ext cx="3657600" cy="16161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2"/>
              </a:buClr>
              <a:buSzPts val="1400"/>
              <a:buFont typeface="Calibri"/>
              <a:buChar char="•"/>
            </a:pPr>
            <a:r>
              <a:rPr lang="en-US" sz="1400" b="0" i="0" u="none" strike="noStrike" cap="none">
                <a:solidFill>
                  <a:schemeClr val="dk2"/>
                </a:solidFill>
                <a:latin typeface="Calibri"/>
                <a:ea typeface="Calibri"/>
                <a:cs typeface="Calibri"/>
                <a:sym typeface="Calibri"/>
              </a:rPr>
              <a:t>16-bit: 2 bytes × 8B params ≈ 16 GB of weights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2"/>
              </a:buClr>
              <a:buSzPts val="1400"/>
              <a:buFont typeface="Calibri"/>
              <a:buChar char="•"/>
            </a:pPr>
            <a:r>
              <a:rPr lang="en-US" sz="1400" b="0" i="0" u="none" strike="noStrike" cap="none">
                <a:solidFill>
                  <a:schemeClr val="dk2"/>
                </a:solidFill>
                <a:latin typeface="Calibri"/>
                <a:ea typeface="Calibri"/>
                <a:cs typeface="Calibri"/>
                <a:sym typeface="Calibri"/>
              </a:rPr>
              <a:t>8-bit: 1 byte × 8B params ≈ 8 GB of weights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2"/>
              </a:buClr>
              <a:buSzPts val="1400"/>
              <a:buFont typeface="Calibri"/>
              <a:buChar char="•"/>
            </a:pPr>
            <a:r>
              <a:rPr lang="en-US" sz="1400" b="0" i="0" u="none" strike="noStrike" cap="none">
                <a:solidFill>
                  <a:schemeClr val="dk2"/>
                </a:solidFill>
                <a:latin typeface="Calibri"/>
                <a:ea typeface="Calibri"/>
                <a:cs typeface="Calibri"/>
                <a:sym typeface="Calibri"/>
              </a:rPr>
              <a:t>No retraining: the weights are rounded when the model loads</a:t>
            </a:r>
            <a:endParaRPr sz="14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None/>
            </a:pPr>
            <a:endParaRPr sz="1400" b="0" i="0" u="none" strike="noStrike" cap="none">
              <a:solidFill>
                <a:schemeClr val="dk1"/>
              </a:solidFill>
              <a:latin typeface="Calibri"/>
              <a:ea typeface="Calibri"/>
              <a:cs typeface="Calibri"/>
              <a:sym typeface="Calibri"/>
            </a:endParaRPr>
          </a:p>
        </p:txBody>
      </p:sp>
      <p:sp>
        <p:nvSpPr>
          <p:cNvPr id="139" name="Google Shape;139;p9"/>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5</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TASK 3 · FIRST RESULTS</a:t>
            </a:r>
            <a:endParaRPr sz="1200"/>
          </a:p>
        </p:txBody>
      </p:sp>
      <p:sp>
        <p:nvSpPr>
          <p:cNvPr id="146" name="Google Shape;146;p10"/>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First 10 episodes: 8-bit NaVILA works</a:t>
            </a:r>
            <a:endParaRPr sz="3400"/>
          </a:p>
        </p:txBody>
      </p:sp>
      <p:pic>
        <p:nvPicPr>
          <p:cNvPr id="147" name="Google Shape;147;p10" descr="Terminal table of 10 episodes with success, oracle success, distance to goal and path length; episodes 0, 6 and 12 failed"/>
          <p:cNvPicPr preferRelativeResize="0"/>
          <p:nvPr/>
        </p:nvPicPr>
        <p:blipFill rotWithShape="1">
          <a:blip r:embed="rId3">
            <a:alphaModFix/>
          </a:blip>
          <a:srcRect/>
          <a:stretch/>
        </p:blipFill>
        <p:spPr>
          <a:xfrm>
            <a:off x="548640" y="1463040"/>
            <a:ext cx="5486400" cy="1920240"/>
          </a:xfrm>
          <a:prstGeom prst="rect">
            <a:avLst/>
          </a:prstGeom>
          <a:noFill/>
          <a:ln>
            <a:noFill/>
          </a:ln>
        </p:spPr>
      </p:pic>
      <p:sp>
        <p:nvSpPr>
          <p:cNvPr id="148" name="Google Shape;148;p10"/>
          <p:cNvSpPr txBox="1"/>
          <p:nvPr/>
        </p:nvSpPr>
        <p:spPr>
          <a:xfrm>
            <a:off x="548640" y="345643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Per-episode results on the lab machine. Failures: episodes 0, 6 and 12.</a:t>
            </a:r>
            <a:endParaRPr sz="1200" b="0" i="0" u="none" strike="noStrike" cap="none">
              <a:solidFill>
                <a:schemeClr val="dk1"/>
              </a:solidFill>
              <a:latin typeface="Calibri"/>
              <a:ea typeface="Calibri"/>
              <a:cs typeface="Calibri"/>
              <a:sym typeface="Calibri"/>
            </a:endParaRPr>
          </a:p>
        </p:txBody>
      </p:sp>
      <p:sp>
        <p:nvSpPr>
          <p:cNvPr id="149" name="Google Shape;149;p10"/>
          <p:cNvSpPr txBox="1"/>
          <p:nvPr/>
        </p:nvSpPr>
        <p:spPr>
          <a:xfrm>
            <a:off x="548640" y="3840480"/>
            <a:ext cx="5486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NaVILA paper:  </a:t>
            </a:r>
            <a:r>
              <a:rPr lang="en-US" sz="1500" b="1" i="0" u="none" strike="noStrike" cap="none">
                <a:solidFill>
                  <a:schemeClr val="accent1"/>
                </a:solidFill>
                <a:latin typeface="Calibri"/>
                <a:ea typeface="Calibri"/>
                <a:cs typeface="Calibri"/>
                <a:sym typeface="Calibri"/>
              </a:rPr>
              <a:t>50.2%</a:t>
            </a:r>
            <a:r>
              <a:rPr lang="en-US" sz="1500" b="0" i="0" u="none" strike="noStrike" cap="none">
                <a:solidFill>
                  <a:schemeClr val="dk2"/>
                </a:solidFill>
                <a:latin typeface="Calibri"/>
                <a:ea typeface="Calibri"/>
                <a:cs typeface="Calibri"/>
                <a:sym typeface="Calibri"/>
              </a:rPr>
              <a:t> success  ·  </a:t>
            </a:r>
            <a:r>
              <a:rPr lang="en-US" sz="1500" b="1" i="0" u="none" strike="noStrike" cap="none">
                <a:solidFill>
                  <a:schemeClr val="accent1"/>
                </a:solidFill>
                <a:latin typeface="Calibri"/>
                <a:ea typeface="Calibri"/>
                <a:cs typeface="Calibri"/>
                <a:sym typeface="Calibri"/>
              </a:rPr>
              <a:t>58.7%</a:t>
            </a:r>
            <a:r>
              <a:rPr lang="en-US" sz="1500" b="0" i="0" u="none" strike="noStrike" cap="none">
                <a:solidFill>
                  <a:schemeClr val="dk2"/>
                </a:solidFill>
                <a:latin typeface="Calibri"/>
                <a:ea typeface="Calibri"/>
                <a:cs typeface="Calibri"/>
                <a:sym typeface="Calibri"/>
              </a:rPr>
              <a:t> oracle success</a:t>
            </a:r>
            <a:endParaRPr sz="1500" b="0" i="0" u="none" strike="noStrike" cap="none">
              <a:solidFill>
                <a:schemeClr val="dk1"/>
              </a:solidFill>
              <a:latin typeface="Calibri"/>
              <a:ea typeface="Calibri"/>
              <a:cs typeface="Calibri"/>
              <a:sym typeface="Calibri"/>
            </a:endParaRPr>
          </a:p>
        </p:txBody>
      </p:sp>
      <p:sp>
        <p:nvSpPr>
          <p:cNvPr id="150" name="Google Shape;150;p10"/>
          <p:cNvSpPr/>
          <p:nvPr/>
        </p:nvSpPr>
        <p:spPr>
          <a:xfrm>
            <a:off x="548640" y="4434840"/>
            <a:ext cx="5486400" cy="1508760"/>
          </a:xfrm>
          <a:prstGeom prst="roundRect">
            <a:avLst>
              <a:gd name="adj" fmla="val 484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0"/>
          <p:cNvSpPr/>
          <p:nvPr/>
        </p:nvSpPr>
        <p:spPr>
          <a:xfrm>
            <a:off x="731520" y="489204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10" descr="Caveat"/>
          <p:cNvPicPr preferRelativeResize="0"/>
          <p:nvPr/>
        </p:nvPicPr>
        <p:blipFill rotWithShape="1">
          <a:blip r:embed="rId4">
            <a:alphaModFix/>
          </a:blip>
          <a:srcRect/>
          <a:stretch/>
        </p:blipFill>
        <p:spPr>
          <a:xfrm>
            <a:off x="868680" y="5029200"/>
            <a:ext cx="274320" cy="274320"/>
          </a:xfrm>
          <a:prstGeom prst="rect">
            <a:avLst/>
          </a:prstGeom>
          <a:noFill/>
          <a:ln>
            <a:noFill/>
          </a:ln>
        </p:spPr>
      </p:pic>
      <p:sp>
        <p:nvSpPr>
          <p:cNvPr id="153" name="Google Shape;153;p10"/>
          <p:cNvSpPr txBox="1"/>
          <p:nvPr/>
        </p:nvSpPr>
        <p:spPr>
          <a:xfrm>
            <a:off x="1463040" y="4480560"/>
            <a:ext cx="4434840" cy="1417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dirty="0">
                <a:solidFill>
                  <a:schemeClr val="dk1"/>
                </a:solidFill>
                <a:latin typeface="Calibri"/>
                <a:ea typeface="Calibri"/>
                <a:cs typeface="Calibri"/>
                <a:sym typeface="Calibri"/>
              </a:rPr>
              <a:t>Why we can't compare yet: </a:t>
            </a:r>
            <a:r>
              <a:rPr lang="en-US" sz="1400" b="0" i="0" u="none" strike="noStrike" cap="none" dirty="0">
                <a:solidFill>
                  <a:schemeClr val="dk2"/>
                </a:solidFill>
                <a:latin typeface="Calibri"/>
                <a:ea typeface="Calibri"/>
                <a:cs typeface="Calibri"/>
                <a:sym typeface="Calibri"/>
              </a:rPr>
              <a:t>with only 10 episodes, 70% success could really be anywhere from about 40% to 100% (±28 points). A 210-episode baseline replaces these numbers.</a:t>
            </a:r>
            <a:endParaRPr sz="1400" b="0" i="0" u="none" strike="noStrike" cap="none" dirty="0">
              <a:solidFill>
                <a:schemeClr val="dk1"/>
              </a:solidFill>
              <a:latin typeface="Calibri"/>
              <a:ea typeface="Calibri"/>
              <a:cs typeface="Calibri"/>
              <a:sym typeface="Calibri"/>
            </a:endParaRPr>
          </a:p>
        </p:txBody>
      </p:sp>
      <p:sp>
        <p:nvSpPr>
          <p:cNvPr id="154" name="Google Shape;154;p10"/>
          <p:cNvSpPr txBox="1"/>
          <p:nvPr/>
        </p:nvSpPr>
        <p:spPr>
          <a:xfrm>
            <a:off x="6355080" y="1417320"/>
            <a:ext cx="18288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70%</a:t>
            </a:r>
            <a:endParaRPr sz="4000" b="0" i="0" u="none" strike="noStrike" cap="none">
              <a:solidFill>
                <a:schemeClr val="dk1"/>
              </a:solidFill>
              <a:latin typeface="Calibri"/>
              <a:ea typeface="Calibri"/>
              <a:cs typeface="Calibri"/>
              <a:sym typeface="Calibri"/>
            </a:endParaRPr>
          </a:p>
        </p:txBody>
      </p:sp>
      <p:sp>
        <p:nvSpPr>
          <p:cNvPr id="155" name="Google Shape;155;p10"/>
          <p:cNvSpPr txBox="1"/>
          <p:nvPr/>
        </p:nvSpPr>
        <p:spPr>
          <a:xfrm>
            <a:off x="8229600" y="1490472"/>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Success</a:t>
            </a:r>
            <a:endParaRPr sz="1600" b="0" i="0" u="none" strike="noStrike" cap="none">
              <a:solidFill>
                <a:schemeClr val="dk1"/>
              </a:solidFill>
              <a:latin typeface="Calibri"/>
              <a:ea typeface="Calibri"/>
              <a:cs typeface="Calibri"/>
              <a:sym typeface="Calibri"/>
            </a:endParaRPr>
          </a:p>
        </p:txBody>
      </p:sp>
      <p:sp>
        <p:nvSpPr>
          <p:cNvPr id="156" name="Google Shape;156;p10"/>
          <p:cNvSpPr txBox="1"/>
          <p:nvPr/>
        </p:nvSpPr>
        <p:spPr>
          <a:xfrm>
            <a:off x="8229600" y="1801368"/>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Stopped within ~3 m of the goal</a:t>
            </a:r>
            <a:endParaRPr sz="1300" b="0" i="0" u="none" strike="noStrike" cap="none">
              <a:solidFill>
                <a:schemeClr val="dk1"/>
              </a:solidFill>
              <a:latin typeface="Calibri"/>
              <a:ea typeface="Calibri"/>
              <a:cs typeface="Calibri"/>
              <a:sym typeface="Calibri"/>
            </a:endParaRPr>
          </a:p>
        </p:txBody>
      </p:sp>
      <p:sp>
        <p:nvSpPr>
          <p:cNvPr id="157" name="Google Shape;157;p10"/>
          <p:cNvSpPr txBox="1"/>
          <p:nvPr/>
        </p:nvSpPr>
        <p:spPr>
          <a:xfrm>
            <a:off x="6355080" y="2258568"/>
            <a:ext cx="18288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90%</a:t>
            </a:r>
            <a:endParaRPr sz="4000" b="0" i="0" u="none" strike="noStrike" cap="none">
              <a:solidFill>
                <a:schemeClr val="dk1"/>
              </a:solidFill>
              <a:latin typeface="Calibri"/>
              <a:ea typeface="Calibri"/>
              <a:cs typeface="Calibri"/>
              <a:sym typeface="Calibri"/>
            </a:endParaRPr>
          </a:p>
        </p:txBody>
      </p:sp>
      <p:sp>
        <p:nvSpPr>
          <p:cNvPr id="158" name="Google Shape;158;p10"/>
          <p:cNvSpPr txBox="1"/>
          <p:nvPr/>
        </p:nvSpPr>
        <p:spPr>
          <a:xfrm>
            <a:off x="8229600" y="2331720"/>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Oracle success</a:t>
            </a:r>
            <a:endParaRPr sz="1600" b="0" i="0" u="none" strike="noStrike" cap="none">
              <a:solidFill>
                <a:schemeClr val="dk1"/>
              </a:solidFill>
              <a:latin typeface="Calibri"/>
              <a:ea typeface="Calibri"/>
              <a:cs typeface="Calibri"/>
              <a:sym typeface="Calibri"/>
            </a:endParaRPr>
          </a:p>
        </p:txBody>
      </p:sp>
      <p:sp>
        <p:nvSpPr>
          <p:cNvPr id="159" name="Google Shape;159;p10"/>
          <p:cNvSpPr txBox="1"/>
          <p:nvPr/>
        </p:nvSpPr>
        <p:spPr>
          <a:xfrm>
            <a:off x="8229600" y="2642616"/>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Reached the goal area at some point</a:t>
            </a:r>
            <a:endParaRPr sz="1300" b="0" i="0" u="none" strike="noStrike" cap="none">
              <a:solidFill>
                <a:schemeClr val="dk1"/>
              </a:solidFill>
              <a:latin typeface="Calibri"/>
              <a:ea typeface="Calibri"/>
              <a:cs typeface="Calibri"/>
              <a:sym typeface="Calibri"/>
            </a:endParaRPr>
          </a:p>
        </p:txBody>
      </p:sp>
      <p:sp>
        <p:nvSpPr>
          <p:cNvPr id="160" name="Google Shape;160;p10"/>
          <p:cNvSpPr txBox="1"/>
          <p:nvPr/>
        </p:nvSpPr>
        <p:spPr>
          <a:xfrm>
            <a:off x="6355080" y="3099816"/>
            <a:ext cx="18288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0.647</a:t>
            </a:r>
            <a:endParaRPr sz="4000" b="0" i="0" u="none" strike="noStrike" cap="none">
              <a:solidFill>
                <a:schemeClr val="dk1"/>
              </a:solidFill>
              <a:latin typeface="Calibri"/>
              <a:ea typeface="Calibri"/>
              <a:cs typeface="Calibri"/>
              <a:sym typeface="Calibri"/>
            </a:endParaRPr>
          </a:p>
        </p:txBody>
      </p:sp>
      <p:sp>
        <p:nvSpPr>
          <p:cNvPr id="161" name="Google Shape;161;p10"/>
          <p:cNvSpPr txBox="1"/>
          <p:nvPr/>
        </p:nvSpPr>
        <p:spPr>
          <a:xfrm>
            <a:off x="8229600" y="3172968"/>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SPL</a:t>
            </a:r>
            <a:endParaRPr sz="1600" b="0" i="0" u="none" strike="noStrike" cap="none">
              <a:solidFill>
                <a:schemeClr val="dk1"/>
              </a:solidFill>
              <a:latin typeface="Calibri"/>
              <a:ea typeface="Calibri"/>
              <a:cs typeface="Calibri"/>
              <a:sym typeface="Calibri"/>
            </a:endParaRPr>
          </a:p>
        </p:txBody>
      </p:sp>
      <p:sp>
        <p:nvSpPr>
          <p:cNvPr id="162" name="Google Shape;162;p10"/>
          <p:cNvSpPr txBox="1"/>
          <p:nvPr/>
        </p:nvSpPr>
        <p:spPr>
          <a:xfrm>
            <a:off x="8229600" y="3483864"/>
            <a:ext cx="3383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Success weighted by path efficiency (1.0 = perfect)</a:t>
            </a:r>
            <a:endParaRPr sz="1300" b="0" i="0" u="none" strike="noStrike" cap="none">
              <a:solidFill>
                <a:schemeClr val="dk1"/>
              </a:solidFill>
              <a:latin typeface="Calibri"/>
              <a:ea typeface="Calibri"/>
              <a:cs typeface="Calibri"/>
              <a:sym typeface="Calibri"/>
            </a:endParaRPr>
          </a:p>
        </p:txBody>
      </p:sp>
      <p:sp>
        <p:nvSpPr>
          <p:cNvPr id="163" name="Google Shape;163;p10"/>
          <p:cNvSpPr/>
          <p:nvPr/>
        </p:nvSpPr>
        <p:spPr>
          <a:xfrm>
            <a:off x="6355080" y="4069080"/>
            <a:ext cx="5257800" cy="1874520"/>
          </a:xfrm>
          <a:prstGeom prst="roundRect">
            <a:avLst>
              <a:gd name="adj" fmla="val 3902"/>
            </a:avLst>
          </a:prstGeom>
          <a:solidFill>
            <a:schemeClr val="accen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0"/>
          <p:cNvSpPr txBox="1"/>
          <p:nvPr/>
        </p:nvSpPr>
        <p:spPr>
          <a:xfrm>
            <a:off x="6629400" y="4206240"/>
            <a:ext cx="4754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Re-running the 3 failed episodes</a:t>
            </a:r>
            <a:endParaRPr sz="1600" b="0" i="0" u="none" strike="noStrike" cap="none">
              <a:solidFill>
                <a:schemeClr val="dk1"/>
              </a:solidFill>
              <a:latin typeface="Calibri"/>
              <a:ea typeface="Calibri"/>
              <a:cs typeface="Calibri"/>
              <a:sym typeface="Calibri"/>
            </a:endParaRPr>
          </a:p>
        </p:txBody>
      </p:sp>
      <p:sp>
        <p:nvSpPr>
          <p:cNvPr id="165" name="Google Shape;165;p10"/>
          <p:cNvSpPr txBox="1"/>
          <p:nvPr/>
        </p:nvSpPr>
        <p:spPr>
          <a:xfrm>
            <a:off x="6629400" y="4572000"/>
            <a:ext cx="47548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3200"/>
              <a:buFont typeface="Calibri"/>
              <a:buNone/>
            </a:pPr>
            <a:r>
              <a:rPr lang="en-US" sz="3200" b="1" i="0" u="none" strike="noStrike" cap="none">
                <a:solidFill>
                  <a:schemeClr val="lt1"/>
                </a:solidFill>
                <a:latin typeface="Calibri"/>
                <a:ea typeface="Calibri"/>
                <a:cs typeface="Calibri"/>
                <a:sym typeface="Calibri"/>
              </a:rPr>
              <a:t>80%</a:t>
            </a:r>
            <a:r>
              <a:rPr lang="en-US" sz="1400" b="0" i="0" u="none" strike="noStrike" cap="none">
                <a:solidFill>
                  <a:schemeClr val="accent5"/>
                </a:solidFill>
                <a:latin typeface="Calibri"/>
                <a:ea typeface="Calibri"/>
                <a:cs typeface="Calibri"/>
                <a:sym typeface="Calibri"/>
              </a:rPr>
              <a:t>  success     </a:t>
            </a:r>
            <a:r>
              <a:rPr lang="en-US" sz="3200" b="1" i="0" u="none" strike="noStrike" cap="none">
                <a:solidFill>
                  <a:schemeClr val="lt1"/>
                </a:solidFill>
                <a:latin typeface="Calibri"/>
                <a:ea typeface="Calibri"/>
                <a:cs typeface="Calibri"/>
                <a:sym typeface="Calibri"/>
              </a:rPr>
              <a:t>0.736</a:t>
            </a:r>
            <a:r>
              <a:rPr lang="en-US" sz="1400" b="0" i="0" u="none" strike="noStrike" cap="none">
                <a:solidFill>
                  <a:schemeClr val="accent5"/>
                </a:solidFill>
                <a:latin typeface="Calibri"/>
                <a:ea typeface="Calibri"/>
                <a:cs typeface="Calibri"/>
                <a:sym typeface="Calibri"/>
              </a:rPr>
              <a:t>  SPL</a:t>
            </a:r>
            <a:endParaRPr sz="3200" b="0" i="0" u="none" strike="noStrike" cap="none">
              <a:solidFill>
                <a:schemeClr val="dk1"/>
              </a:solidFill>
              <a:latin typeface="Calibri"/>
              <a:ea typeface="Calibri"/>
              <a:cs typeface="Calibri"/>
              <a:sym typeface="Calibri"/>
            </a:endParaRPr>
          </a:p>
        </p:txBody>
      </p:sp>
      <p:sp>
        <p:nvSpPr>
          <p:cNvPr id="166" name="Google Shape;166;p10"/>
          <p:cNvSpPr txBox="1"/>
          <p:nvPr/>
        </p:nvSpPr>
        <p:spPr>
          <a:xfrm>
            <a:off x="6629400" y="5212080"/>
            <a:ext cx="475488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300"/>
              <a:buFont typeface="Calibri"/>
              <a:buNone/>
            </a:pPr>
            <a:r>
              <a:rPr lang="en-US" sz="1300" b="0" i="0" u="none" strike="noStrike" cap="none">
                <a:solidFill>
                  <a:schemeClr val="accent5"/>
                </a:solidFill>
                <a:latin typeface="Calibri"/>
                <a:ea typeface="Calibri"/>
                <a:cs typeface="Calibri"/>
                <a:sym typeface="Calibri"/>
              </a:rPr>
              <a:t>One failure became a success on a second try, so results vary from run to run.</a:t>
            </a:r>
            <a:endParaRPr sz="1300" b="0" i="0" u="none" strike="noStrike" cap="none">
              <a:solidFill>
                <a:schemeClr val="dk1"/>
              </a:solidFill>
              <a:latin typeface="Calibri"/>
              <a:ea typeface="Calibri"/>
              <a:cs typeface="Calibri"/>
              <a:sym typeface="Calibri"/>
            </a:endParaRPr>
          </a:p>
        </p:txBody>
      </p:sp>
      <p:sp>
        <p:nvSpPr>
          <p:cNvPr id="167" name="Google Shape;167;p10"/>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6</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WHY NAVILA </a:t>
            </a:r>
            <a:endParaRPr sz="1200"/>
          </a:p>
        </p:txBody>
      </p:sp>
      <p:sp>
        <p:nvSpPr>
          <p:cNvPr id="174" name="Google Shape;174;p11"/>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What our project needs from a model</a:t>
            </a:r>
            <a:endParaRPr sz="3400"/>
          </a:p>
        </p:txBody>
      </p:sp>
      <p:sp>
        <p:nvSpPr>
          <p:cNvPr id="175" name="Google Shape;175;p11"/>
          <p:cNvSpPr txBox="1"/>
          <p:nvPr/>
        </p:nvSpPr>
        <p:spPr>
          <a:xfrm>
            <a:off x="548640" y="1280160"/>
            <a:ext cx="110642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500"/>
              <a:buFont typeface="Calibri"/>
              <a:buNone/>
            </a:pPr>
            <a:endParaRPr sz="1500" b="0" i="0" u="none" strike="noStrike" cap="none">
              <a:solidFill>
                <a:schemeClr val="dk1"/>
              </a:solidFill>
              <a:latin typeface="Calibri"/>
              <a:ea typeface="Calibri"/>
              <a:cs typeface="Calibri"/>
              <a:sym typeface="Calibri"/>
            </a:endParaRPr>
          </a:p>
        </p:txBody>
      </p:sp>
      <p:sp>
        <p:nvSpPr>
          <p:cNvPr id="176" name="Google Shape;176;p11"/>
          <p:cNvSpPr/>
          <p:nvPr/>
        </p:nvSpPr>
        <p:spPr>
          <a:xfrm>
            <a:off x="548640" y="1828800"/>
            <a:ext cx="2103120" cy="3840480"/>
          </a:xfrm>
          <a:prstGeom prst="roundRect">
            <a:avLst>
              <a:gd name="adj" fmla="val 3478"/>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a:off x="777240" y="20574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1"/>
          <p:cNvSpPr txBox="1"/>
          <p:nvPr/>
        </p:nvSpPr>
        <p:spPr>
          <a:xfrm>
            <a:off x="777240" y="2057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179" name="Google Shape;179;p11"/>
          <p:cNvSpPr/>
          <p:nvPr/>
        </p:nvSpPr>
        <p:spPr>
          <a:xfrm>
            <a:off x="1874520" y="201168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0" name="Google Shape;180;p11" descr="Follows language instructions"/>
          <p:cNvPicPr preferRelativeResize="0"/>
          <p:nvPr/>
        </p:nvPicPr>
        <p:blipFill rotWithShape="1">
          <a:blip r:embed="rId3">
            <a:alphaModFix/>
          </a:blip>
          <a:srcRect/>
          <a:stretch/>
        </p:blipFill>
        <p:spPr>
          <a:xfrm>
            <a:off x="2011680" y="2148840"/>
            <a:ext cx="274320" cy="274320"/>
          </a:xfrm>
          <a:prstGeom prst="rect">
            <a:avLst/>
          </a:prstGeom>
          <a:noFill/>
          <a:ln>
            <a:noFill/>
          </a:ln>
        </p:spPr>
      </p:pic>
      <p:sp>
        <p:nvSpPr>
          <p:cNvPr id="181" name="Google Shape;181;p11"/>
          <p:cNvSpPr txBox="1"/>
          <p:nvPr/>
        </p:nvSpPr>
        <p:spPr>
          <a:xfrm>
            <a:off x="777240" y="2788920"/>
            <a:ext cx="16459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Follows language instructions</a:t>
            </a:r>
            <a:endParaRPr sz="1700" b="0" i="0" u="none" strike="noStrike" cap="none">
              <a:solidFill>
                <a:schemeClr val="dk1"/>
              </a:solidFill>
              <a:latin typeface="Calibri"/>
              <a:ea typeface="Calibri"/>
              <a:cs typeface="Calibri"/>
              <a:sym typeface="Calibri"/>
            </a:endParaRPr>
          </a:p>
        </p:txBody>
      </p:sp>
      <p:sp>
        <p:nvSpPr>
          <p:cNvPr id="182" name="Google Shape;182;p11"/>
          <p:cNvSpPr txBox="1"/>
          <p:nvPr/>
        </p:nvSpPr>
        <p:spPr>
          <a:xfrm>
            <a:off x="777240" y="3749040"/>
            <a:ext cx="164592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Camera + instruction in, high-level navigation actions out (Task 3)</a:t>
            </a:r>
            <a:endParaRPr sz="1400" b="0" i="0" u="none" strike="noStrike" cap="none">
              <a:solidFill>
                <a:schemeClr val="dk1"/>
              </a:solidFill>
              <a:latin typeface="Calibri"/>
              <a:ea typeface="Calibri"/>
              <a:cs typeface="Calibri"/>
              <a:sym typeface="Calibri"/>
            </a:endParaRPr>
          </a:p>
        </p:txBody>
      </p:sp>
      <p:sp>
        <p:nvSpPr>
          <p:cNvPr id="183" name="Google Shape;183;p11"/>
          <p:cNvSpPr/>
          <p:nvPr/>
        </p:nvSpPr>
        <p:spPr>
          <a:xfrm>
            <a:off x="2788920" y="1828800"/>
            <a:ext cx="2103120" cy="3840480"/>
          </a:xfrm>
          <a:prstGeom prst="roundRect">
            <a:avLst>
              <a:gd name="adj" fmla="val 3478"/>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a:off x="3017520" y="205740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txBox="1"/>
          <p:nvPr/>
        </p:nvSpPr>
        <p:spPr>
          <a:xfrm>
            <a:off x="3017520" y="2057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186" name="Google Shape;186;p11"/>
          <p:cNvSpPr/>
          <p:nvPr/>
        </p:nvSpPr>
        <p:spPr>
          <a:xfrm>
            <a:off x="4114800" y="201168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7" name="Google Shape;187;p11" descr="Built for a legged robot"/>
          <p:cNvPicPr preferRelativeResize="0"/>
          <p:nvPr/>
        </p:nvPicPr>
        <p:blipFill rotWithShape="1">
          <a:blip r:embed="rId4">
            <a:alphaModFix/>
          </a:blip>
          <a:srcRect/>
          <a:stretch/>
        </p:blipFill>
        <p:spPr>
          <a:xfrm>
            <a:off x="4251960" y="2148840"/>
            <a:ext cx="274320" cy="274320"/>
          </a:xfrm>
          <a:prstGeom prst="rect">
            <a:avLst/>
          </a:prstGeom>
          <a:noFill/>
          <a:ln>
            <a:noFill/>
          </a:ln>
        </p:spPr>
      </p:pic>
      <p:sp>
        <p:nvSpPr>
          <p:cNvPr id="188" name="Google Shape;188;p11"/>
          <p:cNvSpPr txBox="1"/>
          <p:nvPr/>
        </p:nvSpPr>
        <p:spPr>
          <a:xfrm>
            <a:off x="3017520" y="2788920"/>
            <a:ext cx="16459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Built for a legged robot</a:t>
            </a:r>
            <a:endParaRPr sz="1700" b="0" i="0" u="none" strike="noStrike" cap="none">
              <a:solidFill>
                <a:schemeClr val="dk1"/>
              </a:solidFill>
              <a:latin typeface="Calibri"/>
              <a:ea typeface="Calibri"/>
              <a:cs typeface="Calibri"/>
              <a:sym typeface="Calibri"/>
            </a:endParaRPr>
          </a:p>
        </p:txBody>
      </p:sp>
      <p:sp>
        <p:nvSpPr>
          <p:cNvPr id="189" name="Google Shape;189;p11"/>
          <p:cNvSpPr txBox="1"/>
          <p:nvPr/>
        </p:nvSpPr>
        <p:spPr>
          <a:xfrm>
            <a:off x="3017520" y="3749040"/>
            <a:ext cx="164592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Designed for, and ideally tested on, a quadruped like our Go2</a:t>
            </a:r>
            <a:endParaRPr sz="1400" b="0" i="0" u="none" strike="noStrike" cap="none">
              <a:solidFill>
                <a:schemeClr val="dk1"/>
              </a:solidFill>
              <a:latin typeface="Calibri"/>
              <a:ea typeface="Calibri"/>
              <a:cs typeface="Calibri"/>
              <a:sym typeface="Calibri"/>
            </a:endParaRPr>
          </a:p>
        </p:txBody>
      </p:sp>
      <p:sp>
        <p:nvSpPr>
          <p:cNvPr id="190" name="Google Shape;190;p11"/>
          <p:cNvSpPr/>
          <p:nvPr/>
        </p:nvSpPr>
        <p:spPr>
          <a:xfrm>
            <a:off x="5029200" y="1828800"/>
            <a:ext cx="2103120" cy="3840480"/>
          </a:xfrm>
          <a:prstGeom prst="roundRect">
            <a:avLst>
              <a:gd name="adj" fmla="val 3478"/>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5257800" y="20574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txBox="1"/>
          <p:nvPr/>
        </p:nvSpPr>
        <p:spPr>
          <a:xfrm>
            <a:off x="5257800" y="2057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193" name="Google Shape;193;p11"/>
          <p:cNvSpPr/>
          <p:nvPr/>
        </p:nvSpPr>
        <p:spPr>
          <a:xfrm>
            <a:off x="6355080" y="201168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 name="Google Shape;194;p11" descr="Public code and weights"/>
          <p:cNvPicPr preferRelativeResize="0"/>
          <p:nvPr/>
        </p:nvPicPr>
        <p:blipFill rotWithShape="1">
          <a:blip r:embed="rId5">
            <a:alphaModFix/>
          </a:blip>
          <a:srcRect/>
          <a:stretch/>
        </p:blipFill>
        <p:spPr>
          <a:xfrm>
            <a:off x="6492240" y="2148840"/>
            <a:ext cx="274320" cy="274320"/>
          </a:xfrm>
          <a:prstGeom prst="rect">
            <a:avLst/>
          </a:prstGeom>
          <a:noFill/>
          <a:ln>
            <a:noFill/>
          </a:ln>
        </p:spPr>
      </p:pic>
      <p:sp>
        <p:nvSpPr>
          <p:cNvPr id="195" name="Google Shape;195;p11"/>
          <p:cNvSpPr txBox="1"/>
          <p:nvPr/>
        </p:nvSpPr>
        <p:spPr>
          <a:xfrm>
            <a:off x="5257800" y="2788920"/>
            <a:ext cx="16459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Public code and weights</a:t>
            </a:r>
            <a:endParaRPr sz="1700" b="0" i="0" u="none" strike="noStrike" cap="none">
              <a:solidFill>
                <a:schemeClr val="dk1"/>
              </a:solidFill>
              <a:latin typeface="Calibri"/>
              <a:ea typeface="Calibri"/>
              <a:cs typeface="Calibri"/>
              <a:sym typeface="Calibri"/>
            </a:endParaRPr>
          </a:p>
        </p:txBody>
      </p:sp>
      <p:sp>
        <p:nvSpPr>
          <p:cNvPr id="196" name="Google Shape;196;p11"/>
          <p:cNvSpPr txBox="1"/>
          <p:nvPr/>
        </p:nvSpPr>
        <p:spPr>
          <a:xfrm>
            <a:off x="5257800" y="3749040"/>
            <a:ext cx="164592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 pretrained model we can download and run, no training from scratch</a:t>
            </a:r>
            <a:endParaRPr sz="1400" b="0" i="0" u="none" strike="noStrike" cap="none">
              <a:solidFill>
                <a:schemeClr val="dk1"/>
              </a:solidFill>
              <a:latin typeface="Calibri"/>
              <a:ea typeface="Calibri"/>
              <a:cs typeface="Calibri"/>
              <a:sym typeface="Calibri"/>
            </a:endParaRPr>
          </a:p>
        </p:txBody>
      </p:sp>
      <p:sp>
        <p:nvSpPr>
          <p:cNvPr id="197" name="Google Shape;197;p11"/>
          <p:cNvSpPr/>
          <p:nvPr/>
        </p:nvSpPr>
        <p:spPr>
          <a:xfrm>
            <a:off x="7269480" y="1828800"/>
            <a:ext cx="2103120" cy="3840480"/>
          </a:xfrm>
          <a:prstGeom prst="roundRect">
            <a:avLst>
              <a:gd name="adj" fmla="val 3478"/>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7498080" y="205740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txBox="1"/>
          <p:nvPr/>
        </p:nvSpPr>
        <p:spPr>
          <a:xfrm>
            <a:off x="7498080" y="2057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4</a:t>
            </a:r>
            <a:endParaRPr sz="1600" b="0" i="0" u="none" strike="noStrike" cap="none">
              <a:solidFill>
                <a:schemeClr val="dk1"/>
              </a:solidFill>
              <a:latin typeface="Calibri"/>
              <a:ea typeface="Calibri"/>
              <a:cs typeface="Calibri"/>
              <a:sym typeface="Calibri"/>
            </a:endParaRPr>
          </a:p>
        </p:txBody>
      </p:sp>
      <p:sp>
        <p:nvSpPr>
          <p:cNvPr id="200" name="Google Shape;200;p11"/>
          <p:cNvSpPr/>
          <p:nvPr/>
        </p:nvSpPr>
        <p:spPr>
          <a:xfrm>
            <a:off x="8595360" y="201168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1" name="Google Shape;201;p11" descr="Works in Isaac Sim"/>
          <p:cNvPicPr preferRelativeResize="0"/>
          <p:nvPr/>
        </p:nvPicPr>
        <p:blipFill rotWithShape="1">
          <a:blip r:embed="rId6">
            <a:alphaModFix/>
          </a:blip>
          <a:srcRect/>
          <a:stretch/>
        </p:blipFill>
        <p:spPr>
          <a:xfrm>
            <a:off x="8732520" y="2148840"/>
            <a:ext cx="274320" cy="274320"/>
          </a:xfrm>
          <a:prstGeom prst="rect">
            <a:avLst/>
          </a:prstGeom>
          <a:noFill/>
          <a:ln>
            <a:noFill/>
          </a:ln>
        </p:spPr>
      </p:pic>
      <p:sp>
        <p:nvSpPr>
          <p:cNvPr id="202" name="Google Shape;202;p11"/>
          <p:cNvSpPr txBox="1"/>
          <p:nvPr/>
        </p:nvSpPr>
        <p:spPr>
          <a:xfrm>
            <a:off x="7498080" y="2788920"/>
            <a:ext cx="16459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Works in Isaac Sim</a:t>
            </a:r>
            <a:endParaRPr sz="1700" b="0" i="0" u="none" strike="noStrike" cap="none">
              <a:solidFill>
                <a:schemeClr val="dk1"/>
              </a:solidFill>
              <a:latin typeface="Calibri"/>
              <a:ea typeface="Calibri"/>
              <a:cs typeface="Calibri"/>
              <a:sym typeface="Calibri"/>
            </a:endParaRPr>
          </a:p>
        </p:txBody>
      </p:sp>
      <p:sp>
        <p:nvSpPr>
          <p:cNvPr id="203" name="Google Shape;203;p11"/>
          <p:cNvSpPr txBox="1"/>
          <p:nvPr/>
        </p:nvSpPr>
        <p:spPr>
          <a:xfrm>
            <a:off x="7498080" y="3749040"/>
            <a:ext cx="164592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Fits the Go2 simulation already built in Task 2</a:t>
            </a:r>
            <a:endParaRPr sz="1400" b="0" i="0" u="none" strike="noStrike" cap="none">
              <a:solidFill>
                <a:schemeClr val="dk1"/>
              </a:solidFill>
              <a:latin typeface="Calibri"/>
              <a:ea typeface="Calibri"/>
              <a:cs typeface="Calibri"/>
              <a:sym typeface="Calibri"/>
            </a:endParaRPr>
          </a:p>
        </p:txBody>
      </p:sp>
      <p:sp>
        <p:nvSpPr>
          <p:cNvPr id="204" name="Google Shape;204;p11"/>
          <p:cNvSpPr/>
          <p:nvPr/>
        </p:nvSpPr>
        <p:spPr>
          <a:xfrm>
            <a:off x="9509760" y="1828800"/>
            <a:ext cx="2103120" cy="3840480"/>
          </a:xfrm>
          <a:prstGeom prst="roundRect">
            <a:avLst>
              <a:gd name="adj" fmla="val 3478"/>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a:off x="9738360" y="20574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txBox="1"/>
          <p:nvPr/>
        </p:nvSpPr>
        <p:spPr>
          <a:xfrm>
            <a:off x="9738360" y="2057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207" name="Google Shape;207;p11"/>
          <p:cNvSpPr/>
          <p:nvPr/>
        </p:nvSpPr>
        <p:spPr>
          <a:xfrm>
            <a:off x="10835640" y="201168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8" name="Google Shape;208;p11" descr="Fits our GPU"/>
          <p:cNvPicPr preferRelativeResize="0"/>
          <p:nvPr/>
        </p:nvPicPr>
        <p:blipFill rotWithShape="1">
          <a:blip r:embed="rId7">
            <a:alphaModFix/>
          </a:blip>
          <a:srcRect/>
          <a:stretch/>
        </p:blipFill>
        <p:spPr>
          <a:xfrm>
            <a:off x="10972800" y="2148840"/>
            <a:ext cx="274320" cy="274320"/>
          </a:xfrm>
          <a:prstGeom prst="rect">
            <a:avLst/>
          </a:prstGeom>
          <a:noFill/>
          <a:ln>
            <a:noFill/>
          </a:ln>
        </p:spPr>
      </p:pic>
      <p:sp>
        <p:nvSpPr>
          <p:cNvPr id="209" name="Google Shape;209;p11"/>
          <p:cNvSpPr txBox="1"/>
          <p:nvPr/>
        </p:nvSpPr>
        <p:spPr>
          <a:xfrm>
            <a:off x="9738360" y="2788920"/>
            <a:ext cx="16459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Fits our GPU</a:t>
            </a:r>
            <a:endParaRPr sz="1700" b="0" i="0" u="none" strike="noStrike" cap="none">
              <a:solidFill>
                <a:schemeClr val="dk1"/>
              </a:solidFill>
              <a:latin typeface="Calibri"/>
              <a:ea typeface="Calibri"/>
              <a:cs typeface="Calibri"/>
              <a:sym typeface="Calibri"/>
            </a:endParaRPr>
          </a:p>
        </p:txBody>
      </p:sp>
      <p:sp>
        <p:nvSpPr>
          <p:cNvPr id="210" name="Google Shape;210;p11"/>
          <p:cNvSpPr txBox="1"/>
          <p:nvPr/>
        </p:nvSpPr>
        <p:spPr>
          <a:xfrm>
            <a:off x="9738360" y="3749040"/>
            <a:ext cx="164592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Runs beside Isaac Sim on one RTX A4500 (20 GB)</a:t>
            </a:r>
            <a:endParaRPr sz="1400" b="0" i="0" u="none" strike="noStrike" cap="none">
              <a:solidFill>
                <a:schemeClr val="dk1"/>
              </a:solidFill>
              <a:latin typeface="Calibri"/>
              <a:ea typeface="Calibri"/>
              <a:cs typeface="Calibri"/>
              <a:sym typeface="Calibri"/>
            </a:endParaRPr>
          </a:p>
        </p:txBody>
      </p:sp>
      <p:sp>
        <p:nvSpPr>
          <p:cNvPr id="211" name="Google Shape;211;p11"/>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7</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WHY NAVILA · SIDE BY SIDE</a:t>
            </a:r>
            <a:endParaRPr sz="1200"/>
          </a:p>
        </p:txBody>
      </p:sp>
      <p:sp>
        <p:nvSpPr>
          <p:cNvPr id="218" name="Google Shape;218;p12"/>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Only NaVILA meets every criterion we could check</a:t>
            </a:r>
            <a:endParaRPr sz="3400"/>
          </a:p>
        </p:txBody>
      </p:sp>
      <p:graphicFrame>
        <p:nvGraphicFramePr>
          <p:cNvPr id="219" name="Google Shape;219;p12"/>
          <p:cNvGraphicFramePr/>
          <p:nvPr/>
        </p:nvGraphicFramePr>
        <p:xfrm>
          <a:off x="548640" y="1417320"/>
          <a:ext cx="11064275" cy="3620925"/>
        </p:xfrm>
        <a:graphic>
          <a:graphicData uri="http://schemas.openxmlformats.org/drawingml/2006/table">
            <a:tbl>
              <a:tblPr>
                <a:noFill/>
                <a:tableStyleId>{C6D03E0C-C031-4C38-83CD-E9B4D8B3B06F}</a:tableStyleId>
              </a:tblPr>
              <a:tblGrid>
                <a:gridCol w="1600200">
                  <a:extLst>
                    <a:ext uri="{9D8B030D-6E8A-4147-A177-3AD203B41FA5}">
                      <a16:colId xmlns:a16="http://schemas.microsoft.com/office/drawing/2014/main" val="20000"/>
                    </a:ext>
                  </a:extLst>
                </a:gridCol>
                <a:gridCol w="18745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463050">
                  <a:extLst>
                    <a:ext uri="{9D8B030D-6E8A-4147-A177-3AD203B41FA5}">
                      <a16:colId xmlns:a16="http://schemas.microsoft.com/office/drawing/2014/main" val="20004"/>
                    </a:ext>
                  </a:extLst>
                </a:gridCol>
                <a:gridCol w="2834650">
                  <a:extLst>
                    <a:ext uri="{9D8B030D-6E8A-4147-A177-3AD203B41FA5}">
                      <a16:colId xmlns:a16="http://schemas.microsoft.com/office/drawing/2014/main" val="20005"/>
                    </a:ext>
                  </a:extLst>
                </a:gridCol>
              </a:tblGrid>
              <a:tr h="4023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Paper</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Instruction navigation</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Legged /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Code + weights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Isaac Sim</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Role in our project</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402325">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NaVILA</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b="1" u="none" strike="noStrike" cap="none">
                          <a:solidFill>
                            <a:srgbClr val="333333"/>
                          </a:solidFill>
                          <a:latin typeface="Calibri"/>
                          <a:ea typeface="Calibri"/>
                          <a:cs typeface="Calibri"/>
                          <a:sym typeface="Calibri"/>
                        </a:rPr>
                        <a:t>Base model (Task 3)</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extLst>
                  <a:ext uri="{0D108BD9-81ED-4DB2-BD59-A6C34878D82A}">
                    <a16:rowId xmlns:a16="http://schemas.microsoft.com/office/drawing/2014/main" val="10001"/>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StreamVLN</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 Habitat</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Closest alternative</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MobileVLA-R1</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quadruped</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 Habitat</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Related work: RL training</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MoRE</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Partly, multi-skill</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1F5FC"/>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quadruped</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None found</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Related work: RL scaling</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TrackVLA</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 tracking</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Benchmark only</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1F5FC"/>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Object-goal extension</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Token pruning</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Add-on only</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1F5FC"/>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None found</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Possible speed add-on</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Efficient-VLN</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 sim only</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Related work: 73.2% R2R-CE</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02325">
                <a:tc>
                  <a:txBody>
                    <a:bodyPr/>
                    <a:lstStyle/>
                    <a:p>
                      <a:pPr marL="0" marR="0" lvl="0" indent="0" algn="l" rtl="0">
                        <a:spcBef>
                          <a:spcPts val="0"/>
                        </a:spcBef>
                        <a:spcAft>
                          <a:spcPts val="0"/>
                        </a:spcAft>
                        <a:buClr>
                          <a:srgbClr val="000000"/>
                        </a:buClr>
                        <a:buSzPts val="1300"/>
                        <a:buFont typeface="Calibri"/>
                        <a:buNone/>
                      </a:pPr>
                      <a:r>
                        <a:rPr lang="en-US" sz="1300" b="1" u="none" strike="noStrike" cap="none">
                          <a:solidFill>
                            <a:srgbClr val="000000"/>
                          </a:solidFill>
                          <a:latin typeface="Calibri"/>
                          <a:ea typeface="Calibri"/>
                          <a:cs typeface="Calibri"/>
                          <a:sym typeface="Calibri"/>
                        </a:rPr>
                        <a:t>ABot-N0 / N1</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0B3A8F"/>
                        </a:buClr>
                        <a:buSzPts val="1300"/>
                        <a:buFont typeface="Calibri"/>
                        <a:buNone/>
                      </a:pPr>
                      <a:r>
                        <a:rPr lang="en-US" sz="1300" b="1" u="none" strike="noStrike" cap="none">
                          <a:solidFill>
                            <a:srgbClr val="0B3A8F"/>
                          </a:solidFill>
                          <a:latin typeface="Calibri"/>
                          <a:ea typeface="Calibri"/>
                          <a:cs typeface="Calibri"/>
                          <a:sym typeface="Calibri"/>
                        </a:rPr>
                        <a:t>Yes, Go2</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DCE7FA"/>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Benchmark only</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1F5FC"/>
                    </a:solidFill>
                  </a:tcPr>
                </a:tc>
                <a:tc>
                  <a:txBody>
                    <a:bodyPr/>
                    <a:lstStyle/>
                    <a:p>
                      <a:pPr marL="0" marR="0" lvl="0" indent="0" algn="l" rtl="0">
                        <a:spcBef>
                          <a:spcPts val="0"/>
                        </a:spcBef>
                        <a:spcAft>
                          <a:spcPts val="0"/>
                        </a:spcAft>
                        <a:buClr>
                          <a:srgbClr val="777777"/>
                        </a:buClr>
                        <a:buSzPts val="1300"/>
                        <a:buFont typeface="Calibri"/>
                        <a:buNone/>
                      </a:pPr>
                      <a:r>
                        <a:rPr lang="en-US" sz="1300" u="none" strike="noStrike" cap="none">
                          <a:solidFill>
                            <a:srgbClr val="777777"/>
                          </a:solidFill>
                          <a:latin typeface="Calibri"/>
                          <a:ea typeface="Calibri"/>
                          <a:cs typeface="Calibri"/>
                          <a:sym typeface="Calibri"/>
                        </a:rPr>
                        <a:t>No</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3333"/>
                        </a:buClr>
                        <a:buSzPts val="1300"/>
                        <a:buFont typeface="Calibri"/>
                        <a:buNone/>
                      </a:pPr>
                      <a:r>
                        <a:rPr lang="en-US" sz="1300" u="none" strike="noStrike" cap="none">
                          <a:solidFill>
                            <a:srgbClr val="333333"/>
                          </a:solidFill>
                          <a:latin typeface="Calibri"/>
                          <a:ea typeface="Calibri"/>
                          <a:cs typeface="Calibri"/>
                          <a:sym typeface="Calibri"/>
                        </a:rPr>
                        <a:t>Related work: newest models</a:t>
                      </a:r>
                      <a:endParaRPr sz="1300" u="none" strike="noStrike" cap="none">
                        <a:latin typeface="Calibri"/>
                        <a:ea typeface="Calibri"/>
                        <a:cs typeface="Calibri"/>
                        <a:sym typeface="Calibri"/>
                      </a:endParaRPr>
                    </a:p>
                  </a:txBody>
                  <a:tcPr marL="91450" marR="91450" marT="0" marB="0" anchor="ctr">
                    <a:lnL w="9525" cap="flat" cmpd="sng">
                      <a:solidFill>
                        <a:srgbClr val="D5DCE8"/>
                      </a:solidFill>
                      <a:prstDash val="solid"/>
                      <a:round/>
                      <a:headEnd type="none" w="sm" len="sm"/>
                      <a:tailEnd type="none" w="sm" len="sm"/>
                    </a:lnL>
                    <a:lnR w="9525" cap="flat" cmpd="sng">
                      <a:solidFill>
                        <a:srgbClr val="D5DCE8"/>
                      </a:solidFill>
                      <a:prstDash val="solid"/>
                      <a:round/>
                      <a:headEnd type="none" w="sm" len="sm"/>
                      <a:tailEnd type="none" w="sm" len="sm"/>
                    </a:lnR>
                    <a:lnT w="9525" cap="flat" cmpd="sng">
                      <a:solidFill>
                        <a:srgbClr val="D5DCE8"/>
                      </a:solidFill>
                      <a:prstDash val="solid"/>
                      <a:round/>
                      <a:headEnd type="none" w="sm" len="sm"/>
                      <a:tailEnd type="none" w="sm" len="sm"/>
                    </a:lnT>
                    <a:lnB w="9525" cap="flat" cmpd="sng">
                      <a:solidFill>
                        <a:srgbClr val="D5DCE8"/>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220" name="Google Shape;220;p12"/>
          <p:cNvSpPr txBox="1"/>
          <p:nvPr/>
        </p:nvSpPr>
        <p:spPr>
          <a:xfrm>
            <a:off x="548640" y="5257800"/>
            <a:ext cx="1106424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Fits our GPU: </a:t>
            </a:r>
            <a:r>
              <a:rPr lang="en-US" sz="1400" b="0" i="0" u="none" strike="noStrike" cap="none">
                <a:solidFill>
                  <a:schemeClr val="dk2"/>
                </a:solidFill>
                <a:latin typeface="Calibri"/>
                <a:ea typeface="Calibri"/>
                <a:cs typeface="Calibri"/>
                <a:sym typeface="Calibri"/>
              </a:rPr>
              <a:t>only NaVILA has been tested on it (8-bit: 12.9 GB peak, leaving room for Isaac Sim). Code status checked on GitHub and project pages, Oct 2026.</a:t>
            </a:r>
            <a:endParaRPr sz="1400" b="0" i="0" u="none" strike="noStrike" cap="none">
              <a:solidFill>
                <a:schemeClr val="dk1"/>
              </a:solidFill>
              <a:latin typeface="Calibri"/>
              <a:ea typeface="Calibri"/>
              <a:cs typeface="Calibri"/>
              <a:sym typeface="Calibri"/>
            </a:endParaRPr>
          </a:p>
        </p:txBody>
      </p:sp>
      <p:sp>
        <p:nvSpPr>
          <p:cNvPr id="221" name="Google Shape;221;p12"/>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8</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3"/>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WHY NAVILA</a:t>
            </a:r>
            <a:r>
              <a:rPr lang="en-US"/>
              <a:t>?</a:t>
            </a:r>
            <a:endParaRPr sz="1200"/>
          </a:p>
        </p:txBody>
      </p:sp>
      <p:sp>
        <p:nvSpPr>
          <p:cNvPr id="228" name="Google Shape;228;p13"/>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NaVILA's published results back the choice</a:t>
            </a:r>
            <a:endParaRPr sz="3400"/>
          </a:p>
        </p:txBody>
      </p:sp>
      <p:sp>
        <p:nvSpPr>
          <p:cNvPr id="229" name="Google Shape;229;p13"/>
          <p:cNvSpPr/>
          <p:nvPr/>
        </p:nvSpPr>
        <p:spPr>
          <a:xfrm>
            <a:off x="548640" y="1508760"/>
            <a:ext cx="3566160" cy="3200400"/>
          </a:xfrm>
          <a:prstGeom prst="roundRect">
            <a:avLst>
              <a:gd name="adj" fmla="val 2286"/>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a:off x="822960" y="1783080"/>
            <a:ext cx="640080" cy="6400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1" name="Google Shape;231;p13" descr="Success on R2R-CE"/>
          <p:cNvPicPr preferRelativeResize="0"/>
          <p:nvPr/>
        </p:nvPicPr>
        <p:blipFill rotWithShape="1">
          <a:blip r:embed="rId3">
            <a:alphaModFix/>
          </a:blip>
          <a:srcRect/>
          <a:stretch/>
        </p:blipFill>
        <p:spPr>
          <a:xfrm>
            <a:off x="982980" y="1943100"/>
            <a:ext cx="320040" cy="320040"/>
          </a:xfrm>
          <a:prstGeom prst="rect">
            <a:avLst/>
          </a:prstGeom>
          <a:noFill/>
          <a:ln>
            <a:noFill/>
          </a:ln>
        </p:spPr>
      </p:pic>
      <p:sp>
        <p:nvSpPr>
          <p:cNvPr id="232" name="Google Shape;232;p13"/>
          <p:cNvSpPr txBox="1"/>
          <p:nvPr/>
        </p:nvSpPr>
        <p:spPr>
          <a:xfrm>
            <a:off x="822960" y="2560320"/>
            <a:ext cx="30175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54%</a:t>
            </a:r>
            <a:endParaRPr sz="5400" b="0" i="0" u="none" strike="noStrike" cap="none">
              <a:solidFill>
                <a:schemeClr val="dk1"/>
              </a:solidFill>
              <a:latin typeface="Calibri"/>
              <a:ea typeface="Calibri"/>
              <a:cs typeface="Calibri"/>
              <a:sym typeface="Calibri"/>
            </a:endParaRPr>
          </a:p>
        </p:txBody>
      </p:sp>
      <p:sp>
        <p:nvSpPr>
          <p:cNvPr id="233" name="Google Shape;233;p13"/>
          <p:cNvSpPr txBox="1"/>
          <p:nvPr/>
        </p:nvSpPr>
        <p:spPr>
          <a:xfrm>
            <a:off x="822960" y="3429000"/>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Success on R2R-CE</a:t>
            </a:r>
            <a:endParaRPr sz="1700" b="0" i="0" u="none" strike="noStrike" cap="none">
              <a:solidFill>
                <a:schemeClr val="dk1"/>
              </a:solidFill>
              <a:latin typeface="Calibri"/>
              <a:ea typeface="Calibri"/>
              <a:cs typeface="Calibri"/>
              <a:sym typeface="Calibri"/>
            </a:endParaRPr>
          </a:p>
        </p:txBody>
      </p:sp>
      <p:sp>
        <p:nvSpPr>
          <p:cNvPr id="234" name="Google Shape;234;p13"/>
          <p:cNvSpPr txBox="1"/>
          <p:nvPr/>
        </p:nvSpPr>
        <p:spPr>
          <a:xfrm>
            <a:off x="822960" y="3794760"/>
            <a:ext cx="30175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Best single-camera result when published (NaVid: 37%)</a:t>
            </a:r>
            <a:endParaRPr sz="1400" b="0" i="0" u="none" strike="noStrike" cap="none">
              <a:solidFill>
                <a:schemeClr val="dk1"/>
              </a:solidFill>
              <a:latin typeface="Calibri"/>
              <a:ea typeface="Calibri"/>
              <a:cs typeface="Calibri"/>
              <a:sym typeface="Calibri"/>
            </a:endParaRPr>
          </a:p>
        </p:txBody>
      </p:sp>
      <p:sp>
        <p:nvSpPr>
          <p:cNvPr id="235" name="Google Shape;235;p13"/>
          <p:cNvSpPr/>
          <p:nvPr/>
        </p:nvSpPr>
        <p:spPr>
          <a:xfrm>
            <a:off x="4297680" y="1508760"/>
            <a:ext cx="3566160" cy="3200400"/>
          </a:xfrm>
          <a:prstGeom prst="roundRect">
            <a:avLst>
              <a:gd name="adj" fmla="val 2286"/>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3"/>
          <p:cNvSpPr/>
          <p:nvPr/>
        </p:nvSpPr>
        <p:spPr>
          <a:xfrm>
            <a:off x="4572000" y="178308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7" name="Google Shape;237;p13" descr="Success, Go2 in Isaac Sim"/>
          <p:cNvPicPr preferRelativeResize="0"/>
          <p:nvPr/>
        </p:nvPicPr>
        <p:blipFill rotWithShape="1">
          <a:blip r:embed="rId4">
            <a:alphaModFix/>
          </a:blip>
          <a:srcRect/>
          <a:stretch/>
        </p:blipFill>
        <p:spPr>
          <a:xfrm>
            <a:off x="4732020" y="1943100"/>
            <a:ext cx="320040" cy="320040"/>
          </a:xfrm>
          <a:prstGeom prst="rect">
            <a:avLst/>
          </a:prstGeom>
          <a:noFill/>
          <a:ln>
            <a:noFill/>
          </a:ln>
        </p:spPr>
      </p:pic>
      <p:sp>
        <p:nvSpPr>
          <p:cNvPr id="238" name="Google Shape;238;p13"/>
          <p:cNvSpPr txBox="1"/>
          <p:nvPr/>
        </p:nvSpPr>
        <p:spPr>
          <a:xfrm>
            <a:off x="4572000" y="2560320"/>
            <a:ext cx="30175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50.2%</a:t>
            </a:r>
            <a:endParaRPr sz="5400" b="0" i="0" u="none" strike="noStrike" cap="none">
              <a:solidFill>
                <a:schemeClr val="dk1"/>
              </a:solidFill>
              <a:latin typeface="Calibri"/>
              <a:ea typeface="Calibri"/>
              <a:cs typeface="Calibri"/>
              <a:sym typeface="Calibri"/>
            </a:endParaRPr>
          </a:p>
        </p:txBody>
      </p:sp>
      <p:sp>
        <p:nvSpPr>
          <p:cNvPr id="239" name="Google Shape;239;p13"/>
          <p:cNvSpPr txBox="1"/>
          <p:nvPr/>
        </p:nvSpPr>
        <p:spPr>
          <a:xfrm>
            <a:off x="4572000" y="3429000"/>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Success, Go2 in Isaac Sim</a:t>
            </a:r>
            <a:endParaRPr sz="1700" b="0" i="0" u="none" strike="noStrike" cap="none">
              <a:solidFill>
                <a:schemeClr val="dk1"/>
              </a:solidFill>
              <a:latin typeface="Calibri"/>
              <a:ea typeface="Calibri"/>
              <a:cs typeface="Calibri"/>
              <a:sym typeface="Calibri"/>
            </a:endParaRPr>
          </a:p>
        </p:txBody>
      </p:sp>
      <p:sp>
        <p:nvSpPr>
          <p:cNvPr id="240" name="Google Shape;240;p13"/>
          <p:cNvSpPr txBox="1"/>
          <p:nvPr/>
        </p:nvSpPr>
        <p:spPr>
          <a:xfrm>
            <a:off x="4572000" y="3794760"/>
            <a:ext cx="30175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VLN-CE-Isaac, the same benchmark we run in Task 3</a:t>
            </a:r>
            <a:endParaRPr sz="1400" b="0" i="0" u="none" strike="noStrike" cap="none">
              <a:solidFill>
                <a:schemeClr val="dk1"/>
              </a:solidFill>
              <a:latin typeface="Calibri"/>
              <a:ea typeface="Calibri"/>
              <a:cs typeface="Calibri"/>
              <a:sym typeface="Calibri"/>
            </a:endParaRPr>
          </a:p>
        </p:txBody>
      </p:sp>
      <p:sp>
        <p:nvSpPr>
          <p:cNvPr id="241" name="Google Shape;241;p13"/>
          <p:cNvSpPr/>
          <p:nvPr/>
        </p:nvSpPr>
        <p:spPr>
          <a:xfrm>
            <a:off x="8046720" y="1508760"/>
            <a:ext cx="3566160" cy="3200400"/>
          </a:xfrm>
          <a:prstGeom prst="roundRect">
            <a:avLst>
              <a:gd name="adj" fmla="val 2286"/>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3"/>
          <p:cNvSpPr/>
          <p:nvPr/>
        </p:nvSpPr>
        <p:spPr>
          <a:xfrm>
            <a:off x="8321040" y="1783080"/>
            <a:ext cx="640080" cy="6400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3" name="Google Shape;243;p13" descr="Success on a real Go2"/>
          <p:cNvPicPr preferRelativeResize="0"/>
          <p:nvPr/>
        </p:nvPicPr>
        <p:blipFill rotWithShape="1">
          <a:blip r:embed="rId5">
            <a:alphaModFix/>
          </a:blip>
          <a:srcRect/>
          <a:stretch/>
        </p:blipFill>
        <p:spPr>
          <a:xfrm>
            <a:off x="8481060" y="1943100"/>
            <a:ext cx="320040" cy="320040"/>
          </a:xfrm>
          <a:prstGeom prst="rect">
            <a:avLst/>
          </a:prstGeom>
          <a:noFill/>
          <a:ln>
            <a:noFill/>
          </a:ln>
        </p:spPr>
      </p:pic>
      <p:sp>
        <p:nvSpPr>
          <p:cNvPr id="244" name="Google Shape;244;p13"/>
          <p:cNvSpPr txBox="1"/>
          <p:nvPr/>
        </p:nvSpPr>
        <p:spPr>
          <a:xfrm>
            <a:off x="8321040" y="2560320"/>
            <a:ext cx="30175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88%</a:t>
            </a:r>
            <a:endParaRPr sz="5400" b="0" i="0" u="none" strike="noStrike" cap="none">
              <a:solidFill>
                <a:schemeClr val="dk1"/>
              </a:solidFill>
              <a:latin typeface="Calibri"/>
              <a:ea typeface="Calibri"/>
              <a:cs typeface="Calibri"/>
              <a:sym typeface="Calibri"/>
            </a:endParaRPr>
          </a:p>
        </p:txBody>
      </p:sp>
      <p:sp>
        <p:nvSpPr>
          <p:cNvPr id="245" name="Google Shape;245;p13"/>
          <p:cNvSpPr txBox="1"/>
          <p:nvPr/>
        </p:nvSpPr>
        <p:spPr>
          <a:xfrm>
            <a:off x="8321040" y="3429000"/>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Success on a real Go2</a:t>
            </a:r>
            <a:endParaRPr sz="1700" b="0" i="0" u="none" strike="noStrike" cap="none">
              <a:solidFill>
                <a:schemeClr val="dk1"/>
              </a:solidFill>
              <a:latin typeface="Calibri"/>
              <a:ea typeface="Calibri"/>
              <a:cs typeface="Calibri"/>
              <a:sym typeface="Calibri"/>
            </a:endParaRPr>
          </a:p>
        </p:txBody>
      </p:sp>
      <p:sp>
        <p:nvSpPr>
          <p:cNvPr id="246" name="Google Shape;246;p13"/>
          <p:cNvSpPr txBox="1"/>
          <p:nvPr/>
        </p:nvSpPr>
        <p:spPr>
          <a:xfrm>
            <a:off x="8321040" y="3794760"/>
            <a:ext cx="30175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25 instructions × 3 tries in home, office and outdoor scenes</a:t>
            </a:r>
            <a:endParaRPr sz="1400" b="0" i="0" u="none" strike="noStrike" cap="none">
              <a:solidFill>
                <a:schemeClr val="dk1"/>
              </a:solidFill>
              <a:latin typeface="Calibri"/>
              <a:ea typeface="Calibri"/>
              <a:cs typeface="Calibri"/>
              <a:sym typeface="Calibri"/>
            </a:endParaRPr>
          </a:p>
        </p:txBody>
      </p:sp>
      <p:sp>
        <p:nvSpPr>
          <p:cNvPr id="247" name="Google Shape;247;p13"/>
          <p:cNvSpPr/>
          <p:nvPr/>
        </p:nvSpPr>
        <p:spPr>
          <a:xfrm>
            <a:off x="548640" y="4983480"/>
            <a:ext cx="11064240" cy="960120"/>
          </a:xfrm>
          <a:prstGeom prst="roundRect">
            <a:avLst>
              <a:gd name="adj" fmla="val 7619"/>
            </a:avLst>
          </a:prstGeom>
          <a:solidFill>
            <a:schemeClr val="accent5"/>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3"/>
          <p:cNvSpPr txBox="1"/>
          <p:nvPr/>
        </p:nvSpPr>
        <p:spPr>
          <a:xfrm>
            <a:off x="822960" y="4983480"/>
            <a:ext cx="10515600"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Same two-level design as our project: </a:t>
            </a:r>
            <a:r>
              <a:rPr lang="en-US" sz="1500" b="0" i="0" u="none" strike="noStrike" cap="none">
                <a:solidFill>
                  <a:schemeClr val="dk2"/>
                </a:solidFill>
                <a:latin typeface="Calibri"/>
                <a:ea typeface="Calibri"/>
                <a:cs typeface="Calibri"/>
                <a:sym typeface="Calibri"/>
              </a:rPr>
              <a:t>a vision-language "brain" gives mid-level commands, and a separate walking policy is the "legs". That split is what lets us add our own module in between.</a:t>
            </a:r>
            <a:endParaRPr sz="1500" b="0" i="0" u="none" strike="noStrike" cap="none">
              <a:solidFill>
                <a:schemeClr val="dk1"/>
              </a:solidFill>
              <a:latin typeface="Calibri"/>
              <a:ea typeface="Calibri"/>
              <a:cs typeface="Calibri"/>
              <a:sym typeface="Calibri"/>
            </a:endParaRPr>
          </a:p>
        </p:txBody>
      </p:sp>
      <p:sp>
        <p:nvSpPr>
          <p:cNvPr id="249" name="Google Shape;249;p13"/>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9</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4"/>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OUR CONTRIBUTION · THE PROBLEM</a:t>
            </a:r>
            <a:endParaRPr sz="1200"/>
          </a:p>
        </p:txBody>
      </p:sp>
      <p:sp>
        <p:nvSpPr>
          <p:cNvPr id="256" name="Google Shape;256;p14"/>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NaVILA usually finds the goal, but doesn't always stop</a:t>
            </a:r>
            <a:endParaRPr sz="3400"/>
          </a:p>
        </p:txBody>
      </p:sp>
      <p:pic>
        <p:nvPicPr>
          <p:cNvPr id="257" name="Google Shape;257;p14" descr="Bar chart: paper 58.7% oracle vs 50.2% success; our run 90% oracle vs 70% success"/>
          <p:cNvPicPr preferRelativeResize="0"/>
          <p:nvPr/>
        </p:nvPicPr>
        <p:blipFill rotWithShape="1">
          <a:blip r:embed="rId3">
            <a:alphaModFix/>
          </a:blip>
          <a:srcRect/>
          <a:stretch/>
        </p:blipFill>
        <p:spPr>
          <a:xfrm>
            <a:off x="548640" y="1417320"/>
            <a:ext cx="6035040" cy="4526280"/>
          </a:xfrm>
          <a:prstGeom prst="rect">
            <a:avLst/>
          </a:prstGeom>
          <a:noFill/>
          <a:ln>
            <a:noFill/>
          </a:ln>
        </p:spPr>
      </p:pic>
      <p:sp>
        <p:nvSpPr>
          <p:cNvPr id="258" name="Google Shape;258;p14"/>
          <p:cNvSpPr/>
          <p:nvPr/>
        </p:nvSpPr>
        <p:spPr>
          <a:xfrm>
            <a:off x="6949440" y="1463040"/>
            <a:ext cx="4663440" cy="1325880"/>
          </a:xfrm>
          <a:prstGeom prst="roundRect">
            <a:avLst>
              <a:gd name="adj" fmla="val 551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4"/>
          <p:cNvSpPr/>
          <p:nvPr/>
        </p:nvSpPr>
        <p:spPr>
          <a:xfrm>
            <a:off x="7178040" y="1810512"/>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0" name="Google Shape;260;p14" descr="Never stopped"/>
          <p:cNvPicPr preferRelativeResize="0"/>
          <p:nvPr/>
        </p:nvPicPr>
        <p:blipFill rotWithShape="1">
          <a:blip r:embed="rId4">
            <a:alphaModFix/>
          </a:blip>
          <a:srcRect/>
          <a:stretch/>
        </p:blipFill>
        <p:spPr>
          <a:xfrm>
            <a:off x="7326630" y="1959102"/>
            <a:ext cx="297180" cy="297180"/>
          </a:xfrm>
          <a:prstGeom prst="rect">
            <a:avLst/>
          </a:prstGeom>
          <a:noFill/>
          <a:ln>
            <a:noFill/>
          </a:ln>
        </p:spPr>
      </p:pic>
      <p:sp>
        <p:nvSpPr>
          <p:cNvPr id="261" name="Google Shape;261;p14"/>
          <p:cNvSpPr txBox="1"/>
          <p:nvPr/>
        </p:nvSpPr>
        <p:spPr>
          <a:xfrm>
            <a:off x="8001000" y="1600200"/>
            <a:ext cx="3474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Never stopped</a:t>
            </a:r>
            <a:endParaRPr sz="1700" b="0" i="0" u="none" strike="noStrike" cap="none">
              <a:solidFill>
                <a:schemeClr val="dk1"/>
              </a:solidFill>
              <a:latin typeface="Calibri"/>
              <a:ea typeface="Calibri"/>
              <a:cs typeface="Calibri"/>
              <a:sym typeface="Calibri"/>
            </a:endParaRPr>
          </a:p>
        </p:txBody>
      </p:sp>
      <p:sp>
        <p:nvSpPr>
          <p:cNvPr id="262" name="Google Shape;262;p14"/>
          <p:cNvSpPr txBox="1"/>
          <p:nvPr/>
        </p:nvSpPr>
        <p:spPr>
          <a:xfrm>
            <a:off x="8001000" y="1965960"/>
            <a:ext cx="34747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Episode 12: reached the goal area, then kept correcting until the time limit</a:t>
            </a:r>
            <a:endParaRPr sz="1300" b="0" i="0" u="none" strike="noStrike" cap="none">
              <a:solidFill>
                <a:schemeClr val="dk1"/>
              </a:solidFill>
              <a:latin typeface="Calibri"/>
              <a:ea typeface="Calibri"/>
              <a:cs typeface="Calibri"/>
              <a:sym typeface="Calibri"/>
            </a:endParaRPr>
          </a:p>
        </p:txBody>
      </p:sp>
      <p:sp>
        <p:nvSpPr>
          <p:cNvPr id="263" name="Google Shape;263;p14"/>
          <p:cNvSpPr/>
          <p:nvPr/>
        </p:nvSpPr>
        <p:spPr>
          <a:xfrm>
            <a:off x="6949440" y="2971800"/>
            <a:ext cx="4663440" cy="1325880"/>
          </a:xfrm>
          <a:prstGeom prst="roundRect">
            <a:avLst>
              <a:gd name="adj" fmla="val 551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7178040" y="3319272"/>
            <a:ext cx="594360" cy="5943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5" name="Google Shape;265;p14" descr="Overshot"/>
          <p:cNvPicPr preferRelativeResize="0"/>
          <p:nvPr/>
        </p:nvPicPr>
        <p:blipFill rotWithShape="1">
          <a:blip r:embed="rId5">
            <a:alphaModFix/>
          </a:blip>
          <a:srcRect/>
          <a:stretch/>
        </p:blipFill>
        <p:spPr>
          <a:xfrm>
            <a:off x="7326630" y="3467862"/>
            <a:ext cx="297180" cy="297180"/>
          </a:xfrm>
          <a:prstGeom prst="rect">
            <a:avLst/>
          </a:prstGeom>
          <a:noFill/>
          <a:ln>
            <a:noFill/>
          </a:ln>
        </p:spPr>
      </p:pic>
      <p:sp>
        <p:nvSpPr>
          <p:cNvPr id="266" name="Google Shape;266;p14"/>
          <p:cNvSpPr txBox="1"/>
          <p:nvPr/>
        </p:nvSpPr>
        <p:spPr>
          <a:xfrm>
            <a:off x="8001000" y="3108960"/>
            <a:ext cx="3474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Overshot</a:t>
            </a:r>
            <a:endParaRPr sz="1700" b="0" i="0" u="none" strike="noStrike" cap="none">
              <a:solidFill>
                <a:schemeClr val="dk1"/>
              </a:solidFill>
              <a:latin typeface="Calibri"/>
              <a:ea typeface="Calibri"/>
              <a:cs typeface="Calibri"/>
              <a:sym typeface="Calibri"/>
            </a:endParaRPr>
          </a:p>
        </p:txBody>
      </p:sp>
      <p:sp>
        <p:nvSpPr>
          <p:cNvPr id="267" name="Google Shape;267;p14"/>
          <p:cNvSpPr txBox="1"/>
          <p:nvPr/>
        </p:nvSpPr>
        <p:spPr>
          <a:xfrm>
            <a:off x="8001000" y="3474720"/>
            <a:ext cx="34747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Episode 0: passed the goal and stopped 4.1 m away, outside the 3 m zone</a:t>
            </a:r>
            <a:endParaRPr sz="1300" b="0" i="0" u="none" strike="noStrike" cap="none">
              <a:solidFill>
                <a:schemeClr val="dk1"/>
              </a:solidFill>
              <a:latin typeface="Calibri"/>
              <a:ea typeface="Calibri"/>
              <a:cs typeface="Calibri"/>
              <a:sym typeface="Calibri"/>
            </a:endParaRPr>
          </a:p>
        </p:txBody>
      </p:sp>
      <p:sp>
        <p:nvSpPr>
          <p:cNvPr id="268" name="Google Shape;268;p14"/>
          <p:cNvSpPr/>
          <p:nvPr/>
        </p:nvSpPr>
        <p:spPr>
          <a:xfrm>
            <a:off x="6949440" y="4480560"/>
            <a:ext cx="4663440" cy="1325880"/>
          </a:xfrm>
          <a:prstGeom prst="roundRect">
            <a:avLst>
              <a:gd name="adj" fmla="val 551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7178040" y="4828032"/>
            <a:ext cx="594360" cy="59436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0" name="Google Shape;270;p14" descr="Stopped in the wrong place"/>
          <p:cNvPicPr preferRelativeResize="0"/>
          <p:nvPr/>
        </p:nvPicPr>
        <p:blipFill rotWithShape="1">
          <a:blip r:embed="rId6">
            <a:alphaModFix/>
          </a:blip>
          <a:srcRect/>
          <a:stretch/>
        </p:blipFill>
        <p:spPr>
          <a:xfrm>
            <a:off x="7326630" y="4976622"/>
            <a:ext cx="297180" cy="297180"/>
          </a:xfrm>
          <a:prstGeom prst="rect">
            <a:avLst/>
          </a:prstGeom>
          <a:noFill/>
          <a:ln>
            <a:noFill/>
          </a:ln>
        </p:spPr>
      </p:pic>
      <p:sp>
        <p:nvSpPr>
          <p:cNvPr id="271" name="Google Shape;271;p14"/>
          <p:cNvSpPr txBox="1"/>
          <p:nvPr/>
        </p:nvSpPr>
        <p:spPr>
          <a:xfrm>
            <a:off x="8001000" y="4617720"/>
            <a:ext cx="3474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Stopped in the wrong place</a:t>
            </a:r>
            <a:endParaRPr sz="1700" b="0" i="0" u="none" strike="noStrike" cap="none">
              <a:solidFill>
                <a:schemeClr val="dk1"/>
              </a:solidFill>
              <a:latin typeface="Calibri"/>
              <a:ea typeface="Calibri"/>
              <a:cs typeface="Calibri"/>
              <a:sym typeface="Calibri"/>
            </a:endParaRPr>
          </a:p>
        </p:txBody>
      </p:sp>
      <p:sp>
        <p:nvSpPr>
          <p:cNvPr id="272" name="Google Shape;272;p14"/>
          <p:cNvSpPr txBox="1"/>
          <p:nvPr/>
        </p:nvSpPr>
        <p:spPr>
          <a:xfrm>
            <a:off x="8001000" y="4983480"/>
            <a:ext cx="347472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Episode 6: confident stop in the wrong room, 3.3 m away (not our target)</a:t>
            </a:r>
            <a:endParaRPr sz="1300" b="0" i="0" u="none" strike="noStrike" cap="none">
              <a:solidFill>
                <a:schemeClr val="dk1"/>
              </a:solidFill>
              <a:latin typeface="Calibri"/>
              <a:ea typeface="Calibri"/>
              <a:cs typeface="Calibri"/>
              <a:sym typeface="Calibri"/>
            </a:endParaRPr>
          </a:p>
        </p:txBody>
      </p:sp>
      <p:sp>
        <p:nvSpPr>
          <p:cNvPr id="273" name="Google Shape;273;p14"/>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10</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5"/>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OUR CONTRIBUTION · THE FIX</a:t>
            </a:r>
            <a:endParaRPr sz="1200"/>
          </a:p>
        </p:txBody>
      </p:sp>
      <p:sp>
        <p:nvSpPr>
          <p:cNvPr id="280" name="Google Shape;280;p15"/>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A training-free, stop-aware controller</a:t>
            </a:r>
            <a:endParaRPr sz="3400"/>
          </a:p>
        </p:txBody>
      </p:sp>
      <p:sp>
        <p:nvSpPr>
          <p:cNvPr id="281" name="Google Shape;281;p15"/>
          <p:cNvSpPr/>
          <p:nvPr/>
        </p:nvSpPr>
        <p:spPr>
          <a:xfrm>
            <a:off x="548640" y="1508760"/>
            <a:ext cx="1828800" cy="868680"/>
          </a:xfrm>
          <a:prstGeom prst="roundRect">
            <a:avLst>
              <a:gd name="adj" fmla="val 8421"/>
            </a:avLst>
          </a:prstGeom>
          <a:solidFill>
            <a:schemeClr val="accent3"/>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txBox="1"/>
          <p:nvPr/>
        </p:nvSpPr>
        <p:spPr>
          <a:xfrm>
            <a:off x="548640" y="1508760"/>
            <a:ext cx="182880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Camera +</a:t>
            </a:r>
            <a:endParaRPr sz="15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instruction</a:t>
            </a:r>
            <a:endParaRPr sz="1500" b="0" i="0" u="none" strike="noStrike" cap="none">
              <a:solidFill>
                <a:schemeClr val="dk1"/>
              </a:solidFill>
              <a:latin typeface="Calibri"/>
              <a:ea typeface="Calibri"/>
              <a:cs typeface="Calibri"/>
              <a:sym typeface="Calibri"/>
            </a:endParaRPr>
          </a:p>
        </p:txBody>
      </p:sp>
      <p:sp>
        <p:nvSpPr>
          <p:cNvPr id="283" name="Google Shape;283;p15"/>
          <p:cNvSpPr/>
          <p:nvPr/>
        </p:nvSpPr>
        <p:spPr>
          <a:xfrm>
            <a:off x="2468880" y="1810512"/>
            <a:ext cx="297180" cy="27432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a:off x="2857500" y="1508760"/>
            <a:ext cx="1828800" cy="868680"/>
          </a:xfrm>
          <a:prstGeom prst="roundRect">
            <a:avLst>
              <a:gd name="adj" fmla="val 8421"/>
            </a:avLst>
          </a:prstGeom>
          <a:solidFill>
            <a:schemeClr val="dk1"/>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txBox="1"/>
          <p:nvPr/>
        </p:nvSpPr>
        <p:spPr>
          <a:xfrm>
            <a:off x="2857500" y="1508760"/>
            <a:ext cx="182880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NaVILA</a:t>
            </a:r>
            <a:endParaRPr sz="15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8-bit</a:t>
            </a:r>
            <a:endParaRPr sz="1500" b="0" i="0" u="none" strike="noStrike" cap="none">
              <a:solidFill>
                <a:schemeClr val="dk1"/>
              </a:solidFill>
              <a:latin typeface="Calibri"/>
              <a:ea typeface="Calibri"/>
              <a:cs typeface="Calibri"/>
              <a:sym typeface="Calibri"/>
            </a:endParaRPr>
          </a:p>
        </p:txBody>
      </p:sp>
      <p:sp>
        <p:nvSpPr>
          <p:cNvPr id="286" name="Google Shape;286;p15"/>
          <p:cNvSpPr/>
          <p:nvPr/>
        </p:nvSpPr>
        <p:spPr>
          <a:xfrm>
            <a:off x="4777740" y="1810512"/>
            <a:ext cx="297180" cy="27432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5166360" y="1417320"/>
            <a:ext cx="1828800" cy="1051560"/>
          </a:xfrm>
          <a:prstGeom prst="roundRect">
            <a:avLst>
              <a:gd name="adj" fmla="val 6957"/>
            </a:avLst>
          </a:prstGeom>
          <a:solidFill>
            <a:schemeClr val="accent1"/>
          </a:solidFill>
          <a:ln w="31750" cap="flat" cmpd="sng">
            <a:solidFill>
              <a:srgbClr val="000000"/>
            </a:solidFill>
            <a:prstDash val="solid"/>
            <a:round/>
            <a:headEnd type="none" w="sm" len="sm"/>
            <a:tailEnd type="none" w="sm" len="sm"/>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txBox="1"/>
          <p:nvPr/>
        </p:nvSpPr>
        <p:spPr>
          <a:xfrm>
            <a:off x="5166360" y="1417320"/>
            <a:ext cx="1828800" cy="10515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NEW: stop-aware</a:t>
            </a:r>
            <a:endParaRPr sz="15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controller</a:t>
            </a:r>
            <a:endParaRPr sz="1500" b="0" i="0" u="none" strike="noStrike" cap="none">
              <a:solidFill>
                <a:schemeClr val="dk1"/>
              </a:solidFill>
              <a:latin typeface="Calibri"/>
              <a:ea typeface="Calibri"/>
              <a:cs typeface="Calibri"/>
              <a:sym typeface="Calibri"/>
            </a:endParaRPr>
          </a:p>
        </p:txBody>
      </p:sp>
      <p:sp>
        <p:nvSpPr>
          <p:cNvPr id="289" name="Google Shape;289;p15"/>
          <p:cNvSpPr/>
          <p:nvPr/>
        </p:nvSpPr>
        <p:spPr>
          <a:xfrm>
            <a:off x="7086600" y="1810512"/>
            <a:ext cx="297180" cy="27432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7475220" y="1508760"/>
            <a:ext cx="1828800" cy="868680"/>
          </a:xfrm>
          <a:prstGeom prst="roundRect">
            <a:avLst>
              <a:gd name="adj" fmla="val 8421"/>
            </a:avLst>
          </a:prstGeom>
          <a:solidFill>
            <a:schemeClr val="accen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txBox="1"/>
          <p:nvPr/>
        </p:nvSpPr>
        <p:spPr>
          <a:xfrm>
            <a:off x="7475220" y="1508760"/>
            <a:ext cx="182880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Walking</a:t>
            </a:r>
            <a:endParaRPr sz="15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policy</a:t>
            </a:r>
            <a:endParaRPr sz="1500" b="0" i="0" u="none" strike="noStrike" cap="none">
              <a:solidFill>
                <a:schemeClr val="dk1"/>
              </a:solidFill>
              <a:latin typeface="Calibri"/>
              <a:ea typeface="Calibri"/>
              <a:cs typeface="Calibri"/>
              <a:sym typeface="Calibri"/>
            </a:endParaRPr>
          </a:p>
        </p:txBody>
      </p:sp>
      <p:sp>
        <p:nvSpPr>
          <p:cNvPr id="292" name="Google Shape;292;p15"/>
          <p:cNvSpPr/>
          <p:nvPr/>
        </p:nvSpPr>
        <p:spPr>
          <a:xfrm>
            <a:off x="9395460" y="1810512"/>
            <a:ext cx="297180" cy="27432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9784080" y="1508760"/>
            <a:ext cx="1828800" cy="868680"/>
          </a:xfrm>
          <a:prstGeom prst="roundRect">
            <a:avLst>
              <a:gd name="adj" fmla="val 8421"/>
            </a:avLst>
          </a:prstGeom>
          <a:solidFill>
            <a:schemeClr val="accent3"/>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txBox="1"/>
          <p:nvPr/>
        </p:nvSpPr>
        <p:spPr>
          <a:xfrm>
            <a:off x="9784080" y="1508760"/>
            <a:ext cx="182880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Go2</a:t>
            </a:r>
            <a:endParaRPr sz="15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moves</a:t>
            </a:r>
            <a:endParaRPr sz="1500" b="0" i="0" u="none" strike="noStrike" cap="none">
              <a:solidFill>
                <a:schemeClr val="dk1"/>
              </a:solidFill>
              <a:latin typeface="Calibri"/>
              <a:ea typeface="Calibri"/>
              <a:cs typeface="Calibri"/>
              <a:sym typeface="Calibri"/>
            </a:endParaRPr>
          </a:p>
        </p:txBody>
      </p:sp>
      <p:sp>
        <p:nvSpPr>
          <p:cNvPr id="295" name="Google Shape;295;p15"/>
          <p:cNvSpPr/>
          <p:nvPr/>
        </p:nvSpPr>
        <p:spPr>
          <a:xfrm>
            <a:off x="548640" y="2788920"/>
            <a:ext cx="3566160" cy="260604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822960" y="301752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txBox="1"/>
          <p:nvPr/>
        </p:nvSpPr>
        <p:spPr>
          <a:xfrm>
            <a:off x="822960" y="30175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298" name="Google Shape;298;p15"/>
          <p:cNvSpPr txBox="1"/>
          <p:nvPr/>
        </p:nvSpPr>
        <p:spPr>
          <a:xfrm>
            <a:off x="1417320" y="3017520"/>
            <a:ext cx="25603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Finer steps near the goal</a:t>
            </a:r>
            <a:endParaRPr sz="1700" b="0" i="0" u="none" strike="noStrike" cap="none">
              <a:solidFill>
                <a:schemeClr val="dk1"/>
              </a:solidFill>
              <a:latin typeface="Calibri"/>
              <a:ea typeface="Calibri"/>
              <a:cs typeface="Calibri"/>
              <a:sym typeface="Calibri"/>
            </a:endParaRPr>
          </a:p>
        </p:txBody>
      </p:sp>
      <p:sp>
        <p:nvSpPr>
          <p:cNvPr id="299" name="Google Shape;299;p15"/>
          <p:cNvSpPr txBox="1"/>
          <p:nvPr/>
        </p:nvSpPr>
        <p:spPr>
          <a:xfrm>
            <a:off x="822960" y="3611880"/>
            <a:ext cx="30175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When NaVILA is close to stopping or unsure, replace 75 cm moves with 25 cm moves, so one extra step can't carry the robot past the goal.</a:t>
            </a:r>
            <a:endParaRPr sz="1400" b="0" i="0" u="none" strike="noStrike" cap="none">
              <a:solidFill>
                <a:schemeClr val="dk1"/>
              </a:solidFill>
              <a:latin typeface="Calibri"/>
              <a:ea typeface="Calibri"/>
              <a:cs typeface="Calibri"/>
              <a:sym typeface="Calibri"/>
            </a:endParaRPr>
          </a:p>
        </p:txBody>
      </p:sp>
      <p:sp>
        <p:nvSpPr>
          <p:cNvPr id="300" name="Google Shape;300;p15"/>
          <p:cNvSpPr txBox="1"/>
          <p:nvPr/>
        </p:nvSpPr>
        <p:spPr>
          <a:xfrm>
            <a:off x="822960" y="493776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300"/>
              <a:buFont typeface="Calibri"/>
              <a:buNone/>
            </a:pPr>
            <a:r>
              <a:rPr lang="en-US" sz="1300" b="1" i="0" u="none" strike="noStrike" cap="none">
                <a:solidFill>
                  <a:schemeClr val="accent1"/>
                </a:solidFill>
                <a:latin typeface="Calibri"/>
                <a:ea typeface="Calibri"/>
                <a:cs typeface="Calibri"/>
                <a:sym typeface="Calibri"/>
              </a:rPr>
              <a:t>Targets: overshoot</a:t>
            </a:r>
            <a:endParaRPr sz="1300" b="0" i="0" u="none" strike="noStrike" cap="none">
              <a:solidFill>
                <a:schemeClr val="dk1"/>
              </a:solidFill>
              <a:latin typeface="Calibri"/>
              <a:ea typeface="Calibri"/>
              <a:cs typeface="Calibri"/>
              <a:sym typeface="Calibri"/>
            </a:endParaRPr>
          </a:p>
        </p:txBody>
      </p:sp>
      <p:sp>
        <p:nvSpPr>
          <p:cNvPr id="301" name="Google Shape;301;p15"/>
          <p:cNvSpPr/>
          <p:nvPr/>
        </p:nvSpPr>
        <p:spPr>
          <a:xfrm>
            <a:off x="4297680" y="2788920"/>
            <a:ext cx="3566160" cy="260604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4572000" y="301752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txBox="1"/>
          <p:nvPr/>
        </p:nvSpPr>
        <p:spPr>
          <a:xfrm>
            <a:off x="4572000" y="30175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304" name="Google Shape;304;p15"/>
          <p:cNvSpPr txBox="1"/>
          <p:nvPr/>
        </p:nvSpPr>
        <p:spPr>
          <a:xfrm>
            <a:off x="5166360" y="3017520"/>
            <a:ext cx="25603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Stop check</a:t>
            </a:r>
            <a:endParaRPr sz="1700" b="0" i="0" u="none" strike="noStrike" cap="none">
              <a:solidFill>
                <a:schemeClr val="dk1"/>
              </a:solidFill>
              <a:latin typeface="Calibri"/>
              <a:ea typeface="Calibri"/>
              <a:cs typeface="Calibri"/>
              <a:sym typeface="Calibri"/>
            </a:endParaRPr>
          </a:p>
        </p:txBody>
      </p:sp>
      <p:sp>
        <p:nvSpPr>
          <p:cNvPr id="305" name="Google Shape;305;p15"/>
          <p:cNvSpPr txBox="1"/>
          <p:nvPr/>
        </p:nvSpPr>
        <p:spPr>
          <a:xfrm>
            <a:off x="4572000" y="3611880"/>
            <a:ext cx="30175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Every few steps, ask NaVILA directly: "Have you reached the goal in the instruction? Yes or no." Stop on yes.</a:t>
            </a:r>
            <a:endParaRPr sz="1400" b="0" i="0" u="none" strike="noStrike" cap="none">
              <a:solidFill>
                <a:schemeClr val="dk1"/>
              </a:solidFill>
              <a:latin typeface="Calibri"/>
              <a:ea typeface="Calibri"/>
              <a:cs typeface="Calibri"/>
              <a:sym typeface="Calibri"/>
            </a:endParaRPr>
          </a:p>
        </p:txBody>
      </p:sp>
      <p:sp>
        <p:nvSpPr>
          <p:cNvPr id="306" name="Google Shape;306;p15"/>
          <p:cNvSpPr txBox="1"/>
          <p:nvPr/>
        </p:nvSpPr>
        <p:spPr>
          <a:xfrm>
            <a:off x="4572000" y="493776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300"/>
              <a:buFont typeface="Calibri"/>
              <a:buNone/>
            </a:pPr>
            <a:r>
              <a:rPr lang="en-US" sz="1300" b="1" i="0" u="none" strike="noStrike" cap="none">
                <a:solidFill>
                  <a:schemeClr val="accent1"/>
                </a:solidFill>
                <a:latin typeface="Calibri"/>
                <a:ea typeface="Calibri"/>
                <a:cs typeface="Calibri"/>
                <a:sym typeface="Calibri"/>
              </a:rPr>
              <a:t>Targets: never stopped</a:t>
            </a:r>
            <a:endParaRPr sz="1300" b="0" i="0" u="none" strike="noStrike" cap="none">
              <a:solidFill>
                <a:schemeClr val="dk1"/>
              </a:solidFill>
              <a:latin typeface="Calibri"/>
              <a:ea typeface="Calibri"/>
              <a:cs typeface="Calibri"/>
              <a:sym typeface="Calibri"/>
            </a:endParaRPr>
          </a:p>
        </p:txBody>
      </p:sp>
      <p:sp>
        <p:nvSpPr>
          <p:cNvPr id="307" name="Google Shape;307;p15"/>
          <p:cNvSpPr/>
          <p:nvPr/>
        </p:nvSpPr>
        <p:spPr>
          <a:xfrm>
            <a:off x="8046720" y="2788920"/>
            <a:ext cx="3566160" cy="2606040"/>
          </a:xfrm>
          <a:prstGeom prst="roundRect">
            <a:avLst>
              <a:gd name="adj" fmla="val 280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a:off x="8321040" y="301752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5"/>
          <p:cNvSpPr txBox="1"/>
          <p:nvPr/>
        </p:nvSpPr>
        <p:spPr>
          <a:xfrm>
            <a:off x="8321040" y="30175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310" name="Google Shape;310;p15"/>
          <p:cNvSpPr txBox="1"/>
          <p:nvPr/>
        </p:nvSpPr>
        <p:spPr>
          <a:xfrm>
            <a:off x="8915400" y="3017520"/>
            <a:ext cx="25603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8-bit vs full precision</a:t>
            </a:r>
            <a:endParaRPr sz="1700" b="0" i="0" u="none" strike="noStrike" cap="none">
              <a:solidFill>
                <a:schemeClr val="dk1"/>
              </a:solidFill>
              <a:latin typeface="Calibri"/>
              <a:ea typeface="Calibri"/>
              <a:cs typeface="Calibri"/>
              <a:sym typeface="Calibri"/>
            </a:endParaRPr>
          </a:p>
        </p:txBody>
      </p:sp>
      <p:sp>
        <p:nvSpPr>
          <p:cNvPr id="311" name="Google Shape;311;p15"/>
          <p:cNvSpPr txBox="1"/>
          <p:nvPr/>
        </p:nvSpPr>
        <p:spPr>
          <a:xfrm>
            <a:off x="8321040" y="3611880"/>
            <a:ext cx="30175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Measure how much accuracy and speed 8-bit costs. This is what lets NaVILA fit on a 20 GB GPU.</a:t>
            </a:r>
            <a:endParaRPr sz="1400" b="0" i="0" u="none" strike="noStrike" cap="none">
              <a:solidFill>
                <a:schemeClr val="dk1"/>
              </a:solidFill>
              <a:latin typeface="Calibri"/>
              <a:ea typeface="Calibri"/>
              <a:cs typeface="Calibri"/>
              <a:sym typeface="Calibri"/>
            </a:endParaRPr>
          </a:p>
        </p:txBody>
      </p:sp>
      <p:sp>
        <p:nvSpPr>
          <p:cNvPr id="312" name="Google Shape;312;p15"/>
          <p:cNvSpPr txBox="1"/>
          <p:nvPr/>
        </p:nvSpPr>
        <p:spPr>
          <a:xfrm>
            <a:off x="8321040" y="493776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300"/>
              <a:buFont typeface="Calibri"/>
              <a:buNone/>
            </a:pPr>
            <a:r>
              <a:rPr lang="en-US" sz="1300" b="1" i="0" u="none" strike="noStrike" cap="none">
                <a:solidFill>
                  <a:schemeClr val="accent2"/>
                </a:solidFill>
                <a:latin typeface="Calibri"/>
                <a:ea typeface="Calibri"/>
                <a:cs typeface="Calibri"/>
                <a:sym typeface="Calibri"/>
              </a:rPr>
              <a:t>Secondary result</a:t>
            </a:r>
            <a:endParaRPr sz="1300" b="0" i="0" u="none" strike="noStrike" cap="none">
              <a:solidFill>
                <a:schemeClr val="dk1"/>
              </a:solidFill>
              <a:latin typeface="Calibri"/>
              <a:ea typeface="Calibri"/>
              <a:cs typeface="Calibri"/>
              <a:sym typeface="Calibri"/>
            </a:endParaRPr>
          </a:p>
        </p:txBody>
      </p:sp>
      <p:sp>
        <p:nvSpPr>
          <p:cNvPr id="313" name="Google Shape;313;p15"/>
          <p:cNvSpPr txBox="1"/>
          <p:nvPr/>
        </p:nvSpPr>
        <p:spPr>
          <a:xfrm>
            <a:off x="548640" y="562356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retraining: </a:t>
            </a:r>
            <a:r>
              <a:rPr lang="en-US" sz="1500" b="0" i="0" u="none" strike="noStrike" cap="none">
                <a:solidFill>
                  <a:schemeClr val="dk2"/>
                </a:solidFill>
                <a:latin typeface="Calibri"/>
                <a:ea typeface="Calibri"/>
                <a:cs typeface="Calibri"/>
                <a:sym typeface="Calibri"/>
              </a:rPr>
              <a:t>these changes only touch the command mapping and evaluation loop we already control, so one RTX A4500 is enough.</a:t>
            </a:r>
            <a:endParaRPr sz="1500" b="0" i="0" u="none" strike="noStrike" cap="none">
              <a:solidFill>
                <a:schemeClr val="dk1"/>
              </a:solidFill>
              <a:latin typeface="Calibri"/>
              <a:ea typeface="Calibri"/>
              <a:cs typeface="Calibri"/>
              <a:sym typeface="Calibri"/>
            </a:endParaRPr>
          </a:p>
        </p:txBody>
      </p:sp>
      <p:sp>
        <p:nvSpPr>
          <p:cNvPr id="314" name="Google Shape;314;p15"/>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11</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6"/>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OUR CONTRIBUTION </a:t>
            </a:r>
            <a:endParaRPr sz="1200"/>
          </a:p>
        </p:txBody>
      </p:sp>
      <p:sp>
        <p:nvSpPr>
          <p:cNvPr id="321" name="Google Shape;321;p16"/>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How we will measure the improvement</a:t>
            </a:r>
            <a:endParaRPr sz="3400"/>
          </a:p>
        </p:txBody>
      </p:sp>
      <p:sp>
        <p:nvSpPr>
          <p:cNvPr id="322" name="Google Shape;322;p16"/>
          <p:cNvSpPr/>
          <p:nvPr/>
        </p:nvSpPr>
        <p:spPr>
          <a:xfrm>
            <a:off x="548640" y="155448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p:cNvSpPr txBox="1"/>
          <p:nvPr/>
        </p:nvSpPr>
        <p:spPr>
          <a:xfrm>
            <a:off x="548640" y="155448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324" name="Google Shape;324;p16"/>
          <p:cNvSpPr txBox="1"/>
          <p:nvPr/>
        </p:nvSpPr>
        <p:spPr>
          <a:xfrm>
            <a:off x="1234440" y="1536192"/>
            <a:ext cx="1828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Baseline</a:t>
            </a:r>
            <a:endParaRPr sz="1700" b="0" i="0" u="none" strike="noStrike" cap="none">
              <a:solidFill>
                <a:schemeClr val="dk1"/>
              </a:solidFill>
              <a:latin typeface="Calibri"/>
              <a:ea typeface="Calibri"/>
              <a:cs typeface="Calibri"/>
              <a:sym typeface="Calibri"/>
            </a:endParaRPr>
          </a:p>
        </p:txBody>
      </p:sp>
      <p:sp>
        <p:nvSpPr>
          <p:cNvPr id="325" name="Google Shape;325;p16"/>
          <p:cNvSpPr txBox="1"/>
          <p:nvPr/>
        </p:nvSpPr>
        <p:spPr>
          <a:xfrm>
            <a:off x="3063240" y="153619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Plain NaVILA (8-bit) on 210 episodes</a:t>
            </a:r>
            <a:endParaRPr sz="1400" b="0" i="0" u="none" strike="noStrike" cap="none">
              <a:solidFill>
                <a:schemeClr val="dk1"/>
              </a:solidFill>
              <a:latin typeface="Calibri"/>
              <a:ea typeface="Calibri"/>
              <a:cs typeface="Calibri"/>
              <a:sym typeface="Calibri"/>
            </a:endParaRPr>
          </a:p>
        </p:txBody>
      </p:sp>
      <p:sp>
        <p:nvSpPr>
          <p:cNvPr id="326" name="Google Shape;326;p16"/>
          <p:cNvSpPr/>
          <p:nvPr/>
        </p:nvSpPr>
        <p:spPr>
          <a:xfrm>
            <a:off x="6400800" y="1645920"/>
            <a:ext cx="1325880" cy="32918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txBox="1"/>
          <p:nvPr/>
        </p:nvSpPr>
        <p:spPr>
          <a:xfrm>
            <a:off x="6400800" y="1645920"/>
            <a:ext cx="13258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100"/>
              <a:buFont typeface="Calibri"/>
              <a:buNone/>
            </a:pPr>
            <a:r>
              <a:rPr lang="en-US" sz="1100" b="1" i="0" u="none" strike="noStrike" cap="none">
                <a:solidFill>
                  <a:schemeClr val="lt1"/>
                </a:solidFill>
                <a:latin typeface="Calibri"/>
                <a:ea typeface="Calibri"/>
                <a:cs typeface="Calibri"/>
                <a:sym typeface="Calibri"/>
              </a:rPr>
              <a:t>Running</a:t>
            </a:r>
            <a:endParaRPr sz="1100" b="0" i="0" u="none" strike="noStrike" cap="none">
              <a:solidFill>
                <a:schemeClr val="dk1"/>
              </a:solidFill>
              <a:latin typeface="Calibri"/>
              <a:ea typeface="Calibri"/>
              <a:cs typeface="Calibri"/>
              <a:sym typeface="Calibri"/>
            </a:endParaRPr>
          </a:p>
        </p:txBody>
      </p:sp>
      <p:sp>
        <p:nvSpPr>
          <p:cNvPr id="328" name="Google Shape;328;p16"/>
          <p:cNvSpPr/>
          <p:nvPr/>
        </p:nvSpPr>
        <p:spPr>
          <a:xfrm>
            <a:off x="548640" y="242316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txBox="1"/>
          <p:nvPr/>
        </p:nvSpPr>
        <p:spPr>
          <a:xfrm>
            <a:off x="548640" y="24231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330" name="Google Shape;330;p16"/>
          <p:cNvSpPr txBox="1"/>
          <p:nvPr/>
        </p:nvSpPr>
        <p:spPr>
          <a:xfrm>
            <a:off x="1234440" y="2404872"/>
            <a:ext cx="1828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Fix</a:t>
            </a:r>
            <a:endParaRPr sz="1700" b="0" i="0" u="none" strike="noStrike" cap="none">
              <a:solidFill>
                <a:schemeClr val="dk1"/>
              </a:solidFill>
              <a:latin typeface="Calibri"/>
              <a:ea typeface="Calibri"/>
              <a:cs typeface="Calibri"/>
              <a:sym typeface="Calibri"/>
            </a:endParaRPr>
          </a:p>
        </p:txBody>
      </p:sp>
      <p:sp>
        <p:nvSpPr>
          <p:cNvPr id="331" name="Google Shape;331;p16"/>
          <p:cNvSpPr txBox="1"/>
          <p:nvPr/>
        </p:nvSpPr>
        <p:spPr>
          <a:xfrm>
            <a:off x="3063240" y="240487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NaVILA + stopping fix on the same 210 episodes</a:t>
            </a:r>
            <a:endParaRPr sz="1400" b="0" i="0" u="none" strike="noStrike" cap="none">
              <a:solidFill>
                <a:schemeClr val="dk1"/>
              </a:solidFill>
              <a:latin typeface="Calibri"/>
              <a:ea typeface="Calibri"/>
              <a:cs typeface="Calibri"/>
              <a:sym typeface="Calibri"/>
            </a:endParaRPr>
          </a:p>
        </p:txBody>
      </p:sp>
      <p:sp>
        <p:nvSpPr>
          <p:cNvPr id="332" name="Google Shape;332;p16"/>
          <p:cNvSpPr/>
          <p:nvPr/>
        </p:nvSpPr>
        <p:spPr>
          <a:xfrm>
            <a:off x="6400800" y="2514600"/>
            <a:ext cx="1325880" cy="32918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6"/>
          <p:cNvSpPr txBox="1"/>
          <p:nvPr/>
        </p:nvSpPr>
        <p:spPr>
          <a:xfrm>
            <a:off x="6400800" y="2514600"/>
            <a:ext cx="13258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100"/>
              <a:buFont typeface="Calibri"/>
              <a:buNone/>
            </a:pPr>
            <a:r>
              <a:rPr lang="en-US" sz="1100" b="1" i="0" u="none" strike="noStrike" cap="none">
                <a:solidFill>
                  <a:schemeClr val="accent2"/>
                </a:solidFill>
                <a:latin typeface="Calibri"/>
                <a:ea typeface="Calibri"/>
                <a:cs typeface="Calibri"/>
                <a:sym typeface="Calibri"/>
              </a:rPr>
              <a:t>Next</a:t>
            </a:r>
            <a:endParaRPr sz="1100" b="0" i="0" u="none" strike="noStrike" cap="none">
              <a:solidFill>
                <a:schemeClr val="dk1"/>
              </a:solidFill>
              <a:latin typeface="Calibri"/>
              <a:ea typeface="Calibri"/>
              <a:cs typeface="Calibri"/>
              <a:sym typeface="Calibri"/>
            </a:endParaRPr>
          </a:p>
        </p:txBody>
      </p:sp>
      <p:sp>
        <p:nvSpPr>
          <p:cNvPr id="334" name="Google Shape;334;p16"/>
          <p:cNvSpPr/>
          <p:nvPr/>
        </p:nvSpPr>
        <p:spPr>
          <a:xfrm>
            <a:off x="548640" y="3291840"/>
            <a:ext cx="502920" cy="5029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p:cNvSpPr txBox="1"/>
          <p:nvPr/>
        </p:nvSpPr>
        <p:spPr>
          <a:xfrm>
            <a:off x="548640" y="329184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336" name="Google Shape;336;p16"/>
          <p:cNvSpPr txBox="1"/>
          <p:nvPr/>
        </p:nvSpPr>
        <p:spPr>
          <a:xfrm>
            <a:off x="1234440" y="3273552"/>
            <a:ext cx="1828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Variance</a:t>
            </a:r>
            <a:endParaRPr sz="1700" b="0" i="0" u="none" strike="noStrike" cap="none">
              <a:solidFill>
                <a:schemeClr val="dk1"/>
              </a:solidFill>
              <a:latin typeface="Calibri"/>
              <a:ea typeface="Calibri"/>
              <a:cs typeface="Calibri"/>
              <a:sym typeface="Calibri"/>
            </a:endParaRPr>
          </a:p>
        </p:txBody>
      </p:sp>
      <p:sp>
        <p:nvSpPr>
          <p:cNvPr id="337" name="Google Shape;337;p16"/>
          <p:cNvSpPr txBox="1"/>
          <p:nvPr/>
        </p:nvSpPr>
        <p:spPr>
          <a:xfrm>
            <a:off x="3063240" y="327355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Re-run ~30 episodes twice to measure run-to-run noise</a:t>
            </a:r>
            <a:endParaRPr sz="1400" b="0" i="0" u="none" strike="noStrike" cap="none">
              <a:solidFill>
                <a:schemeClr val="dk1"/>
              </a:solidFill>
              <a:latin typeface="Calibri"/>
              <a:ea typeface="Calibri"/>
              <a:cs typeface="Calibri"/>
              <a:sym typeface="Calibri"/>
            </a:endParaRPr>
          </a:p>
        </p:txBody>
      </p:sp>
      <p:sp>
        <p:nvSpPr>
          <p:cNvPr id="338" name="Google Shape;338;p16"/>
          <p:cNvSpPr/>
          <p:nvPr/>
        </p:nvSpPr>
        <p:spPr>
          <a:xfrm>
            <a:off x="6400800" y="3383280"/>
            <a:ext cx="1325880" cy="32918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6"/>
          <p:cNvSpPr txBox="1"/>
          <p:nvPr/>
        </p:nvSpPr>
        <p:spPr>
          <a:xfrm>
            <a:off x="6400800" y="3383280"/>
            <a:ext cx="13258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100"/>
              <a:buFont typeface="Calibri"/>
              <a:buNone/>
            </a:pPr>
            <a:r>
              <a:rPr lang="en-US" sz="1100" b="1" i="0" u="none" strike="noStrike" cap="none">
                <a:solidFill>
                  <a:schemeClr val="accent2"/>
                </a:solidFill>
                <a:latin typeface="Calibri"/>
                <a:ea typeface="Calibri"/>
                <a:cs typeface="Calibri"/>
                <a:sym typeface="Calibri"/>
              </a:rPr>
              <a:t>~2.5 h</a:t>
            </a:r>
            <a:endParaRPr sz="1100" b="0" i="0" u="none" strike="noStrike" cap="none">
              <a:solidFill>
                <a:schemeClr val="dk1"/>
              </a:solidFill>
              <a:latin typeface="Calibri"/>
              <a:ea typeface="Calibri"/>
              <a:cs typeface="Calibri"/>
              <a:sym typeface="Calibri"/>
            </a:endParaRPr>
          </a:p>
        </p:txBody>
      </p:sp>
      <p:sp>
        <p:nvSpPr>
          <p:cNvPr id="340" name="Google Shape;340;p16"/>
          <p:cNvSpPr/>
          <p:nvPr/>
        </p:nvSpPr>
        <p:spPr>
          <a:xfrm>
            <a:off x="548640" y="4160520"/>
            <a:ext cx="502920" cy="5029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p:cNvSpPr txBox="1"/>
          <p:nvPr/>
        </p:nvSpPr>
        <p:spPr>
          <a:xfrm>
            <a:off x="548640" y="416052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4</a:t>
            </a:r>
            <a:endParaRPr sz="1600" b="0" i="0" u="none" strike="noStrike" cap="none">
              <a:solidFill>
                <a:schemeClr val="dk1"/>
              </a:solidFill>
              <a:latin typeface="Calibri"/>
              <a:ea typeface="Calibri"/>
              <a:cs typeface="Calibri"/>
              <a:sym typeface="Calibri"/>
            </a:endParaRPr>
          </a:p>
        </p:txBody>
      </p:sp>
      <p:sp>
        <p:nvSpPr>
          <p:cNvPr id="342" name="Google Shape;342;p16"/>
          <p:cNvSpPr txBox="1"/>
          <p:nvPr/>
        </p:nvSpPr>
        <p:spPr>
          <a:xfrm>
            <a:off x="1234440" y="4142232"/>
            <a:ext cx="1828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Full benchmark</a:t>
            </a:r>
            <a:endParaRPr sz="1700" b="0" i="0" u="none" strike="noStrike" cap="none">
              <a:solidFill>
                <a:schemeClr val="dk1"/>
              </a:solidFill>
              <a:latin typeface="Calibri"/>
              <a:ea typeface="Calibri"/>
              <a:cs typeface="Calibri"/>
              <a:sym typeface="Calibri"/>
            </a:endParaRPr>
          </a:p>
        </p:txBody>
      </p:sp>
      <p:sp>
        <p:nvSpPr>
          <p:cNvPr id="343" name="Google Shape;343;p16"/>
          <p:cNvSpPr txBox="1"/>
          <p:nvPr/>
        </p:nvSpPr>
        <p:spPr>
          <a:xfrm>
            <a:off x="3063240" y="414223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All 1,077 episodes, if time and lab GPU allow</a:t>
            </a:r>
            <a:endParaRPr sz="1400" b="0" i="0" u="none" strike="noStrike" cap="none">
              <a:solidFill>
                <a:schemeClr val="dk1"/>
              </a:solidFill>
              <a:latin typeface="Calibri"/>
              <a:ea typeface="Calibri"/>
              <a:cs typeface="Calibri"/>
              <a:sym typeface="Calibri"/>
            </a:endParaRPr>
          </a:p>
        </p:txBody>
      </p:sp>
      <p:sp>
        <p:nvSpPr>
          <p:cNvPr id="344" name="Google Shape;344;p16"/>
          <p:cNvSpPr/>
          <p:nvPr/>
        </p:nvSpPr>
        <p:spPr>
          <a:xfrm>
            <a:off x="6400800" y="4251960"/>
            <a:ext cx="1325880" cy="32918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txBox="1"/>
          <p:nvPr/>
        </p:nvSpPr>
        <p:spPr>
          <a:xfrm>
            <a:off x="6400800" y="4251960"/>
            <a:ext cx="13258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100"/>
              <a:buFont typeface="Calibri"/>
              <a:buNone/>
            </a:pPr>
            <a:r>
              <a:rPr lang="en-US" sz="1100" b="1" i="0" u="none" strike="noStrike" cap="none">
                <a:solidFill>
                  <a:schemeClr val="accent2"/>
                </a:solidFill>
                <a:latin typeface="Calibri"/>
                <a:ea typeface="Calibri"/>
                <a:cs typeface="Calibri"/>
                <a:sym typeface="Calibri"/>
              </a:rPr>
              <a:t>Optional, ~45 h</a:t>
            </a:r>
            <a:endParaRPr sz="1100" b="0" i="0" u="none" strike="noStrike" cap="none">
              <a:solidFill>
                <a:schemeClr val="dk1"/>
              </a:solidFill>
              <a:latin typeface="Calibri"/>
              <a:ea typeface="Calibri"/>
              <a:cs typeface="Calibri"/>
              <a:sym typeface="Calibri"/>
            </a:endParaRPr>
          </a:p>
        </p:txBody>
      </p:sp>
      <p:sp>
        <p:nvSpPr>
          <p:cNvPr id="346" name="Google Shape;346;p16"/>
          <p:cNvSpPr/>
          <p:nvPr/>
        </p:nvSpPr>
        <p:spPr>
          <a:xfrm>
            <a:off x="548640" y="5029200"/>
            <a:ext cx="502920" cy="50292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p:cNvSpPr txBox="1"/>
          <p:nvPr/>
        </p:nvSpPr>
        <p:spPr>
          <a:xfrm>
            <a:off x="548640"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348" name="Google Shape;348;p16"/>
          <p:cNvSpPr txBox="1"/>
          <p:nvPr/>
        </p:nvSpPr>
        <p:spPr>
          <a:xfrm>
            <a:off x="1234440" y="5010912"/>
            <a:ext cx="1828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Real Go2</a:t>
            </a:r>
            <a:endParaRPr sz="1700" b="0" i="0" u="none" strike="noStrike" cap="none">
              <a:solidFill>
                <a:schemeClr val="dk1"/>
              </a:solidFill>
              <a:latin typeface="Calibri"/>
              <a:ea typeface="Calibri"/>
              <a:cs typeface="Calibri"/>
              <a:sym typeface="Calibri"/>
            </a:endParaRPr>
          </a:p>
        </p:txBody>
      </p:sp>
      <p:sp>
        <p:nvSpPr>
          <p:cNvPr id="349" name="Google Shape;349;p16"/>
          <p:cNvSpPr txBox="1"/>
          <p:nvPr/>
        </p:nvSpPr>
        <p:spPr>
          <a:xfrm>
            <a:off x="3063240" y="501091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Small real-robot test, like the paper's 25 instructions</a:t>
            </a:r>
            <a:endParaRPr sz="1400" b="0" i="0" u="none" strike="noStrike" cap="none">
              <a:solidFill>
                <a:schemeClr val="dk1"/>
              </a:solidFill>
              <a:latin typeface="Calibri"/>
              <a:ea typeface="Calibri"/>
              <a:cs typeface="Calibri"/>
              <a:sym typeface="Calibri"/>
            </a:endParaRPr>
          </a:p>
        </p:txBody>
      </p:sp>
      <p:sp>
        <p:nvSpPr>
          <p:cNvPr id="350" name="Google Shape;350;p16"/>
          <p:cNvSpPr/>
          <p:nvPr/>
        </p:nvSpPr>
        <p:spPr>
          <a:xfrm>
            <a:off x="6400800" y="5120640"/>
            <a:ext cx="1325880" cy="32918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6"/>
          <p:cNvSpPr txBox="1"/>
          <p:nvPr/>
        </p:nvSpPr>
        <p:spPr>
          <a:xfrm>
            <a:off x="6400800" y="5120640"/>
            <a:ext cx="13258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1100"/>
              <a:buFont typeface="Calibri"/>
              <a:buNone/>
            </a:pPr>
            <a:r>
              <a:rPr lang="en-US" sz="1100" b="1" i="0" u="none" strike="noStrike" cap="none">
                <a:solidFill>
                  <a:schemeClr val="accent2"/>
                </a:solidFill>
                <a:latin typeface="Calibri"/>
                <a:ea typeface="Calibri"/>
                <a:cs typeface="Calibri"/>
                <a:sym typeface="Calibri"/>
              </a:rPr>
              <a:t>Task 4</a:t>
            </a:r>
            <a:endParaRPr sz="1100" b="0" i="0" u="none" strike="noStrike" cap="none">
              <a:solidFill>
                <a:schemeClr val="dk1"/>
              </a:solidFill>
              <a:latin typeface="Calibri"/>
              <a:ea typeface="Calibri"/>
              <a:cs typeface="Calibri"/>
              <a:sym typeface="Calibri"/>
            </a:endParaRPr>
          </a:p>
        </p:txBody>
      </p:sp>
      <p:sp>
        <p:nvSpPr>
          <p:cNvPr id="352" name="Google Shape;352;p16"/>
          <p:cNvSpPr/>
          <p:nvPr/>
        </p:nvSpPr>
        <p:spPr>
          <a:xfrm>
            <a:off x="8092440" y="1463040"/>
            <a:ext cx="3520440" cy="4343400"/>
          </a:xfrm>
          <a:prstGeom prst="roundRect">
            <a:avLst>
              <a:gd name="adj" fmla="val 2078"/>
            </a:avLst>
          </a:prstGeom>
          <a:solidFill>
            <a:schemeClr val="accen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6"/>
          <p:cNvSpPr txBox="1"/>
          <p:nvPr/>
        </p:nvSpPr>
        <p:spPr>
          <a:xfrm>
            <a:off x="8366760" y="1691640"/>
            <a:ext cx="29718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1" i="0" u="none" strike="noStrike" cap="none">
                <a:solidFill>
                  <a:schemeClr val="lt1"/>
                </a:solidFill>
                <a:latin typeface="Calibri"/>
                <a:ea typeface="Calibri"/>
                <a:cs typeface="Calibri"/>
                <a:sym typeface="Calibri"/>
              </a:rPr>
              <a:t>The claim we aim for</a:t>
            </a:r>
            <a:endParaRPr sz="1700" b="0" i="0" u="none" strike="noStrike" cap="none">
              <a:solidFill>
                <a:schemeClr val="dk1"/>
              </a:solidFill>
              <a:latin typeface="Calibri"/>
              <a:ea typeface="Calibri"/>
              <a:cs typeface="Calibri"/>
              <a:sym typeface="Calibri"/>
            </a:endParaRPr>
          </a:p>
        </p:txBody>
      </p:sp>
      <p:sp>
        <p:nvSpPr>
          <p:cNvPr id="354" name="Google Shape;354;p16"/>
          <p:cNvSpPr txBox="1"/>
          <p:nvPr/>
        </p:nvSpPr>
        <p:spPr>
          <a:xfrm>
            <a:off x="8366760" y="2103120"/>
            <a:ext cx="297180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A higher success rate than plain NaVILA on NaVILA's own Isaac Sim benchmark, with no retraining.</a:t>
            </a:r>
            <a:endParaRPr sz="1800" b="0" i="0" u="none" strike="noStrike" cap="none">
              <a:solidFill>
                <a:schemeClr val="dk1"/>
              </a:solidFill>
              <a:latin typeface="Calibri"/>
              <a:ea typeface="Calibri"/>
              <a:cs typeface="Calibri"/>
              <a:sym typeface="Calibri"/>
            </a:endParaRPr>
          </a:p>
        </p:txBody>
      </p:sp>
      <p:sp>
        <p:nvSpPr>
          <p:cNvPr id="355" name="Google Shape;355;p16"/>
          <p:cNvSpPr txBox="1"/>
          <p:nvPr/>
        </p:nvSpPr>
        <p:spPr>
          <a:xfrm>
            <a:off x="8366760" y="3749040"/>
            <a:ext cx="29718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500"/>
              <a:buFont typeface="Calibri"/>
              <a:buNone/>
            </a:pPr>
            <a:r>
              <a:rPr lang="en-US" sz="1500" b="1" i="0" u="none" strike="noStrike" cap="none">
                <a:solidFill>
                  <a:schemeClr val="accent5"/>
                </a:solidFill>
                <a:latin typeface="Calibri"/>
                <a:ea typeface="Calibri"/>
                <a:cs typeface="Calibri"/>
                <a:sym typeface="Calibri"/>
              </a:rPr>
              <a:t>Fair comparison</a:t>
            </a:r>
            <a:endParaRPr sz="1500" b="0" i="0" u="none" strike="noStrike" cap="none">
              <a:solidFill>
                <a:schemeClr val="dk1"/>
              </a:solidFill>
              <a:latin typeface="Calibri"/>
              <a:ea typeface="Calibri"/>
              <a:cs typeface="Calibri"/>
              <a:sym typeface="Calibri"/>
            </a:endParaRPr>
          </a:p>
        </p:txBody>
      </p:sp>
      <p:sp>
        <p:nvSpPr>
          <p:cNvPr id="356" name="Google Shape;356;p16"/>
          <p:cNvSpPr txBox="1"/>
          <p:nvPr/>
        </p:nvSpPr>
        <p:spPr>
          <a:xfrm>
            <a:off x="8366760" y="4114800"/>
            <a:ext cx="29718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Before and after on exactly the same episodes, so the only difference is our fix.</a:t>
            </a:r>
            <a:endParaRPr sz="1400" b="0" i="0" u="none" strike="noStrike" cap="none">
              <a:solidFill>
                <a:schemeClr val="dk1"/>
              </a:solidFill>
              <a:latin typeface="Calibri"/>
              <a:ea typeface="Calibri"/>
              <a:cs typeface="Calibri"/>
              <a:sym typeface="Calibri"/>
            </a:endParaRPr>
          </a:p>
        </p:txBody>
      </p:sp>
      <p:sp>
        <p:nvSpPr>
          <p:cNvPr id="357" name="Google Shape;357;p16"/>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12</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7"/>
          <p:cNvSpPr txBox="1">
            <a:spLocks noGrp="1"/>
          </p:cNvSpPr>
          <p:nvPr>
            <p:ph type="body" idx="1"/>
          </p:nvPr>
        </p:nvSpPr>
        <p:spPr>
          <a:xfrm>
            <a:off x="548640" y="274320"/>
            <a:ext cx="11064240" cy="2743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200"/>
              <a:buNone/>
            </a:pPr>
            <a:endParaRPr sz="1200"/>
          </a:p>
        </p:txBody>
      </p:sp>
      <p:sp>
        <p:nvSpPr>
          <p:cNvPr id="364" name="Google Shape;364;p17"/>
          <p:cNvSpPr txBox="1">
            <a:spLocks noGrp="1"/>
          </p:cNvSpPr>
          <p:nvPr>
            <p:ph type="title"/>
          </p:nvPr>
        </p:nvSpPr>
        <p:spPr>
          <a:xfrm>
            <a:off x="548640" y="548640"/>
            <a:ext cx="1106424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400"/>
              <a:buFont typeface="Calibri"/>
              <a:buNone/>
            </a:pPr>
            <a:r>
              <a:rPr lang="en-US" sz="3400" b="1">
                <a:solidFill>
                  <a:schemeClr val="dk1"/>
                </a:solidFill>
              </a:rPr>
              <a:t>How many simulation runs do we need for a fair comparison?</a:t>
            </a:r>
            <a:endParaRPr sz="3400"/>
          </a:p>
        </p:txBody>
      </p:sp>
      <p:sp>
        <p:nvSpPr>
          <p:cNvPr id="365" name="Google Shape;365;p17"/>
          <p:cNvSpPr/>
          <p:nvPr/>
        </p:nvSpPr>
        <p:spPr>
          <a:xfrm>
            <a:off x="548640" y="1463040"/>
            <a:ext cx="822960" cy="8229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6" name="Google Shape;366;p17" descr="Question"/>
          <p:cNvPicPr preferRelativeResize="0"/>
          <p:nvPr/>
        </p:nvPicPr>
        <p:blipFill rotWithShape="1">
          <a:blip r:embed="rId3">
            <a:alphaModFix/>
          </a:blip>
          <a:srcRect/>
          <a:stretch/>
        </p:blipFill>
        <p:spPr>
          <a:xfrm>
            <a:off x="754380" y="1668780"/>
            <a:ext cx="411480" cy="411480"/>
          </a:xfrm>
          <a:prstGeom prst="rect">
            <a:avLst/>
          </a:prstGeom>
          <a:noFill/>
          <a:ln>
            <a:noFill/>
          </a:ln>
        </p:spPr>
      </p:pic>
      <p:sp>
        <p:nvSpPr>
          <p:cNvPr id="367" name="Google Shape;367;p17"/>
          <p:cNvSpPr txBox="1"/>
          <p:nvPr/>
        </p:nvSpPr>
        <p:spPr>
          <a:xfrm>
            <a:off x="1600200" y="1463040"/>
            <a:ext cx="99669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More episodes give a tighter answer, but each one costs about 2.5 minutes. Which option is enough for baseline vs fix?</a:t>
            </a:r>
            <a:endParaRPr sz="1800" b="0" i="0" u="none" strike="noStrike" cap="none">
              <a:solidFill>
                <a:schemeClr val="dk1"/>
              </a:solidFill>
              <a:latin typeface="Calibri"/>
              <a:ea typeface="Calibri"/>
              <a:cs typeface="Calibri"/>
              <a:sym typeface="Calibri"/>
            </a:endParaRPr>
          </a:p>
        </p:txBody>
      </p:sp>
      <p:sp>
        <p:nvSpPr>
          <p:cNvPr id="368" name="Google Shape;368;p17"/>
          <p:cNvSpPr/>
          <p:nvPr/>
        </p:nvSpPr>
        <p:spPr>
          <a:xfrm>
            <a:off x="548640" y="2606040"/>
            <a:ext cx="3566160" cy="2743200"/>
          </a:xfrm>
          <a:prstGeom prst="roundRect">
            <a:avLst>
              <a:gd name="adj" fmla="val 2667"/>
            </a:avLst>
          </a:prstGeom>
          <a:solidFill>
            <a:schemeClr val="accent5"/>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7"/>
          <p:cNvSpPr/>
          <p:nvPr/>
        </p:nvSpPr>
        <p:spPr>
          <a:xfrm>
            <a:off x="822960" y="2834640"/>
            <a:ext cx="502920" cy="502920"/>
          </a:xfrm>
          <a:prstGeom prst="ellipse">
            <a:avLst/>
          </a:prstGeom>
          <a:solidFill>
            <a:srgbClr val="1A56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7"/>
          <p:cNvSpPr txBox="1"/>
          <p:nvPr/>
        </p:nvSpPr>
        <p:spPr>
          <a:xfrm>
            <a:off x="822960" y="283464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A</a:t>
            </a:r>
            <a:endParaRPr sz="1800" b="0" i="0" u="none" strike="noStrike" cap="none">
              <a:solidFill>
                <a:schemeClr val="dk1"/>
              </a:solidFill>
              <a:latin typeface="Calibri"/>
              <a:ea typeface="Calibri"/>
              <a:cs typeface="Calibri"/>
              <a:sym typeface="Calibri"/>
            </a:endParaRPr>
          </a:p>
        </p:txBody>
      </p:sp>
      <p:sp>
        <p:nvSpPr>
          <p:cNvPr id="371" name="Google Shape;371;p17"/>
          <p:cNvSpPr txBox="1"/>
          <p:nvPr/>
        </p:nvSpPr>
        <p:spPr>
          <a:xfrm>
            <a:off x="1463040" y="2788920"/>
            <a:ext cx="2514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210 episodes</a:t>
            </a:r>
            <a:endParaRPr sz="1800" b="0" i="0" u="none" strike="noStrike" cap="none">
              <a:solidFill>
                <a:schemeClr val="dk1"/>
              </a:solidFill>
              <a:latin typeface="Calibri"/>
              <a:ea typeface="Calibri"/>
              <a:cs typeface="Calibri"/>
              <a:sym typeface="Calibri"/>
            </a:endParaRPr>
          </a:p>
        </p:txBody>
      </p:sp>
      <p:sp>
        <p:nvSpPr>
          <p:cNvPr id="372" name="Google Shape;372;p17"/>
          <p:cNvSpPr txBox="1"/>
          <p:nvPr/>
        </p:nvSpPr>
        <p:spPr>
          <a:xfrm>
            <a:off x="1463040" y="3127248"/>
            <a:ext cx="2514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baseline + fix</a:t>
            </a:r>
            <a:endParaRPr sz="1300" b="0" i="0" u="none" strike="noStrike" cap="none">
              <a:solidFill>
                <a:schemeClr val="dk1"/>
              </a:solidFill>
              <a:latin typeface="Calibri"/>
              <a:ea typeface="Calibri"/>
              <a:cs typeface="Calibri"/>
              <a:sym typeface="Calibri"/>
            </a:endParaRPr>
          </a:p>
        </p:txBody>
      </p:sp>
      <p:sp>
        <p:nvSpPr>
          <p:cNvPr id="373" name="Google Shape;373;p17"/>
          <p:cNvSpPr txBox="1"/>
          <p:nvPr/>
        </p:nvSpPr>
        <p:spPr>
          <a:xfrm>
            <a:off x="822960" y="3611880"/>
            <a:ext cx="3017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3600"/>
              <a:buFont typeface="Calibri"/>
              <a:buNone/>
            </a:pPr>
            <a:r>
              <a:rPr lang="en-US" sz="3600" b="1" i="0" u="none" strike="noStrike" cap="none">
                <a:solidFill>
                  <a:schemeClr val="accent1"/>
                </a:solidFill>
                <a:latin typeface="Calibri"/>
                <a:ea typeface="Calibri"/>
                <a:cs typeface="Calibri"/>
                <a:sym typeface="Calibri"/>
              </a:rPr>
              <a:t>±6</a:t>
            </a:r>
            <a:r>
              <a:rPr lang="en-US" sz="1400" b="0" i="0" u="none" strike="noStrike" cap="none">
                <a:solidFill>
                  <a:schemeClr val="dk2"/>
                </a:solidFill>
                <a:latin typeface="Calibri"/>
                <a:ea typeface="Calibri"/>
                <a:cs typeface="Calibri"/>
                <a:sym typeface="Calibri"/>
              </a:rPr>
              <a:t>  points</a:t>
            </a:r>
            <a:endParaRPr sz="3600" b="0" i="0" u="none" strike="noStrike" cap="none">
              <a:solidFill>
                <a:schemeClr val="dk1"/>
              </a:solidFill>
              <a:latin typeface="Calibri"/>
              <a:ea typeface="Calibri"/>
              <a:cs typeface="Calibri"/>
              <a:sym typeface="Calibri"/>
            </a:endParaRPr>
          </a:p>
        </p:txBody>
      </p:sp>
      <p:sp>
        <p:nvSpPr>
          <p:cNvPr id="374" name="Google Shape;374;p17"/>
          <p:cNvSpPr txBox="1"/>
          <p:nvPr/>
        </p:nvSpPr>
        <p:spPr>
          <a:xfrm>
            <a:off x="822960" y="4206240"/>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margin of error on success rate</a:t>
            </a:r>
            <a:endParaRPr sz="1200" b="0" i="0" u="none" strike="noStrike" cap="none">
              <a:solidFill>
                <a:schemeClr val="dk1"/>
              </a:solidFill>
              <a:latin typeface="Calibri"/>
              <a:ea typeface="Calibri"/>
              <a:cs typeface="Calibri"/>
              <a:sym typeface="Calibri"/>
            </a:endParaRPr>
          </a:p>
        </p:txBody>
      </p:sp>
      <p:sp>
        <p:nvSpPr>
          <p:cNvPr id="375" name="Google Shape;375;p17"/>
          <p:cNvSpPr txBox="1"/>
          <p:nvPr/>
        </p:nvSpPr>
        <p:spPr>
          <a:xfrm>
            <a:off x="822960" y="457200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~18 h (2 runs × 9 h)</a:t>
            </a:r>
            <a:endParaRPr sz="1500" b="0" i="0" u="none" strike="noStrike" cap="none">
              <a:solidFill>
                <a:schemeClr val="dk1"/>
              </a:solidFill>
              <a:latin typeface="Calibri"/>
              <a:ea typeface="Calibri"/>
              <a:cs typeface="Calibri"/>
              <a:sym typeface="Calibri"/>
            </a:endParaRPr>
          </a:p>
        </p:txBody>
      </p:sp>
      <p:sp>
        <p:nvSpPr>
          <p:cNvPr id="376" name="Google Shape;376;p17"/>
          <p:cNvSpPr txBox="1"/>
          <p:nvPr/>
        </p:nvSpPr>
        <p:spPr>
          <a:xfrm>
            <a:off x="822960" y="489204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1" u="none" strike="noStrike" cap="none">
                <a:solidFill>
                  <a:schemeClr val="dk2"/>
                </a:solidFill>
                <a:latin typeface="Calibri"/>
                <a:ea typeface="Calibri"/>
                <a:cs typeface="Calibri"/>
                <a:sym typeface="Calibri"/>
              </a:rPr>
              <a:t>What we have planned</a:t>
            </a:r>
            <a:endParaRPr sz="1300" b="0" i="0" u="none" strike="noStrike" cap="none">
              <a:solidFill>
                <a:schemeClr val="dk1"/>
              </a:solidFill>
              <a:latin typeface="Calibri"/>
              <a:ea typeface="Calibri"/>
              <a:cs typeface="Calibri"/>
              <a:sym typeface="Calibri"/>
            </a:endParaRPr>
          </a:p>
        </p:txBody>
      </p:sp>
      <p:sp>
        <p:nvSpPr>
          <p:cNvPr id="377" name="Google Shape;377;p17"/>
          <p:cNvSpPr/>
          <p:nvPr/>
        </p:nvSpPr>
        <p:spPr>
          <a:xfrm>
            <a:off x="4297680" y="2606040"/>
            <a:ext cx="3566160" cy="2743200"/>
          </a:xfrm>
          <a:prstGeom prst="roundRect">
            <a:avLst>
              <a:gd name="adj" fmla="val 266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7"/>
          <p:cNvSpPr/>
          <p:nvPr/>
        </p:nvSpPr>
        <p:spPr>
          <a:xfrm>
            <a:off x="4572000" y="2834640"/>
            <a:ext cx="502920" cy="502920"/>
          </a:xfrm>
          <a:prstGeom prst="ellipse">
            <a:avLst/>
          </a:prstGeom>
          <a:solidFill>
            <a:srgbClr val="0B3A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7"/>
          <p:cNvSpPr txBox="1"/>
          <p:nvPr/>
        </p:nvSpPr>
        <p:spPr>
          <a:xfrm>
            <a:off x="4572000" y="283464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B</a:t>
            </a:r>
            <a:endParaRPr sz="1800" b="0" i="0" u="none" strike="noStrike" cap="none">
              <a:solidFill>
                <a:schemeClr val="dk1"/>
              </a:solidFill>
              <a:latin typeface="Calibri"/>
              <a:ea typeface="Calibri"/>
              <a:cs typeface="Calibri"/>
              <a:sym typeface="Calibri"/>
            </a:endParaRPr>
          </a:p>
        </p:txBody>
      </p:sp>
      <p:sp>
        <p:nvSpPr>
          <p:cNvPr id="380" name="Google Shape;380;p17"/>
          <p:cNvSpPr txBox="1"/>
          <p:nvPr/>
        </p:nvSpPr>
        <p:spPr>
          <a:xfrm>
            <a:off x="5212080" y="2788920"/>
            <a:ext cx="2514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210 + variance</a:t>
            </a:r>
            <a:endParaRPr sz="1800" b="0" i="0" u="none" strike="noStrike" cap="none">
              <a:solidFill>
                <a:schemeClr val="dk1"/>
              </a:solidFill>
              <a:latin typeface="Calibri"/>
              <a:ea typeface="Calibri"/>
              <a:cs typeface="Calibri"/>
              <a:sym typeface="Calibri"/>
            </a:endParaRPr>
          </a:p>
        </p:txBody>
      </p:sp>
      <p:sp>
        <p:nvSpPr>
          <p:cNvPr id="381" name="Google Shape;381;p17"/>
          <p:cNvSpPr txBox="1"/>
          <p:nvPr/>
        </p:nvSpPr>
        <p:spPr>
          <a:xfrm>
            <a:off x="5212080" y="3127248"/>
            <a:ext cx="2514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add ~30 episodes re-run twice</a:t>
            </a:r>
            <a:endParaRPr sz="1300" b="0" i="0" u="none" strike="noStrike" cap="none">
              <a:solidFill>
                <a:schemeClr val="dk1"/>
              </a:solidFill>
              <a:latin typeface="Calibri"/>
              <a:ea typeface="Calibri"/>
              <a:cs typeface="Calibri"/>
              <a:sym typeface="Calibri"/>
            </a:endParaRPr>
          </a:p>
        </p:txBody>
      </p:sp>
      <p:sp>
        <p:nvSpPr>
          <p:cNvPr id="382" name="Google Shape;382;p17"/>
          <p:cNvSpPr txBox="1"/>
          <p:nvPr/>
        </p:nvSpPr>
        <p:spPr>
          <a:xfrm>
            <a:off x="4572000" y="3611880"/>
            <a:ext cx="3017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3600"/>
              <a:buFont typeface="Calibri"/>
              <a:buNone/>
            </a:pPr>
            <a:r>
              <a:rPr lang="en-US" sz="3600" b="1" i="0" u="none" strike="noStrike" cap="none">
                <a:solidFill>
                  <a:schemeClr val="accent1"/>
                </a:solidFill>
                <a:latin typeface="Calibri"/>
                <a:ea typeface="Calibri"/>
                <a:cs typeface="Calibri"/>
                <a:sym typeface="Calibri"/>
              </a:rPr>
              <a:t>±6</a:t>
            </a:r>
            <a:r>
              <a:rPr lang="en-US" sz="1400" b="0" i="0" u="none" strike="noStrike" cap="none">
                <a:solidFill>
                  <a:schemeClr val="dk2"/>
                </a:solidFill>
                <a:latin typeface="Calibri"/>
                <a:ea typeface="Calibri"/>
                <a:cs typeface="Calibri"/>
                <a:sym typeface="Calibri"/>
              </a:rPr>
              <a:t>  points</a:t>
            </a:r>
            <a:endParaRPr sz="3600" b="0" i="0" u="none" strike="noStrike" cap="none">
              <a:solidFill>
                <a:schemeClr val="dk1"/>
              </a:solidFill>
              <a:latin typeface="Calibri"/>
              <a:ea typeface="Calibri"/>
              <a:cs typeface="Calibri"/>
              <a:sym typeface="Calibri"/>
            </a:endParaRPr>
          </a:p>
        </p:txBody>
      </p:sp>
      <p:sp>
        <p:nvSpPr>
          <p:cNvPr id="383" name="Google Shape;383;p17"/>
          <p:cNvSpPr txBox="1"/>
          <p:nvPr/>
        </p:nvSpPr>
        <p:spPr>
          <a:xfrm>
            <a:off x="4572000" y="4206240"/>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margin of error on success rate</a:t>
            </a:r>
            <a:endParaRPr sz="1200" b="0" i="0" u="none" strike="noStrike" cap="none">
              <a:solidFill>
                <a:schemeClr val="dk1"/>
              </a:solidFill>
              <a:latin typeface="Calibri"/>
              <a:ea typeface="Calibri"/>
              <a:cs typeface="Calibri"/>
              <a:sym typeface="Calibri"/>
            </a:endParaRPr>
          </a:p>
        </p:txBody>
      </p:sp>
      <p:sp>
        <p:nvSpPr>
          <p:cNvPr id="384" name="Google Shape;384;p17"/>
          <p:cNvSpPr txBox="1"/>
          <p:nvPr/>
        </p:nvSpPr>
        <p:spPr>
          <a:xfrm>
            <a:off x="4572000" y="457200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~20 h total</a:t>
            </a:r>
            <a:endParaRPr sz="1500" b="0" i="0" u="none" strike="noStrike" cap="none">
              <a:solidFill>
                <a:schemeClr val="dk1"/>
              </a:solidFill>
              <a:latin typeface="Calibri"/>
              <a:ea typeface="Calibri"/>
              <a:cs typeface="Calibri"/>
              <a:sym typeface="Calibri"/>
            </a:endParaRPr>
          </a:p>
        </p:txBody>
      </p:sp>
      <p:sp>
        <p:nvSpPr>
          <p:cNvPr id="385" name="Google Shape;385;p17"/>
          <p:cNvSpPr txBox="1"/>
          <p:nvPr/>
        </p:nvSpPr>
        <p:spPr>
          <a:xfrm>
            <a:off x="4572000" y="489204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1" u="none" strike="noStrike" cap="none">
                <a:solidFill>
                  <a:schemeClr val="dk2"/>
                </a:solidFill>
                <a:latin typeface="Calibri"/>
                <a:ea typeface="Calibri"/>
                <a:cs typeface="Calibri"/>
                <a:sym typeface="Calibri"/>
              </a:rPr>
              <a:t>Adds a run-to-run noise check</a:t>
            </a:r>
            <a:endParaRPr sz="1300" b="0" i="0" u="none" strike="noStrike" cap="none">
              <a:solidFill>
                <a:schemeClr val="dk1"/>
              </a:solidFill>
              <a:latin typeface="Calibri"/>
              <a:ea typeface="Calibri"/>
              <a:cs typeface="Calibri"/>
              <a:sym typeface="Calibri"/>
            </a:endParaRPr>
          </a:p>
        </p:txBody>
      </p:sp>
      <p:sp>
        <p:nvSpPr>
          <p:cNvPr id="386" name="Google Shape;386;p17"/>
          <p:cNvSpPr/>
          <p:nvPr/>
        </p:nvSpPr>
        <p:spPr>
          <a:xfrm>
            <a:off x="8046720" y="2606040"/>
            <a:ext cx="3566160" cy="2743200"/>
          </a:xfrm>
          <a:prstGeom prst="roundRect">
            <a:avLst>
              <a:gd name="adj" fmla="val 2667"/>
            </a:avLst>
          </a:prstGeom>
          <a:solidFill>
            <a:schemeClr val="lt2"/>
          </a:solidFill>
          <a:ln>
            <a:noFill/>
          </a:ln>
          <a:effectLst>
            <a:outerShdw blurRad="1016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7"/>
          <p:cNvSpPr/>
          <p:nvPr/>
        </p:nvSpPr>
        <p:spPr>
          <a:xfrm>
            <a:off x="8321040" y="2834640"/>
            <a:ext cx="502920" cy="50292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7"/>
          <p:cNvSpPr txBox="1"/>
          <p:nvPr/>
        </p:nvSpPr>
        <p:spPr>
          <a:xfrm>
            <a:off x="8321040" y="283464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C</a:t>
            </a:r>
            <a:endParaRPr sz="1800" b="0" i="0" u="none" strike="noStrike" cap="none">
              <a:solidFill>
                <a:schemeClr val="dk1"/>
              </a:solidFill>
              <a:latin typeface="Calibri"/>
              <a:ea typeface="Calibri"/>
              <a:cs typeface="Calibri"/>
              <a:sym typeface="Calibri"/>
            </a:endParaRPr>
          </a:p>
        </p:txBody>
      </p:sp>
      <p:sp>
        <p:nvSpPr>
          <p:cNvPr id="389" name="Google Shape;389;p17"/>
          <p:cNvSpPr txBox="1"/>
          <p:nvPr/>
        </p:nvSpPr>
        <p:spPr>
          <a:xfrm>
            <a:off x="8961120" y="2788920"/>
            <a:ext cx="2514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All 1,077 episodes</a:t>
            </a:r>
            <a:endParaRPr sz="1800" b="0" i="0" u="none" strike="noStrike" cap="none">
              <a:solidFill>
                <a:schemeClr val="dk1"/>
              </a:solidFill>
              <a:latin typeface="Calibri"/>
              <a:ea typeface="Calibri"/>
              <a:cs typeface="Calibri"/>
              <a:sym typeface="Calibri"/>
            </a:endParaRPr>
          </a:p>
        </p:txBody>
      </p:sp>
      <p:sp>
        <p:nvSpPr>
          <p:cNvPr id="390" name="Google Shape;390;p17"/>
          <p:cNvSpPr txBox="1"/>
          <p:nvPr/>
        </p:nvSpPr>
        <p:spPr>
          <a:xfrm>
            <a:off x="8961120" y="3127248"/>
            <a:ext cx="2514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baseline + fix</a:t>
            </a:r>
            <a:endParaRPr sz="1300" b="0" i="0" u="none" strike="noStrike" cap="none">
              <a:solidFill>
                <a:schemeClr val="dk1"/>
              </a:solidFill>
              <a:latin typeface="Calibri"/>
              <a:ea typeface="Calibri"/>
              <a:cs typeface="Calibri"/>
              <a:sym typeface="Calibri"/>
            </a:endParaRPr>
          </a:p>
        </p:txBody>
      </p:sp>
      <p:sp>
        <p:nvSpPr>
          <p:cNvPr id="391" name="Google Shape;391;p17"/>
          <p:cNvSpPr txBox="1"/>
          <p:nvPr/>
        </p:nvSpPr>
        <p:spPr>
          <a:xfrm>
            <a:off x="8321040" y="3611880"/>
            <a:ext cx="30175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3600"/>
              <a:buFont typeface="Calibri"/>
              <a:buNone/>
            </a:pPr>
            <a:r>
              <a:rPr lang="en-US" sz="3600" b="1" i="0" u="none" strike="noStrike" cap="none">
                <a:solidFill>
                  <a:schemeClr val="accent1"/>
                </a:solidFill>
                <a:latin typeface="Calibri"/>
                <a:ea typeface="Calibri"/>
                <a:cs typeface="Calibri"/>
                <a:sym typeface="Calibri"/>
              </a:rPr>
              <a:t>±3</a:t>
            </a:r>
            <a:r>
              <a:rPr lang="en-US" sz="1400" b="0" i="0" u="none" strike="noStrike" cap="none">
                <a:solidFill>
                  <a:schemeClr val="dk2"/>
                </a:solidFill>
                <a:latin typeface="Calibri"/>
                <a:ea typeface="Calibri"/>
                <a:cs typeface="Calibri"/>
                <a:sym typeface="Calibri"/>
              </a:rPr>
              <a:t>  points</a:t>
            </a:r>
            <a:endParaRPr sz="3600" b="0" i="0" u="none" strike="noStrike" cap="none">
              <a:solidFill>
                <a:schemeClr val="dk1"/>
              </a:solidFill>
              <a:latin typeface="Calibri"/>
              <a:ea typeface="Calibri"/>
              <a:cs typeface="Calibri"/>
              <a:sym typeface="Calibri"/>
            </a:endParaRPr>
          </a:p>
        </p:txBody>
      </p:sp>
      <p:sp>
        <p:nvSpPr>
          <p:cNvPr id="392" name="Google Shape;392;p17"/>
          <p:cNvSpPr txBox="1"/>
          <p:nvPr/>
        </p:nvSpPr>
        <p:spPr>
          <a:xfrm>
            <a:off x="8321040" y="4206240"/>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margin of error on success rate</a:t>
            </a:r>
            <a:endParaRPr sz="1200" b="0" i="0" u="none" strike="noStrike" cap="none">
              <a:solidFill>
                <a:schemeClr val="dk1"/>
              </a:solidFill>
              <a:latin typeface="Calibri"/>
              <a:ea typeface="Calibri"/>
              <a:cs typeface="Calibri"/>
              <a:sym typeface="Calibri"/>
            </a:endParaRPr>
          </a:p>
        </p:txBody>
      </p:sp>
      <p:sp>
        <p:nvSpPr>
          <p:cNvPr id="393" name="Google Shape;393;p17"/>
          <p:cNvSpPr txBox="1"/>
          <p:nvPr/>
        </p:nvSpPr>
        <p:spPr>
          <a:xfrm>
            <a:off x="8321040" y="457200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~90 h (2 runs × 45 h)</a:t>
            </a:r>
            <a:endParaRPr sz="1500" b="0" i="0" u="none" strike="noStrike" cap="none">
              <a:solidFill>
                <a:schemeClr val="dk1"/>
              </a:solidFill>
              <a:latin typeface="Calibri"/>
              <a:ea typeface="Calibri"/>
              <a:cs typeface="Calibri"/>
              <a:sym typeface="Calibri"/>
            </a:endParaRPr>
          </a:p>
        </p:txBody>
      </p:sp>
      <p:sp>
        <p:nvSpPr>
          <p:cNvPr id="394" name="Google Shape;394;p17"/>
          <p:cNvSpPr txBox="1"/>
          <p:nvPr/>
        </p:nvSpPr>
        <p:spPr>
          <a:xfrm>
            <a:off x="8321040" y="4892040"/>
            <a:ext cx="3017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300"/>
              <a:buFont typeface="Calibri"/>
              <a:buNone/>
            </a:pPr>
            <a:r>
              <a:rPr lang="en-US" sz="1300" b="0" i="1" u="none" strike="noStrike" cap="none">
                <a:solidFill>
                  <a:schemeClr val="dk2"/>
                </a:solidFill>
                <a:latin typeface="Calibri"/>
                <a:ea typeface="Calibri"/>
                <a:cs typeface="Calibri"/>
                <a:sym typeface="Calibri"/>
              </a:rPr>
              <a:t>Full benchmark, like the paper</a:t>
            </a:r>
            <a:endParaRPr sz="1300" b="0" i="0" u="none" strike="noStrike" cap="none">
              <a:solidFill>
                <a:schemeClr val="dk1"/>
              </a:solidFill>
              <a:latin typeface="Calibri"/>
              <a:ea typeface="Calibri"/>
              <a:cs typeface="Calibri"/>
              <a:sym typeface="Calibri"/>
            </a:endParaRPr>
          </a:p>
        </p:txBody>
      </p:sp>
      <p:sp>
        <p:nvSpPr>
          <p:cNvPr id="395" name="Google Shape;395;p17"/>
          <p:cNvSpPr txBox="1"/>
          <p:nvPr/>
        </p:nvSpPr>
        <p:spPr>
          <a:xfrm>
            <a:off x="548640" y="5577840"/>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Margins are 95% ranges for a single success rate. Comparing on the same episodes is fairer than this suggests, but small gains (a few points) still need the larger runs.</a:t>
            </a:r>
            <a:endParaRPr sz="1200" b="0" i="0" u="none" strike="noStrike" cap="none">
              <a:solidFill>
                <a:schemeClr val="dk1"/>
              </a:solidFill>
              <a:latin typeface="Calibri"/>
              <a:ea typeface="Calibri"/>
              <a:cs typeface="Calibri"/>
              <a:sym typeface="Calibri"/>
            </a:endParaRPr>
          </a:p>
        </p:txBody>
      </p:sp>
      <p:sp>
        <p:nvSpPr>
          <p:cNvPr id="396" name="Google Shape;396;p17"/>
          <p:cNvSpPr txBox="1">
            <a:spLocks noGrp="1"/>
          </p:cNvSpPr>
          <p:nvPr>
            <p:ph type="sldNum" idx="4294967295"/>
          </p:nvPr>
        </p:nvSpPr>
        <p:spPr>
          <a:xfrm>
            <a:off x="11155680" y="640080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dk2"/>
                </a:solidFill>
                <a:latin typeface="Calibri"/>
                <a:ea typeface="Calibri"/>
                <a:cs typeface="Calibri"/>
                <a:sym typeface="Calibri"/>
              </a:rPr>
              <a:t>13</a:t>
            </a:fld>
            <a:endParaRPr sz="1000" b="0" i="0" u="none" strike="noStrike" cap="none">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WalkTheTalk">
  <a:themeElements>
    <a:clrScheme name="WalkTheTalk">
      <a:dk1>
        <a:srgbClr val="000000"/>
      </a:dk1>
      <a:lt1>
        <a:srgbClr val="FFFFFF"/>
      </a:lt1>
      <a:dk2>
        <a:srgbClr val="333333"/>
      </a:dk2>
      <a:lt2>
        <a:srgbClr val="F1F5FC"/>
      </a:lt2>
      <a:accent1>
        <a:srgbClr val="1A56DB"/>
      </a:accent1>
      <a:accent2>
        <a:srgbClr val="0B3A8F"/>
      </a:accent2>
      <a:accent3>
        <a:srgbClr val="3B82F6"/>
      </a:accent3>
      <a:accent4>
        <a:srgbClr val="000000"/>
      </a:accent4>
      <a:accent5>
        <a:srgbClr val="DCE7FA"/>
      </a:accent5>
      <a:accent6>
        <a:srgbClr val="1A56DB"/>
      </a:accent6>
      <a:hlink>
        <a:srgbClr val="1A56DB"/>
      </a:hlink>
      <a:folHlink>
        <a:srgbClr val="0B3A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alkTheTalk">
  <a:themeElements>
    <a:clrScheme name="WalkTheTalk">
      <a:dk1>
        <a:srgbClr val="000000"/>
      </a:dk1>
      <a:lt1>
        <a:srgbClr val="FFFFFF"/>
      </a:lt1>
      <a:dk2>
        <a:srgbClr val="333333"/>
      </a:dk2>
      <a:lt2>
        <a:srgbClr val="F1F5FC"/>
      </a:lt2>
      <a:accent1>
        <a:srgbClr val="1A56DB"/>
      </a:accent1>
      <a:accent2>
        <a:srgbClr val="0B3A8F"/>
      </a:accent2>
      <a:accent3>
        <a:srgbClr val="3B82F6"/>
      </a:accent3>
      <a:accent4>
        <a:srgbClr val="000000"/>
      </a:accent4>
      <a:accent5>
        <a:srgbClr val="DCE7FA"/>
      </a:accent5>
      <a:accent6>
        <a:srgbClr val="1A56DB"/>
      </a:accent6>
      <a:hlink>
        <a:srgbClr val="1A56DB"/>
      </a:hlink>
      <a:folHlink>
        <a:srgbClr val="0B3A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3281</Words>
  <Application>Microsoft Macintosh PowerPoint</Application>
  <PresentationFormat>Widescreen</PresentationFormat>
  <Paragraphs>315</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Helvetica Neue</vt:lpstr>
      <vt:lpstr>Arial</vt:lpstr>
      <vt:lpstr>Menlo</vt:lpstr>
      <vt:lpstr>Roboto</vt:lpstr>
      <vt:lpstr>WalkTheTalk</vt:lpstr>
      <vt:lpstr>Task 3: VLA-Based control in simulation </vt:lpstr>
      <vt:lpstr>Tasks 1 and 2 are done; NaVILA now runs in simulation</vt:lpstr>
      <vt:lpstr>NaVILA now drives the simulated Go2 end to end</vt:lpstr>
      <vt:lpstr>How NaVILA's words become motion</vt:lpstr>
      <vt:lpstr>8-bit weights let NaVILA fit beside Isaac Sim</vt:lpstr>
      <vt:lpstr>First 10 episodes: 8-bit NaVILA works</vt:lpstr>
      <vt:lpstr>What our project needs from a model</vt:lpstr>
      <vt:lpstr>Only NaVILA meets every criterion we could check</vt:lpstr>
      <vt:lpstr>NaVILA's published results back the choice</vt:lpstr>
      <vt:lpstr>NaVILA usually finds the goal, but doesn't always stop</vt:lpstr>
      <vt:lpstr>A training-free, stop-aware controller</vt:lpstr>
      <vt:lpstr>How we will measure the improvement</vt:lpstr>
      <vt:lpstr>How many simulation runs do we need for a fair 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Prachi Yadav</cp:lastModifiedBy>
  <cp:revision>1</cp:revision>
  <dcterms:modified xsi:type="dcterms:W3CDTF">2026-10-30T18:09:59Z</dcterms:modified>
</cp:coreProperties>
</file>