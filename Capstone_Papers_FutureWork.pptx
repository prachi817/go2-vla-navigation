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9" r:id="rId9"/>
    <p:sldId id="270" r:id="rId10"/>
    <p:sldId id="263" r:id="rId11"/>
    <p:sldId id="264" r:id="rId12"/>
    <p:sldId id="265" r:id="rId13"/>
    <p:sldId id="266" r:id="rId14"/>
    <p:sldId id="268"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6087"/>
  </p:normalViewPr>
  <p:slideViewPr>
    <p:cSldViewPr snapToGrid="0" snapToObjects="1">
      <p:cViewPr>
        <p:scale>
          <a:sx n="126" d="100"/>
          <a:sy n="126" d="100"/>
        </p:scale>
        <p:origin x="14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4649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this is my capstone progress update. The project is about teaching a four-legged robot, the Unitree Go2, to follow natural-language instructions and walk to the right place on its own using a Vision-Language-Action model. Today I'll quickly set up the project, then spend most of the time on the five papers I read and on future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project in one picture. The goal is a Go2 quadruped that takes an instruction like 'go to the kitchen and stop at the red bowl' and navigates there on its own, without being given a map. The pipeline is just three steps: it sees through its camera, a Vision-Language-Action model thinks and decides the next move, and the robot walks. Our hardware is the Go2 EDU with an NVIDIA Jetson Orin onboard. The reason we use a legged robot instead of a wheeled one is that legs can handle stairs, rough ground, and clutter.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core tasks. Task 1 is connecting the Orin computer to the Go2 so I can read its sensors and send basic movement commands. Task 2 is setting up the same robot in the Isaac Sim simulator, so I can test safely. Task 3 is running a pretrained VLA model in that simulation so the robot follows instructions. Task 4 is putting it all on the real robot and testing in the real world. The three items on the right are stretch goals — separate mini-projects I'll only attempt if time allows, so I'm being upfront that they're bonuses, not promises.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requirements. On hardware, the Go2 EDU with the Jetson Orin onboard, plus its LiDAR and camera. For compute, this is important: the VLA model is too big to run on the robot's small computer, so I use SLU's Libra HPC cluster, which gives me a GPU with enough memory. On software, it's the standard robotics stack: Ubuntu, ROS 2, the Unitree SDK for the real robot, and Isaac Sim and Isaac Lab for simulation. And finally I need a pretrained model, navigation datasets, and the Go2 assets for the simulator. The one thing I'd flag as the main risk is compute and speed — running a heavy model fast enough — which Libra largely solves.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links. On the left is the official Unitree SDK — that's the public code I use for Task 1 to talk to the real robot, read its sensors, and send movement commands. On the right is my own project repository, named WalkTheTalk, where all my code, notes, and results live. Quick reminder to myself to fill in my actual username in that link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papers I read. They all sit in the same family: robots that take in vision and language and produce actions. NaVILA, marked MAIN, is the one closest to my project because it's built for a legged robot like our Go2, so I spend the most time on it. The other four each add something: reasoning, target-following, scalable training, and speed. And a nice detail — three of the five actually run on a Unitree Go2, the exact robot I'm using, which tells me my whole approach is well-supported by recent 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NaVILA is the main paper. Its big idea is splitting navigation into two levels: a 'brain', which is a large vision-language model that reads the camera and instruction and outputs a plain command like 'move forward 75 centimeters', and 'legs', a fast walking controller that turns that into real movement and dodges obstacles. It works with just a camera, runs on several robots including the Go2, and hit about 88% success in the real world. For me it's the strongest starting point because it's the same robot and task, with released code and a pretrained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MobileVLA-R1 tackles the same problem but adds a reasoning layer. Instead of jumping straight from instruction to action, it's taught to think step by step first, and then that reasoning is sharpened using reinforcement learning, where the model is rewarded for good decisions. It uses more sensors than NaVILA — camera, depth, and point cloud — and it's about 5% better than strong baselines. For me, the lesson is a concrete upgrade path: if my robot's decisions come out shaky, this reasoning-plus-RL recipe is a documented way to fix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TrackVLA is a slightly different task — instead of navigating to a place, it follows a moving target, like following a person. What's clever is that one model does both recognizing the target and planning the path, together, which avoids the errors you get when those are separate. It runs fast, at 10 frames per second, and it's deployed on a real Go2. The reason it matters to me is its real-world setup is almost exactly my Task 4 plan: the model runs on a GPU server, and the robot streams camera images to it over Wi-Fi and gets back where to go. So it validates my deployment approach.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is about training. Its focus is making a quadruped VLA bigger and more capable without a huge jump in compute cost. It does that with a 'mixture of experts' design, where only the relevant parts of the model turn on for a given task, and it can learn from messy, imperfect data instead of needing perfect demonstrations. It beat baselines by up to 20% across six skills on a real Go2. For me this is the reference for scalable fine-tuning — I'd reach for it only if I go beyond using a pretrained model and actually train my own, which is more of a stretch goal.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paper is about speed, and it's the most practically useful for me. Navigation models are slow because each camera frame becomes hundreds of little data pieces called tokens, and processing them all is expensive. This method throws away the tokens that don't carry useful information, and cleverly treats the current view and old frames differently — keeping detail on what the robot sees now, compressing the older memory. Best of all, it needs no retraining; you just plug it into an existing model. It was tested on a real Go2. This directly attacks my biggest worry, which is making a heavy model run fast enough on limited hardware.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of future work is my own plan. The core path across the top is four steps: connect the Orin to the Go2, build the Go2 in the Isaac Sim simulator, run the VLA in simulation, then deploy on the real robot. My near-term next steps are the three cards: get Task 1 working, set up the simulator, and pick a model — I'll start from NaVILA and keep StreamVLN as a backup. I'm treating success as a strong simulation result plus a simple real-robot demo, like 'go to the chair and stop', because running the heavy model in real time is the risky part. Stretch goals only if there's time.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navila-bot.github.io/"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749950" y="1031358"/>
            <a:ext cx="11442050" cy="1525063"/>
          </a:xfrm>
          <a:prstGeom prst="rect">
            <a:avLst/>
          </a:prstGeom>
          <a:noFill/>
          <a:ln/>
        </p:spPr>
        <p:txBody>
          <a:bodyPr wrap="square" lIns="0" tIns="0" rIns="0" bIns="0" rtlCol="0" anchor="ctr"/>
          <a:lstStyle/>
          <a:p>
            <a:pPr marL="0" indent="0" algn="l">
              <a:lnSpc>
                <a:spcPct val="100000"/>
              </a:lnSpc>
              <a:buNone/>
            </a:pPr>
            <a:r>
              <a:rPr lang="en-US" sz="3800" b="1" dirty="0">
                <a:solidFill>
                  <a:srgbClr val="13293D"/>
                </a:solidFill>
                <a:latin typeface="Century Schoolbook" pitchFamily="34" charset="0"/>
                <a:ea typeface="Century Schoolbook" pitchFamily="34" charset="-122"/>
                <a:cs typeface="Century Schoolbook" pitchFamily="34" charset="-120"/>
              </a:rPr>
              <a:t>Vision-Language-Action Navigation</a:t>
            </a:r>
            <a:endParaRPr lang="en-US" sz="3800" dirty="0"/>
          </a:p>
          <a:p>
            <a:pPr marL="0" indent="0" algn="l">
              <a:lnSpc>
                <a:spcPct val="100000"/>
              </a:lnSpc>
              <a:buNone/>
            </a:pPr>
            <a:r>
              <a:rPr lang="en-US" sz="3800" b="1" dirty="0">
                <a:solidFill>
                  <a:srgbClr val="13293D"/>
                </a:solidFill>
                <a:latin typeface="Century Schoolbook" pitchFamily="34" charset="0"/>
                <a:ea typeface="Century Schoolbook" pitchFamily="34" charset="-122"/>
                <a:cs typeface="Century Schoolbook" pitchFamily="34" charset="-120"/>
              </a:rPr>
              <a:t>for a Quadruped Robot</a:t>
            </a:r>
            <a:endParaRPr lang="en-US" sz="3800" dirty="0"/>
          </a:p>
        </p:txBody>
      </p:sp>
      <p:pic>
        <p:nvPicPr>
          <p:cNvPr id="6" name="Image 0"/>
          <p:cNvPicPr>
            <a:picLocks noChangeAspect="1"/>
          </p:cNvPicPr>
          <p:nvPr/>
        </p:nvPicPr>
        <p:blipFill>
          <a:blip r:embed="rId3"/>
          <a:srcRect/>
          <a:stretch/>
        </p:blipFill>
        <p:spPr>
          <a:xfrm>
            <a:off x="7142952" y="2896663"/>
            <a:ext cx="4754880" cy="3169920"/>
          </a:xfrm>
          <a:prstGeom prst="rect">
            <a:avLst/>
          </a:prstGeom>
        </p:spPr>
      </p:pic>
      <p:sp>
        <p:nvSpPr>
          <p:cNvPr id="7" name="Text 4"/>
          <p:cNvSpPr txBox="1"/>
          <p:nvPr/>
        </p:nvSpPr>
        <p:spPr>
          <a:xfrm>
            <a:off x="978196" y="5223775"/>
            <a:ext cx="903768" cy="365760"/>
          </a:xfrm>
          <a:prstGeom prst="rect">
            <a:avLst/>
          </a:prstGeom>
          <a:noFill/>
          <a:ln/>
        </p:spPr>
        <p:txBody>
          <a:bodyPr wrap="square" lIns="0" tIns="0" rIns="0" bIns="0" rtlCol="0" anchor="ctr"/>
          <a:lstStyle/>
          <a:p>
            <a:pPr marL="0" indent="0">
              <a:buNone/>
            </a:pPr>
            <a:r>
              <a:rPr lang="en-US" sz="1300" dirty="0">
                <a:solidFill>
                  <a:srgbClr val="5A6E7A"/>
                </a:solidFill>
                <a:latin typeface="Calibri" pitchFamily="34" charset="0"/>
                <a:ea typeface="Calibri" pitchFamily="34" charset="-122"/>
                <a:cs typeface="Calibri" pitchFamily="34" charset="-120"/>
              </a:rPr>
              <a:t>Prachi </a:t>
            </a:r>
            <a:endParaRPr lang="en-US" sz="1300" dirty="0"/>
          </a:p>
        </p:txBody>
      </p:sp>
      <p:sp>
        <p:nvSpPr>
          <p:cNvPr id="8" name="TextBox 7">
            <a:extLst>
              <a:ext uri="{FF2B5EF4-FFF2-40B4-BE49-F238E27FC236}">
                <a16:creationId xmlns:a16="http://schemas.microsoft.com/office/drawing/2014/main" id="{288D3B4A-AD56-C874-2E52-396BF0D1C897}"/>
              </a:ext>
            </a:extLst>
          </p:cNvPr>
          <p:cNvSpPr txBox="1"/>
          <p:nvPr/>
        </p:nvSpPr>
        <p:spPr>
          <a:xfrm>
            <a:off x="749950" y="533741"/>
            <a:ext cx="6118683" cy="369332"/>
          </a:xfrm>
          <a:prstGeom prst="rect">
            <a:avLst/>
          </a:prstGeom>
          <a:noFill/>
        </p:spPr>
        <p:txBody>
          <a:bodyPr wrap="square" rtlCol="0">
            <a:spAutoFit/>
          </a:bodyPr>
          <a:lstStyle/>
          <a:p>
            <a:r>
              <a:rPr lang="en-US" dirty="0"/>
              <a:t>Capstone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3253563" y="384048"/>
            <a:ext cx="4433778" cy="640080"/>
          </a:xfrm>
          <a:prstGeom prst="rect">
            <a:avLst/>
          </a:prstGeom>
          <a:noFill/>
          <a:ln/>
        </p:spPr>
        <p:txBody>
          <a:bodyPr wrap="square" lIns="0" tIns="0" rIns="0" bIns="0" rtlCol="0" anchor="ctr"/>
          <a:lstStyle/>
          <a:p>
            <a:pPr marL="0" indent="0" algn="ctr">
              <a:buNone/>
            </a:pPr>
            <a:r>
              <a:rPr lang="en-US" sz="3000" b="1" dirty="0">
                <a:solidFill>
                  <a:srgbClr val="13293D"/>
                </a:solidFill>
                <a:latin typeface="Century Schoolbook" pitchFamily="34" charset="0"/>
                <a:ea typeface="Century Schoolbook" pitchFamily="34" charset="-122"/>
                <a:cs typeface="Century Schoolbook" pitchFamily="34" charset="-120"/>
              </a:rPr>
              <a:t>Project description</a:t>
            </a:r>
            <a:endParaRPr lang="en-US" sz="3000" dirty="0"/>
          </a:p>
        </p:txBody>
      </p:sp>
      <p:grpSp>
        <p:nvGrpSpPr>
          <p:cNvPr id="23" name="Group 22">
            <a:extLst>
              <a:ext uri="{FF2B5EF4-FFF2-40B4-BE49-F238E27FC236}">
                <a16:creationId xmlns:a16="http://schemas.microsoft.com/office/drawing/2014/main" id="{D69B6FBE-3983-AB3B-3604-EDF36A1CD750}"/>
              </a:ext>
            </a:extLst>
          </p:cNvPr>
          <p:cNvGrpSpPr/>
          <p:nvPr/>
        </p:nvGrpSpPr>
        <p:grpSpPr>
          <a:xfrm>
            <a:off x="2601787" y="1501318"/>
            <a:ext cx="6446520" cy="3703320"/>
            <a:chOff x="868680" y="1554480"/>
            <a:chExt cx="6446520" cy="3703320"/>
          </a:xfrm>
        </p:grpSpPr>
        <p:sp>
          <p:nvSpPr>
            <p:cNvPr id="6" name="Text 3"/>
            <p:cNvSpPr txBox="1"/>
            <p:nvPr/>
          </p:nvSpPr>
          <p:spPr>
            <a:xfrm>
              <a:off x="868680" y="1554480"/>
              <a:ext cx="6126480" cy="1005840"/>
            </a:xfrm>
            <a:prstGeom prst="rect">
              <a:avLst/>
            </a:prstGeom>
            <a:noFill/>
            <a:ln/>
          </p:spPr>
          <p:txBody>
            <a:bodyPr wrap="square" lIns="0" tIns="0" rIns="0" bIns="0" rtlCol="0" anchor="t"/>
            <a:lstStyle/>
            <a:p>
              <a:pPr marL="0" indent="0">
                <a:lnSpc>
                  <a:spcPct val="115000"/>
                </a:lnSpc>
                <a:buNone/>
              </a:pPr>
              <a:r>
                <a:rPr lang="en-US" sz="1600" b="1" dirty="0">
                  <a:solidFill>
                    <a:srgbClr val="13293D"/>
                  </a:solidFill>
                  <a:latin typeface="Calibri" pitchFamily="34" charset="0"/>
                  <a:ea typeface="Calibri" pitchFamily="34" charset="-122"/>
                  <a:cs typeface="Calibri" pitchFamily="34" charset="-120"/>
                </a:rPr>
                <a:t>Goal: </a:t>
              </a:r>
              <a:r>
                <a:rPr lang="en-US" sz="1600" dirty="0">
                  <a:solidFill>
                    <a:srgbClr val="13293D"/>
                  </a:solidFill>
                  <a:latin typeface="Calibri" pitchFamily="34" charset="0"/>
                  <a:ea typeface="Calibri" pitchFamily="34" charset="-122"/>
                  <a:cs typeface="Calibri" pitchFamily="34" charset="-120"/>
                </a:rPr>
                <a:t>a Unitree Go2 robot that follows instructions and navigates on its own.</a:t>
              </a:r>
              <a:endParaRPr lang="en-US" sz="1600" dirty="0"/>
            </a:p>
          </p:txBody>
        </p:sp>
        <p:sp>
          <p:nvSpPr>
            <p:cNvPr id="7" name="Text 4"/>
            <p:cNvSpPr txBox="1"/>
            <p:nvPr/>
          </p:nvSpPr>
          <p:spPr>
            <a:xfrm>
              <a:off x="868680" y="2880360"/>
              <a:ext cx="6126480" cy="365760"/>
            </a:xfrm>
            <a:prstGeom prst="rect">
              <a:avLst/>
            </a:prstGeom>
            <a:noFill/>
            <a:ln/>
          </p:spPr>
          <p:txBody>
            <a:bodyPr wrap="square" lIns="0" tIns="0" rIns="0" bIns="0" rtlCol="0" anchor="ctr"/>
            <a:lstStyle/>
            <a:p>
              <a:pPr marL="0" indent="0">
                <a:buNone/>
              </a:pPr>
              <a:r>
                <a:rPr lang="en-US" sz="1500" b="1" dirty="0">
                  <a:solidFill>
                    <a:srgbClr val="0B6E75"/>
                  </a:solidFill>
                  <a:latin typeface="Calibri" pitchFamily="34" charset="0"/>
                  <a:ea typeface="Calibri" pitchFamily="34" charset="-122"/>
                  <a:cs typeface="Calibri" pitchFamily="34" charset="-120"/>
                </a:rPr>
                <a:t>How it works, simply:</a:t>
              </a:r>
              <a:endParaRPr lang="en-US" sz="1500" dirty="0"/>
            </a:p>
          </p:txBody>
        </p:sp>
        <p:sp>
          <p:nvSpPr>
            <p:cNvPr id="9" name="Text 6"/>
            <p:cNvSpPr txBox="1"/>
            <p:nvPr/>
          </p:nvSpPr>
          <p:spPr>
            <a:xfrm>
              <a:off x="868680" y="3456432"/>
              <a:ext cx="1874520" cy="365760"/>
            </a:xfrm>
            <a:prstGeom prst="rect">
              <a:avLst/>
            </a:prstGeom>
            <a:noFill/>
            <a:ln/>
          </p:spPr>
          <p:txBody>
            <a:bodyPr wrap="square" lIns="0" tIns="0" rIns="0" bIns="0" rtlCol="0" anchor="ctr"/>
            <a:lstStyle/>
            <a:p>
              <a:pPr marL="0" indent="0" algn="ctr">
                <a:buNone/>
              </a:pPr>
              <a:r>
                <a:rPr lang="en-US" sz="1600" b="1" dirty="0">
                  <a:solidFill>
                    <a:srgbClr val="0B6E75"/>
                  </a:solidFill>
                  <a:latin typeface="Calibri" pitchFamily="34" charset="0"/>
                  <a:ea typeface="Calibri" pitchFamily="34" charset="-122"/>
                  <a:cs typeface="Calibri" pitchFamily="34" charset="-120"/>
                </a:rPr>
                <a:t>See</a:t>
              </a:r>
              <a:endParaRPr lang="en-US" sz="1600" dirty="0"/>
            </a:p>
          </p:txBody>
        </p:sp>
        <p:sp>
          <p:nvSpPr>
            <p:cNvPr id="10" name="Text 7"/>
            <p:cNvSpPr txBox="1"/>
            <p:nvPr/>
          </p:nvSpPr>
          <p:spPr>
            <a:xfrm>
              <a:off x="960120" y="3840480"/>
              <a:ext cx="1691640" cy="594360"/>
            </a:xfrm>
            <a:prstGeom prst="rect">
              <a:avLst/>
            </a:prstGeom>
            <a:noFill/>
            <a:ln/>
          </p:spPr>
          <p:txBody>
            <a:bodyPr wrap="square" lIns="0" tIns="0" rIns="0" bIns="0" rtlCol="0" anchor="ctr"/>
            <a:lstStyle/>
            <a:p>
              <a:pPr marL="0" indent="0" algn="ctr">
                <a:buNone/>
              </a:pPr>
              <a:r>
                <a:rPr lang="en-US" sz="1150" dirty="0">
                  <a:solidFill>
                    <a:srgbClr val="5A6E7A"/>
                  </a:solidFill>
                  <a:latin typeface="Calibri" pitchFamily="34" charset="0"/>
                  <a:ea typeface="Calibri" pitchFamily="34" charset="-122"/>
                  <a:cs typeface="Calibri" pitchFamily="34" charset="-120"/>
                </a:rPr>
                <a:t>camera + instruction</a:t>
              </a:r>
              <a:endParaRPr lang="en-US" sz="1150" dirty="0"/>
            </a:p>
          </p:txBody>
        </p:sp>
        <p:sp>
          <p:nvSpPr>
            <p:cNvPr id="11" name="Text 8"/>
            <p:cNvSpPr txBox="1"/>
            <p:nvPr/>
          </p:nvSpPr>
          <p:spPr>
            <a:xfrm>
              <a:off x="2697480" y="3291840"/>
              <a:ext cx="411480" cy="1234440"/>
            </a:xfrm>
            <a:prstGeom prst="rect">
              <a:avLst/>
            </a:prstGeom>
            <a:noFill/>
            <a:ln/>
          </p:spPr>
          <p:txBody>
            <a:bodyPr wrap="square" lIns="0" tIns="0" rIns="0" bIns="0" rtlCol="0" anchor="ctr"/>
            <a:lstStyle/>
            <a:p>
              <a:pPr marL="0" indent="0" algn="ctr">
                <a:buNone/>
              </a:pPr>
              <a:r>
                <a:rPr lang="en-US" sz="2000" dirty="0">
                  <a:solidFill>
                    <a:srgbClr val="5A6E7A"/>
                  </a:solidFill>
                </a:rPr>
                <a:t>➜</a:t>
              </a:r>
              <a:endParaRPr lang="en-US" sz="2000" dirty="0"/>
            </a:p>
          </p:txBody>
        </p:sp>
        <p:sp>
          <p:nvSpPr>
            <p:cNvPr id="13" name="Text 10"/>
            <p:cNvSpPr txBox="1"/>
            <p:nvPr/>
          </p:nvSpPr>
          <p:spPr>
            <a:xfrm>
              <a:off x="3154680" y="3456432"/>
              <a:ext cx="1874520" cy="365760"/>
            </a:xfrm>
            <a:prstGeom prst="rect">
              <a:avLst/>
            </a:prstGeom>
            <a:noFill/>
            <a:ln/>
          </p:spPr>
          <p:txBody>
            <a:bodyPr wrap="square" lIns="0" tIns="0" rIns="0" bIns="0" rtlCol="0" anchor="ctr"/>
            <a:lstStyle/>
            <a:p>
              <a:pPr marL="0" indent="0" algn="ctr">
                <a:buNone/>
              </a:pPr>
              <a:r>
                <a:rPr lang="en-US" sz="1600" b="1" dirty="0">
                  <a:solidFill>
                    <a:srgbClr val="0B6E75"/>
                  </a:solidFill>
                  <a:latin typeface="Calibri" pitchFamily="34" charset="0"/>
                  <a:ea typeface="Calibri" pitchFamily="34" charset="-122"/>
                  <a:cs typeface="Calibri" pitchFamily="34" charset="-120"/>
                </a:rPr>
                <a:t>Think</a:t>
              </a:r>
              <a:endParaRPr lang="en-US" sz="1600" dirty="0"/>
            </a:p>
          </p:txBody>
        </p:sp>
        <p:sp>
          <p:nvSpPr>
            <p:cNvPr id="14" name="Text 11"/>
            <p:cNvSpPr txBox="1"/>
            <p:nvPr/>
          </p:nvSpPr>
          <p:spPr>
            <a:xfrm>
              <a:off x="3246120" y="3840480"/>
              <a:ext cx="1691640" cy="594360"/>
            </a:xfrm>
            <a:prstGeom prst="rect">
              <a:avLst/>
            </a:prstGeom>
            <a:noFill/>
            <a:ln/>
          </p:spPr>
          <p:txBody>
            <a:bodyPr wrap="square" lIns="0" tIns="0" rIns="0" bIns="0" rtlCol="0" anchor="ctr"/>
            <a:lstStyle/>
            <a:p>
              <a:pPr marL="0" indent="0" algn="ctr">
                <a:buNone/>
              </a:pPr>
              <a:r>
                <a:rPr lang="en-US" sz="1150" dirty="0">
                  <a:solidFill>
                    <a:srgbClr val="5A6E7A"/>
                  </a:solidFill>
                  <a:latin typeface="Calibri" pitchFamily="34" charset="0"/>
                  <a:ea typeface="Calibri" pitchFamily="34" charset="-122"/>
                  <a:cs typeface="Calibri" pitchFamily="34" charset="-120"/>
                </a:rPr>
                <a:t>a VLA model decides</a:t>
              </a:r>
              <a:endParaRPr lang="en-US" sz="1150" dirty="0"/>
            </a:p>
          </p:txBody>
        </p:sp>
        <p:sp>
          <p:nvSpPr>
            <p:cNvPr id="15" name="Text 12"/>
            <p:cNvSpPr txBox="1"/>
            <p:nvPr/>
          </p:nvSpPr>
          <p:spPr>
            <a:xfrm>
              <a:off x="4983480" y="3291840"/>
              <a:ext cx="411480" cy="1234440"/>
            </a:xfrm>
            <a:prstGeom prst="rect">
              <a:avLst/>
            </a:prstGeom>
            <a:noFill/>
            <a:ln/>
          </p:spPr>
          <p:txBody>
            <a:bodyPr wrap="square" lIns="0" tIns="0" rIns="0" bIns="0" rtlCol="0" anchor="ctr"/>
            <a:lstStyle/>
            <a:p>
              <a:pPr marL="0" indent="0" algn="ctr">
                <a:buNone/>
              </a:pPr>
              <a:r>
                <a:rPr lang="en-US" sz="2000" dirty="0">
                  <a:solidFill>
                    <a:srgbClr val="5A6E7A"/>
                  </a:solidFill>
                </a:rPr>
                <a:t>➜</a:t>
              </a:r>
              <a:endParaRPr lang="en-US" sz="2000" dirty="0"/>
            </a:p>
          </p:txBody>
        </p:sp>
        <p:sp>
          <p:nvSpPr>
            <p:cNvPr id="17" name="Text 14"/>
            <p:cNvSpPr txBox="1"/>
            <p:nvPr/>
          </p:nvSpPr>
          <p:spPr>
            <a:xfrm>
              <a:off x="5440680" y="3456432"/>
              <a:ext cx="1874520" cy="365760"/>
            </a:xfrm>
            <a:prstGeom prst="rect">
              <a:avLst/>
            </a:prstGeom>
            <a:noFill/>
            <a:ln/>
          </p:spPr>
          <p:txBody>
            <a:bodyPr wrap="square" lIns="0" tIns="0" rIns="0" bIns="0" rtlCol="0" anchor="ctr"/>
            <a:lstStyle/>
            <a:p>
              <a:pPr marL="0" indent="0" algn="ctr">
                <a:buNone/>
              </a:pPr>
              <a:r>
                <a:rPr lang="en-US" sz="1600" b="1" dirty="0">
                  <a:solidFill>
                    <a:srgbClr val="EE6C4D"/>
                  </a:solidFill>
                  <a:latin typeface="Calibri" pitchFamily="34" charset="0"/>
                  <a:ea typeface="Calibri" pitchFamily="34" charset="-122"/>
                  <a:cs typeface="Calibri" pitchFamily="34" charset="-120"/>
                </a:rPr>
                <a:t>Move</a:t>
              </a:r>
              <a:endParaRPr lang="en-US" sz="1600" dirty="0"/>
            </a:p>
          </p:txBody>
        </p:sp>
        <p:sp>
          <p:nvSpPr>
            <p:cNvPr id="18" name="Text 15"/>
            <p:cNvSpPr txBox="1"/>
            <p:nvPr/>
          </p:nvSpPr>
          <p:spPr>
            <a:xfrm>
              <a:off x="5532120" y="3840480"/>
              <a:ext cx="1691640" cy="594360"/>
            </a:xfrm>
            <a:prstGeom prst="rect">
              <a:avLst/>
            </a:prstGeom>
            <a:noFill/>
            <a:ln/>
          </p:spPr>
          <p:txBody>
            <a:bodyPr wrap="square" lIns="0" tIns="0" rIns="0" bIns="0" rtlCol="0" anchor="ctr"/>
            <a:lstStyle/>
            <a:p>
              <a:pPr marL="0" indent="0" algn="ctr">
                <a:buNone/>
              </a:pPr>
              <a:r>
                <a:rPr lang="en-US" sz="1150" dirty="0">
                  <a:solidFill>
                    <a:srgbClr val="5A6E7A"/>
                  </a:solidFill>
                  <a:latin typeface="Calibri" pitchFamily="34" charset="0"/>
                  <a:ea typeface="Calibri" pitchFamily="34" charset="-122"/>
                  <a:cs typeface="Calibri" pitchFamily="34" charset="-120"/>
                </a:rPr>
                <a:t>the robot walks</a:t>
              </a:r>
              <a:endParaRPr lang="en-US" sz="1150" dirty="0"/>
            </a:p>
          </p:txBody>
        </p:sp>
        <p:sp>
          <p:nvSpPr>
            <p:cNvPr id="19" name="Text 16"/>
            <p:cNvSpPr txBox="1"/>
            <p:nvPr/>
          </p:nvSpPr>
          <p:spPr>
            <a:xfrm>
              <a:off x="868680" y="4892040"/>
              <a:ext cx="6400800" cy="365760"/>
            </a:xfrm>
            <a:prstGeom prst="rect">
              <a:avLst/>
            </a:prstGeom>
            <a:noFill/>
            <a:ln/>
          </p:spPr>
          <p:txBody>
            <a:bodyPr wrap="square" lIns="0" tIns="0" rIns="0" bIns="0" rtlCol="0" anchor="ctr"/>
            <a:lstStyle/>
            <a:p>
              <a:pPr marL="0" indent="0">
                <a:buNone/>
              </a:pPr>
              <a:r>
                <a:rPr lang="en-US" sz="1250" i="1" dirty="0">
                  <a:solidFill>
                    <a:srgbClr val="5A6E7A"/>
                  </a:solidFill>
                  <a:latin typeface="Calibri" pitchFamily="34" charset="0"/>
                  <a:ea typeface="Calibri" pitchFamily="34" charset="-122"/>
                  <a:cs typeface="Calibri" pitchFamily="34" charset="-120"/>
                </a:rPr>
                <a:t>Robot: Unitree Go2 EDU  ·  </a:t>
              </a:r>
            </a:p>
            <a:p>
              <a:pPr marL="0" indent="0">
                <a:buNone/>
              </a:pPr>
              <a:r>
                <a:rPr lang="en-US" sz="1250" i="1" dirty="0">
                  <a:solidFill>
                    <a:srgbClr val="5A6E7A"/>
                  </a:solidFill>
                  <a:latin typeface="Calibri" pitchFamily="34" charset="0"/>
                  <a:ea typeface="Calibri" pitchFamily="34" charset="-122"/>
                  <a:cs typeface="Calibri" pitchFamily="34" charset="-120"/>
                </a:rPr>
                <a:t>Onboard computer: NVIDIA Jetson Orin</a:t>
              </a:r>
              <a:endParaRPr lang="en-US" sz="1250" dirty="0"/>
            </a:p>
          </p:txBody>
        </p:sp>
      </p:grpSp>
      <p:sp>
        <p:nvSpPr>
          <p:cNvPr id="22" name="Text 19"/>
          <p:cNvSpPr txBox="1"/>
          <p:nvPr/>
        </p:nvSpPr>
        <p:spPr>
          <a:xfrm>
            <a:off x="11612880" y="6400800"/>
            <a:ext cx="365760" cy="274320"/>
          </a:xfrm>
          <a:prstGeom prst="rect">
            <a:avLst/>
          </a:prstGeom>
          <a:noFill/>
          <a:ln/>
        </p:spPr>
        <p:txBody>
          <a:bodyPr wrap="square" lIns="0" tIns="0" rIns="0" bIns="0" rtlCol="0" anchor="ctr"/>
          <a:lstStyle/>
          <a:p>
            <a:pPr marL="0" indent="0" algn="r">
              <a:buNone/>
            </a:pPr>
            <a:r>
              <a:rPr lang="en-US" sz="1000" dirty="0">
                <a:solidFill>
                  <a:srgbClr val="5A6E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3474720" y="384048"/>
            <a:ext cx="3096201" cy="640080"/>
          </a:xfrm>
          <a:prstGeom prst="rect">
            <a:avLst/>
          </a:prstGeom>
          <a:noFill/>
          <a:ln/>
        </p:spPr>
        <p:txBody>
          <a:bodyPr wrap="square" lIns="0" tIns="0" rIns="0" bIns="0" rtlCol="0" anchor="ctr"/>
          <a:lstStyle/>
          <a:p>
            <a:pPr marL="0" indent="0" algn="ctr">
              <a:buNone/>
            </a:pPr>
            <a:r>
              <a:rPr lang="en-US" sz="3000" b="1" dirty="0">
                <a:solidFill>
                  <a:srgbClr val="13293D"/>
                </a:solidFill>
                <a:latin typeface="Century Schoolbook" pitchFamily="34" charset="0"/>
                <a:ea typeface="Century Schoolbook" pitchFamily="34" charset="-122"/>
                <a:cs typeface="Century Schoolbook" pitchFamily="34" charset="-120"/>
              </a:rPr>
              <a:t>Project tasks</a:t>
            </a:r>
            <a:endParaRPr lang="en-US" sz="3000" dirty="0"/>
          </a:p>
        </p:txBody>
      </p:sp>
      <p:grpSp>
        <p:nvGrpSpPr>
          <p:cNvPr id="29" name="Group 28">
            <a:extLst>
              <a:ext uri="{FF2B5EF4-FFF2-40B4-BE49-F238E27FC236}">
                <a16:creationId xmlns:a16="http://schemas.microsoft.com/office/drawing/2014/main" id="{C687CCF1-D267-17C8-F3B5-6D7E73888A21}"/>
              </a:ext>
            </a:extLst>
          </p:cNvPr>
          <p:cNvGrpSpPr/>
          <p:nvPr/>
        </p:nvGrpSpPr>
        <p:grpSpPr>
          <a:xfrm>
            <a:off x="2837830" y="1654001"/>
            <a:ext cx="6858000" cy="3895344"/>
            <a:chOff x="1097280" y="1801368"/>
            <a:chExt cx="6858000" cy="3895344"/>
          </a:xfrm>
        </p:grpSpPr>
        <p:sp>
          <p:nvSpPr>
            <p:cNvPr id="6" name="Shape 4"/>
            <p:cNvSpPr/>
            <p:nvPr/>
          </p:nvSpPr>
          <p:spPr>
            <a:xfrm>
              <a:off x="1097280" y="1938528"/>
              <a:ext cx="438912" cy="438912"/>
            </a:xfrm>
            <a:prstGeom prst="ellipse">
              <a:avLst/>
            </a:prstGeom>
            <a:solidFill>
              <a:srgbClr val="0B6E75"/>
            </a:solidFill>
            <a:ln/>
          </p:spPr>
          <p:txBody>
            <a:bodyPr/>
            <a:lstStyle/>
            <a:p>
              <a:endParaRPr lang="en-US"/>
            </a:p>
          </p:txBody>
        </p:sp>
        <p:sp>
          <p:nvSpPr>
            <p:cNvPr id="7" name="Text 5"/>
            <p:cNvSpPr txBox="1"/>
            <p:nvPr/>
          </p:nvSpPr>
          <p:spPr>
            <a:xfrm>
              <a:off x="1097280" y="1938528"/>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Century Schoolbook" pitchFamily="34" charset="0"/>
                  <a:ea typeface="Century Schoolbook" pitchFamily="34" charset="-122"/>
                  <a:cs typeface="Century Schoolbook" pitchFamily="34" charset="-120"/>
                </a:rPr>
                <a:t>1</a:t>
              </a:r>
              <a:endParaRPr lang="en-US" sz="1800" dirty="0"/>
            </a:p>
          </p:txBody>
        </p:sp>
        <p:sp>
          <p:nvSpPr>
            <p:cNvPr id="8" name="Text 6"/>
            <p:cNvSpPr txBox="1"/>
            <p:nvPr/>
          </p:nvSpPr>
          <p:spPr>
            <a:xfrm>
              <a:off x="1691640" y="1801368"/>
              <a:ext cx="6217920" cy="384048"/>
            </a:xfrm>
            <a:prstGeom prst="rect">
              <a:avLst/>
            </a:prstGeom>
            <a:noFill/>
            <a:ln/>
          </p:spPr>
          <p:txBody>
            <a:bodyPr wrap="square" lIns="0" tIns="0" rIns="0" bIns="0" rtlCol="0" anchor="ctr"/>
            <a:lstStyle/>
            <a:p>
              <a:r>
                <a:rPr lang="en-US" sz="1600" dirty="0">
                  <a:solidFill>
                    <a:srgbClr val="000000"/>
                  </a:solidFill>
                  <a:effectLst/>
                  <a:latin typeface="Helvetica" pitchFamily="2" charset="0"/>
                </a:rPr>
                <a:t>NVIDIA Orin–Go2 Integration and High-Level Control</a:t>
              </a:r>
            </a:p>
          </p:txBody>
        </p:sp>
        <p:sp>
          <p:nvSpPr>
            <p:cNvPr id="9" name="Text 7"/>
            <p:cNvSpPr txBox="1"/>
            <p:nvPr/>
          </p:nvSpPr>
          <p:spPr>
            <a:xfrm>
              <a:off x="1691640" y="2167128"/>
              <a:ext cx="6263640" cy="402336"/>
            </a:xfrm>
            <a:prstGeom prst="rect">
              <a:avLst/>
            </a:prstGeom>
            <a:noFill/>
            <a:ln/>
          </p:spPr>
          <p:txBody>
            <a:bodyPr wrap="square" lIns="0" tIns="0" rIns="0" bIns="0" rtlCol="0" anchor="ctr"/>
            <a:lstStyle/>
            <a:p>
              <a:pPr marL="0" indent="0">
                <a:buNone/>
              </a:pPr>
              <a:r>
                <a:rPr lang="en-US" sz="1150" dirty="0">
                  <a:solidFill>
                    <a:srgbClr val="5A6E7A"/>
                  </a:solidFill>
                  <a:latin typeface="Calibri" pitchFamily="34" charset="0"/>
                  <a:ea typeface="Calibri" pitchFamily="34" charset="-122"/>
                  <a:cs typeface="Calibri" pitchFamily="34" charset="-120"/>
                </a:rPr>
                <a:t>Connect the computer to the robot: read sensors, send high-level commands (forward, turn, stop).</a:t>
              </a:r>
              <a:endParaRPr lang="en-US" sz="1150" dirty="0"/>
            </a:p>
          </p:txBody>
        </p:sp>
        <p:sp>
          <p:nvSpPr>
            <p:cNvPr id="11" name="Shape 9"/>
            <p:cNvSpPr/>
            <p:nvPr/>
          </p:nvSpPr>
          <p:spPr>
            <a:xfrm>
              <a:off x="1097280" y="2980944"/>
              <a:ext cx="438912" cy="438912"/>
            </a:xfrm>
            <a:prstGeom prst="ellipse">
              <a:avLst/>
            </a:prstGeom>
            <a:solidFill>
              <a:srgbClr val="0B6E75"/>
            </a:solidFill>
            <a:ln/>
          </p:spPr>
          <p:txBody>
            <a:bodyPr/>
            <a:lstStyle/>
            <a:p>
              <a:endParaRPr lang="en-US"/>
            </a:p>
          </p:txBody>
        </p:sp>
        <p:sp>
          <p:nvSpPr>
            <p:cNvPr id="12" name="Text 10"/>
            <p:cNvSpPr txBox="1"/>
            <p:nvPr/>
          </p:nvSpPr>
          <p:spPr>
            <a:xfrm>
              <a:off x="1097280" y="2980944"/>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Century Schoolbook" pitchFamily="34" charset="0"/>
                  <a:ea typeface="Century Schoolbook" pitchFamily="34" charset="-122"/>
                  <a:cs typeface="Century Schoolbook" pitchFamily="34" charset="-120"/>
                </a:rPr>
                <a:t>2</a:t>
              </a:r>
              <a:endParaRPr lang="en-US" sz="1800" dirty="0"/>
            </a:p>
          </p:txBody>
        </p:sp>
        <p:sp>
          <p:nvSpPr>
            <p:cNvPr id="13" name="Text 11"/>
            <p:cNvSpPr txBox="1"/>
            <p:nvPr/>
          </p:nvSpPr>
          <p:spPr>
            <a:xfrm>
              <a:off x="1691640" y="2843784"/>
              <a:ext cx="6217920" cy="384048"/>
            </a:xfrm>
            <a:prstGeom prst="rect">
              <a:avLst/>
            </a:prstGeom>
            <a:noFill/>
            <a:ln/>
          </p:spPr>
          <p:txBody>
            <a:bodyPr wrap="square" lIns="0" tIns="0" rIns="0" bIns="0" rtlCol="0" anchor="ctr"/>
            <a:lstStyle/>
            <a:p>
              <a:r>
                <a:rPr lang="en-US" sz="1600" dirty="0">
                  <a:solidFill>
                    <a:srgbClr val="000000"/>
                  </a:solidFill>
                  <a:effectLst/>
                  <a:latin typeface="Helvetica" pitchFamily="2" charset="0"/>
                </a:rPr>
                <a:t>Go2 Simulation Environment</a:t>
              </a:r>
            </a:p>
          </p:txBody>
        </p:sp>
        <p:sp>
          <p:nvSpPr>
            <p:cNvPr id="14" name="Text 12"/>
            <p:cNvSpPr txBox="1"/>
            <p:nvPr/>
          </p:nvSpPr>
          <p:spPr>
            <a:xfrm>
              <a:off x="1691640" y="3209544"/>
              <a:ext cx="6263640" cy="402336"/>
            </a:xfrm>
            <a:prstGeom prst="rect">
              <a:avLst/>
            </a:prstGeom>
            <a:noFill/>
            <a:ln/>
          </p:spPr>
          <p:txBody>
            <a:bodyPr wrap="square" lIns="0" tIns="0" rIns="0" bIns="0" rtlCol="0" anchor="ctr"/>
            <a:lstStyle/>
            <a:p>
              <a:pPr marL="0" indent="0">
                <a:buNone/>
              </a:pPr>
              <a:r>
                <a:rPr lang="en-US" sz="1150" dirty="0">
                  <a:solidFill>
                    <a:srgbClr val="5A6E7A"/>
                  </a:solidFill>
                  <a:latin typeface="Calibri" pitchFamily="34" charset="0"/>
                  <a:ea typeface="Calibri" pitchFamily="34" charset="-122"/>
                  <a:cs typeface="Calibri" pitchFamily="34" charset="-120"/>
                </a:rPr>
                <a:t>Set up the Go2 in NVIDIA Isaac Sim with the same controls as the real robot.</a:t>
              </a:r>
              <a:endParaRPr lang="en-US" sz="1150" dirty="0"/>
            </a:p>
          </p:txBody>
        </p:sp>
        <p:sp>
          <p:nvSpPr>
            <p:cNvPr id="16" name="Shape 14"/>
            <p:cNvSpPr/>
            <p:nvPr/>
          </p:nvSpPr>
          <p:spPr>
            <a:xfrm>
              <a:off x="1097280" y="4023360"/>
              <a:ext cx="438912" cy="438912"/>
            </a:xfrm>
            <a:prstGeom prst="ellipse">
              <a:avLst/>
            </a:prstGeom>
            <a:solidFill>
              <a:srgbClr val="0B6E75"/>
            </a:solidFill>
            <a:ln/>
          </p:spPr>
          <p:txBody>
            <a:bodyPr/>
            <a:lstStyle/>
            <a:p>
              <a:endParaRPr lang="en-US"/>
            </a:p>
          </p:txBody>
        </p:sp>
        <p:sp>
          <p:nvSpPr>
            <p:cNvPr id="17" name="Text 15"/>
            <p:cNvSpPr txBox="1"/>
            <p:nvPr/>
          </p:nvSpPr>
          <p:spPr>
            <a:xfrm>
              <a:off x="1097280" y="4023360"/>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Century Schoolbook" pitchFamily="34" charset="0"/>
                  <a:ea typeface="Century Schoolbook" pitchFamily="34" charset="-122"/>
                  <a:cs typeface="Century Schoolbook" pitchFamily="34" charset="-120"/>
                </a:rPr>
                <a:t>3</a:t>
              </a:r>
              <a:endParaRPr lang="en-US" sz="1800" dirty="0"/>
            </a:p>
          </p:txBody>
        </p:sp>
        <p:sp>
          <p:nvSpPr>
            <p:cNvPr id="18" name="Text 16"/>
            <p:cNvSpPr txBox="1"/>
            <p:nvPr/>
          </p:nvSpPr>
          <p:spPr>
            <a:xfrm>
              <a:off x="1691640" y="3886200"/>
              <a:ext cx="6217920" cy="384048"/>
            </a:xfrm>
            <a:prstGeom prst="rect">
              <a:avLst/>
            </a:prstGeom>
            <a:noFill/>
            <a:ln/>
          </p:spPr>
          <p:txBody>
            <a:bodyPr wrap="square" lIns="0" tIns="0" rIns="0" bIns="0" rtlCol="0" anchor="ctr"/>
            <a:lstStyle/>
            <a:p>
              <a:r>
                <a:rPr lang="en-US" sz="1600" dirty="0">
                  <a:solidFill>
                    <a:srgbClr val="000000"/>
                  </a:solidFill>
                  <a:effectLst/>
                  <a:latin typeface="Helvetica" pitchFamily="2" charset="0"/>
                </a:rPr>
                <a:t>VLA-Based Control in Simulation</a:t>
              </a:r>
            </a:p>
          </p:txBody>
        </p:sp>
        <p:sp>
          <p:nvSpPr>
            <p:cNvPr id="19" name="Text 17"/>
            <p:cNvSpPr txBox="1"/>
            <p:nvPr/>
          </p:nvSpPr>
          <p:spPr>
            <a:xfrm>
              <a:off x="1691640" y="4251960"/>
              <a:ext cx="6263640" cy="402336"/>
            </a:xfrm>
            <a:prstGeom prst="rect">
              <a:avLst/>
            </a:prstGeom>
            <a:noFill/>
            <a:ln/>
          </p:spPr>
          <p:txBody>
            <a:bodyPr wrap="square" lIns="0" tIns="0" rIns="0" bIns="0" rtlCol="0" anchor="ctr"/>
            <a:lstStyle/>
            <a:p>
              <a:pPr marL="0" indent="0">
                <a:buNone/>
              </a:pPr>
              <a:r>
                <a:rPr lang="en-US" sz="1150" dirty="0">
                  <a:solidFill>
                    <a:srgbClr val="5A6E7A"/>
                  </a:solidFill>
                  <a:latin typeface="Calibri" pitchFamily="34" charset="0"/>
                  <a:ea typeface="Calibri" pitchFamily="34" charset="-122"/>
                  <a:cs typeface="Calibri" pitchFamily="34" charset="-120"/>
                </a:rPr>
                <a:t>Run a pretrained VLA so the simulated Go2 follows language instructions.</a:t>
              </a:r>
              <a:endParaRPr lang="en-US" sz="1150" dirty="0"/>
            </a:p>
          </p:txBody>
        </p:sp>
        <p:sp>
          <p:nvSpPr>
            <p:cNvPr id="21" name="Shape 19"/>
            <p:cNvSpPr/>
            <p:nvPr/>
          </p:nvSpPr>
          <p:spPr>
            <a:xfrm>
              <a:off x="1097280" y="5065776"/>
              <a:ext cx="438912" cy="438912"/>
            </a:xfrm>
            <a:prstGeom prst="ellipse">
              <a:avLst/>
            </a:prstGeom>
            <a:solidFill>
              <a:srgbClr val="0B6E75"/>
            </a:solidFill>
            <a:ln/>
          </p:spPr>
          <p:txBody>
            <a:bodyPr/>
            <a:lstStyle/>
            <a:p>
              <a:endParaRPr lang="en-US"/>
            </a:p>
          </p:txBody>
        </p:sp>
        <p:sp>
          <p:nvSpPr>
            <p:cNvPr id="22" name="Text 20"/>
            <p:cNvSpPr txBox="1"/>
            <p:nvPr/>
          </p:nvSpPr>
          <p:spPr>
            <a:xfrm>
              <a:off x="1097280" y="5065776"/>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Century Schoolbook" pitchFamily="34" charset="0"/>
                  <a:ea typeface="Century Schoolbook" pitchFamily="34" charset="-122"/>
                  <a:cs typeface="Century Schoolbook" pitchFamily="34" charset="-120"/>
                </a:rPr>
                <a:t>4</a:t>
              </a:r>
              <a:endParaRPr lang="en-US" sz="1800" dirty="0"/>
            </a:p>
          </p:txBody>
        </p:sp>
        <p:sp>
          <p:nvSpPr>
            <p:cNvPr id="23" name="Text 21"/>
            <p:cNvSpPr txBox="1"/>
            <p:nvPr/>
          </p:nvSpPr>
          <p:spPr>
            <a:xfrm>
              <a:off x="1691640" y="4928616"/>
              <a:ext cx="6217920" cy="384048"/>
            </a:xfrm>
            <a:prstGeom prst="rect">
              <a:avLst/>
            </a:prstGeom>
            <a:noFill/>
            <a:ln/>
          </p:spPr>
          <p:txBody>
            <a:bodyPr wrap="square" lIns="0" tIns="0" rIns="0" bIns="0" rtlCol="0" anchor="ctr"/>
            <a:lstStyle/>
            <a:p>
              <a:r>
                <a:rPr lang="en-US" sz="1600" dirty="0">
                  <a:solidFill>
                    <a:srgbClr val="000000"/>
                  </a:solidFill>
                  <a:effectLst/>
                  <a:latin typeface="Helvetica" pitchFamily="2" charset="0"/>
                </a:rPr>
                <a:t>VLA Deployment on the Real Go2</a:t>
              </a:r>
            </a:p>
          </p:txBody>
        </p:sp>
        <p:sp>
          <p:nvSpPr>
            <p:cNvPr id="24" name="Text 22"/>
            <p:cNvSpPr txBox="1"/>
            <p:nvPr/>
          </p:nvSpPr>
          <p:spPr>
            <a:xfrm>
              <a:off x="1691640" y="5294376"/>
              <a:ext cx="6263640" cy="402336"/>
            </a:xfrm>
            <a:prstGeom prst="rect">
              <a:avLst/>
            </a:prstGeom>
            <a:noFill/>
            <a:ln/>
          </p:spPr>
          <p:txBody>
            <a:bodyPr wrap="square" lIns="0" tIns="0" rIns="0" bIns="0" rtlCol="0" anchor="ctr"/>
            <a:lstStyle/>
            <a:p>
              <a:pPr marL="0" indent="0">
                <a:buNone/>
              </a:pPr>
              <a:r>
                <a:rPr lang="en-US" sz="1150" dirty="0">
                  <a:solidFill>
                    <a:srgbClr val="5A6E7A"/>
                  </a:solidFill>
                  <a:latin typeface="Calibri" pitchFamily="34" charset="0"/>
                  <a:ea typeface="Calibri" pitchFamily="34" charset="-122"/>
                  <a:cs typeface="Calibri" pitchFamily="34" charset="-120"/>
                </a:rPr>
                <a:t>Deploy the pipeline on the physical robot via the Orin and test in the real world.</a:t>
              </a:r>
              <a:endParaRPr lang="en-US" sz="1150" dirty="0"/>
            </a:p>
          </p:txBody>
        </p:sp>
      </p:grpSp>
      <p:sp>
        <p:nvSpPr>
          <p:cNvPr id="28" name="Text 26"/>
          <p:cNvSpPr txBox="1"/>
          <p:nvPr/>
        </p:nvSpPr>
        <p:spPr>
          <a:xfrm>
            <a:off x="11612880" y="6400800"/>
            <a:ext cx="365760" cy="274320"/>
          </a:xfrm>
          <a:prstGeom prst="rect">
            <a:avLst/>
          </a:prstGeom>
          <a:noFill/>
          <a:ln/>
        </p:spPr>
        <p:txBody>
          <a:bodyPr wrap="square" lIns="0" tIns="0" rIns="0" bIns="0" rtlCol="0" anchor="ctr"/>
          <a:lstStyle/>
          <a:p>
            <a:pPr marL="0" indent="0" algn="r">
              <a:buNone/>
            </a:pPr>
            <a:r>
              <a:rPr lang="en-US" sz="1000" dirty="0">
                <a:solidFill>
                  <a:srgbClr val="5A6E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68680" y="384048"/>
            <a:ext cx="10789920" cy="640080"/>
          </a:xfrm>
          <a:prstGeom prst="rect">
            <a:avLst/>
          </a:prstGeom>
          <a:noFill/>
          <a:ln/>
        </p:spPr>
        <p:txBody>
          <a:bodyPr wrap="square" lIns="0" tIns="0" rIns="0" bIns="0" rtlCol="0" anchor="ctr"/>
          <a:lstStyle/>
          <a:p>
            <a:pPr marL="0" indent="0" algn="ctr">
              <a:buNone/>
            </a:pPr>
            <a:r>
              <a:rPr lang="en-US" sz="3000" b="1" dirty="0">
                <a:solidFill>
                  <a:srgbClr val="13293D"/>
                </a:solidFill>
                <a:latin typeface="Century Schoolbook" pitchFamily="34" charset="0"/>
                <a:ea typeface="Century Schoolbook" pitchFamily="34" charset="-122"/>
                <a:cs typeface="Century Schoolbook" pitchFamily="34" charset="-120"/>
              </a:rPr>
              <a:t>Requirements</a:t>
            </a:r>
            <a:endParaRPr lang="en-US" sz="3000" dirty="0"/>
          </a:p>
        </p:txBody>
      </p:sp>
      <p:grpSp>
        <p:nvGrpSpPr>
          <p:cNvPr id="19" name="Group 18">
            <a:extLst>
              <a:ext uri="{FF2B5EF4-FFF2-40B4-BE49-F238E27FC236}">
                <a16:creationId xmlns:a16="http://schemas.microsoft.com/office/drawing/2014/main" id="{77BE35BC-BA22-5080-A4BA-C1D57AB2CC87}"/>
              </a:ext>
            </a:extLst>
          </p:cNvPr>
          <p:cNvGrpSpPr/>
          <p:nvPr/>
        </p:nvGrpSpPr>
        <p:grpSpPr>
          <a:xfrm>
            <a:off x="1959580" y="1892808"/>
            <a:ext cx="9196100" cy="3044952"/>
            <a:chOff x="1959580" y="1892808"/>
            <a:chExt cx="9196100" cy="3044952"/>
          </a:xfrm>
        </p:grpSpPr>
        <p:sp>
          <p:nvSpPr>
            <p:cNvPr id="7" name="Text 5"/>
            <p:cNvSpPr txBox="1"/>
            <p:nvPr/>
          </p:nvSpPr>
          <p:spPr>
            <a:xfrm>
              <a:off x="3931920" y="1892808"/>
              <a:ext cx="7223760" cy="777240"/>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Unitree Go2 EDU  ·  NVIDIA Jetson Orin (onboard)  ·  LiDAR + RGB camera</a:t>
              </a:r>
              <a:endParaRPr lang="en-US" sz="1400" dirty="0"/>
            </a:p>
          </p:txBody>
        </p:sp>
        <p:sp>
          <p:nvSpPr>
            <p:cNvPr id="10" name="Text 8"/>
            <p:cNvSpPr txBox="1"/>
            <p:nvPr/>
          </p:nvSpPr>
          <p:spPr>
            <a:xfrm>
              <a:off x="3931920" y="3026664"/>
              <a:ext cx="7223760" cy="777240"/>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SLU Libra HPC cluster — a GPU with 24 GB+ memory to run the VLA and the simulation</a:t>
              </a:r>
              <a:endParaRPr lang="en-US" sz="1400" dirty="0"/>
            </a:p>
          </p:txBody>
        </p:sp>
        <p:sp>
          <p:nvSpPr>
            <p:cNvPr id="13" name="Text 11"/>
            <p:cNvSpPr txBox="1"/>
            <p:nvPr/>
          </p:nvSpPr>
          <p:spPr>
            <a:xfrm>
              <a:off x="3931920" y="4160520"/>
              <a:ext cx="7223760" cy="777240"/>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Ubuntu Linux  ·  ROS 2  ·  Unitree SDK  ·  NVIDIA Isaac Sim 4.1.0 / Isaac Lab 1.1.0  ·  Python</a:t>
              </a:r>
              <a:endParaRPr lang="en-US" sz="1400" dirty="0"/>
            </a:p>
          </p:txBody>
        </p:sp>
        <p:sp>
          <p:nvSpPr>
            <p:cNvPr id="6" name="Text 4"/>
            <p:cNvSpPr txBox="1"/>
            <p:nvPr/>
          </p:nvSpPr>
          <p:spPr>
            <a:xfrm>
              <a:off x="1959580" y="1892808"/>
              <a:ext cx="1972340" cy="777240"/>
            </a:xfrm>
            <a:prstGeom prst="rect">
              <a:avLst/>
            </a:prstGeom>
            <a:noFill/>
            <a:ln/>
          </p:spPr>
          <p:txBody>
            <a:bodyPr wrap="square" lIns="0" tIns="0" rIns="0" bIns="0" rtlCol="0" anchor="ctr"/>
            <a:lstStyle/>
            <a:p>
              <a:pPr marL="0" indent="0">
                <a:buNone/>
              </a:pPr>
              <a:r>
                <a:rPr lang="en-US" sz="1650" b="1" dirty="0">
                  <a:solidFill>
                    <a:srgbClr val="0B6E75"/>
                  </a:solidFill>
                  <a:latin typeface="Calibri" pitchFamily="34" charset="0"/>
                  <a:ea typeface="Calibri" pitchFamily="34" charset="-122"/>
                  <a:cs typeface="Calibri" pitchFamily="34" charset="-120"/>
                </a:rPr>
                <a:t>Hardware</a:t>
              </a:r>
              <a:endParaRPr lang="en-US" sz="1650" dirty="0"/>
            </a:p>
          </p:txBody>
        </p:sp>
        <p:sp>
          <p:nvSpPr>
            <p:cNvPr id="9" name="Text 7"/>
            <p:cNvSpPr txBox="1"/>
            <p:nvPr/>
          </p:nvSpPr>
          <p:spPr>
            <a:xfrm>
              <a:off x="1959580" y="3026664"/>
              <a:ext cx="1972340" cy="777240"/>
            </a:xfrm>
            <a:prstGeom prst="rect">
              <a:avLst/>
            </a:prstGeom>
            <a:noFill/>
            <a:ln/>
          </p:spPr>
          <p:txBody>
            <a:bodyPr wrap="square" lIns="0" tIns="0" rIns="0" bIns="0" rtlCol="0" anchor="ctr"/>
            <a:lstStyle/>
            <a:p>
              <a:pPr marL="0" indent="0">
                <a:buNone/>
              </a:pPr>
              <a:r>
                <a:rPr lang="en-US" sz="1650" b="1" dirty="0">
                  <a:solidFill>
                    <a:srgbClr val="0B6E75"/>
                  </a:solidFill>
                  <a:latin typeface="Calibri" pitchFamily="34" charset="0"/>
                  <a:ea typeface="Calibri" pitchFamily="34" charset="-122"/>
                  <a:cs typeface="Calibri" pitchFamily="34" charset="-120"/>
                </a:rPr>
                <a:t>Compute</a:t>
              </a:r>
              <a:endParaRPr lang="en-US" sz="1650" dirty="0"/>
            </a:p>
          </p:txBody>
        </p:sp>
        <p:sp>
          <p:nvSpPr>
            <p:cNvPr id="12" name="Text 10"/>
            <p:cNvSpPr txBox="1"/>
            <p:nvPr/>
          </p:nvSpPr>
          <p:spPr>
            <a:xfrm>
              <a:off x="1959580" y="4160520"/>
              <a:ext cx="1972340" cy="777240"/>
            </a:xfrm>
            <a:prstGeom prst="rect">
              <a:avLst/>
            </a:prstGeom>
            <a:noFill/>
            <a:ln/>
          </p:spPr>
          <p:txBody>
            <a:bodyPr wrap="square" lIns="0" tIns="0" rIns="0" bIns="0" rtlCol="0" anchor="ctr"/>
            <a:lstStyle/>
            <a:p>
              <a:pPr marL="0" indent="0">
                <a:buNone/>
              </a:pPr>
              <a:r>
                <a:rPr lang="en-US" sz="1650" b="1" dirty="0">
                  <a:solidFill>
                    <a:srgbClr val="0B6E75"/>
                  </a:solidFill>
                  <a:latin typeface="Calibri" pitchFamily="34" charset="0"/>
                  <a:ea typeface="Calibri" pitchFamily="34" charset="-122"/>
                  <a:cs typeface="Calibri" pitchFamily="34" charset="-120"/>
                </a:rPr>
                <a:t>Software</a:t>
              </a:r>
              <a:endParaRPr lang="en-US" sz="1650" dirty="0"/>
            </a:p>
          </p:txBody>
        </p:sp>
      </p:grpSp>
      <p:sp>
        <p:nvSpPr>
          <p:cNvPr id="15" name="Text 13"/>
          <p:cNvSpPr txBox="1"/>
          <p:nvPr/>
        </p:nvSpPr>
        <p:spPr>
          <a:xfrm>
            <a:off x="1959580" y="5294376"/>
            <a:ext cx="1972340" cy="777240"/>
          </a:xfrm>
          <a:prstGeom prst="rect">
            <a:avLst/>
          </a:prstGeom>
          <a:noFill/>
          <a:ln/>
        </p:spPr>
        <p:txBody>
          <a:bodyPr wrap="square" lIns="0" tIns="0" rIns="0" bIns="0" rtlCol="0" anchor="ctr"/>
          <a:lstStyle/>
          <a:p>
            <a:pPr marL="0" indent="0">
              <a:buNone/>
            </a:pPr>
            <a:r>
              <a:rPr lang="en-US" sz="1650" b="1" dirty="0">
                <a:solidFill>
                  <a:srgbClr val="0B6E75"/>
                </a:solidFill>
                <a:latin typeface="Calibri" pitchFamily="34" charset="0"/>
                <a:ea typeface="Calibri" pitchFamily="34" charset="-122"/>
                <a:cs typeface="Calibri" pitchFamily="34" charset="-120"/>
              </a:rPr>
              <a:t>Model + data</a:t>
            </a:r>
            <a:endParaRPr lang="en-US" sz="1650" dirty="0"/>
          </a:p>
        </p:txBody>
      </p:sp>
      <p:sp>
        <p:nvSpPr>
          <p:cNvPr id="16" name="Text 14"/>
          <p:cNvSpPr txBox="1"/>
          <p:nvPr/>
        </p:nvSpPr>
        <p:spPr>
          <a:xfrm>
            <a:off x="3708636" y="5216546"/>
            <a:ext cx="7223760" cy="777240"/>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A pretrained VLA checkpoint  ·  navigation datasets (R2R / </a:t>
            </a:r>
            <a:r>
              <a:rPr lang="en-US" sz="1400" dirty="0" err="1">
                <a:solidFill>
                  <a:srgbClr val="13293D"/>
                </a:solidFill>
                <a:latin typeface="Calibri" pitchFamily="34" charset="0"/>
                <a:ea typeface="Calibri" pitchFamily="34" charset="-122"/>
                <a:cs typeface="Calibri" pitchFamily="34" charset="-120"/>
              </a:rPr>
              <a:t>RxR</a:t>
            </a:r>
            <a:r>
              <a:rPr lang="en-US" sz="1400" dirty="0">
                <a:solidFill>
                  <a:srgbClr val="13293D"/>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11612880" y="6400800"/>
            <a:ext cx="365760" cy="274320"/>
          </a:xfrm>
          <a:prstGeom prst="rect">
            <a:avLst/>
          </a:prstGeom>
          <a:noFill/>
          <a:ln/>
        </p:spPr>
        <p:txBody>
          <a:bodyPr wrap="square" lIns="0" tIns="0" rIns="0" bIns="0" rtlCol="0" anchor="ctr"/>
          <a:lstStyle/>
          <a:p>
            <a:pPr marL="0" indent="0" algn="r">
              <a:buNone/>
            </a:pPr>
            <a:r>
              <a:rPr lang="en-US" sz="1000" dirty="0">
                <a:solidFill>
                  <a:srgbClr val="5A6E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68680" y="384048"/>
            <a:ext cx="10789920" cy="640080"/>
          </a:xfrm>
          <a:prstGeom prst="rect">
            <a:avLst/>
          </a:prstGeom>
          <a:noFill/>
          <a:ln/>
        </p:spPr>
        <p:txBody>
          <a:bodyPr wrap="square" lIns="0" tIns="0" rIns="0" bIns="0" rtlCol="0" anchor="ctr"/>
          <a:lstStyle/>
          <a:p>
            <a:pPr marL="0" indent="0" algn="ctr">
              <a:buNone/>
            </a:pPr>
            <a:r>
              <a:rPr lang="en-US" sz="3000" b="1" dirty="0">
                <a:solidFill>
                  <a:srgbClr val="13293D"/>
                </a:solidFill>
                <a:latin typeface="Century Schoolbook" pitchFamily="34" charset="0"/>
                <a:ea typeface="Century Schoolbook" pitchFamily="34" charset="-122"/>
                <a:cs typeface="Century Schoolbook" pitchFamily="34" charset="-120"/>
              </a:rPr>
              <a:t>Code &amp; resources</a:t>
            </a:r>
            <a:endParaRPr lang="en-US" sz="3000" dirty="0"/>
          </a:p>
        </p:txBody>
      </p:sp>
      <p:sp>
        <p:nvSpPr>
          <p:cNvPr id="8" name="Text 6"/>
          <p:cNvSpPr txBox="1"/>
          <p:nvPr/>
        </p:nvSpPr>
        <p:spPr>
          <a:xfrm>
            <a:off x="2147777" y="2240280"/>
            <a:ext cx="2530549" cy="411480"/>
          </a:xfrm>
          <a:prstGeom prst="rect">
            <a:avLst/>
          </a:prstGeom>
          <a:noFill/>
          <a:ln/>
        </p:spPr>
        <p:txBody>
          <a:bodyPr wrap="square" lIns="0" tIns="0" rIns="0" bIns="0" rtlCol="0" anchor="ctr"/>
          <a:lstStyle/>
          <a:p>
            <a:pPr marL="0" indent="0">
              <a:buNone/>
            </a:pPr>
            <a:r>
              <a:rPr lang="en-US" sz="1800" b="1" dirty="0">
                <a:solidFill>
                  <a:srgbClr val="13293D"/>
                </a:solidFill>
                <a:latin typeface="Calibri" pitchFamily="34" charset="0"/>
                <a:ea typeface="Calibri" pitchFamily="34" charset="-122"/>
                <a:cs typeface="Calibri" pitchFamily="34" charset="-120"/>
              </a:rPr>
              <a:t>Unitree Go2 SDK</a:t>
            </a:r>
            <a:endParaRPr lang="en-US" sz="1800" dirty="0"/>
          </a:p>
        </p:txBody>
      </p:sp>
      <p:sp>
        <p:nvSpPr>
          <p:cNvPr id="10" name="Text 8"/>
          <p:cNvSpPr txBox="1"/>
          <p:nvPr/>
        </p:nvSpPr>
        <p:spPr>
          <a:xfrm>
            <a:off x="2030818" y="2889504"/>
            <a:ext cx="3810709" cy="822960"/>
          </a:xfrm>
          <a:prstGeom prst="rect">
            <a:avLst/>
          </a:prstGeom>
          <a:noFill/>
          <a:ln/>
        </p:spPr>
        <p:txBody>
          <a:bodyPr wrap="square" lIns="0" tIns="0" rIns="0" bIns="0" rtlCol="0" anchor="ctr"/>
          <a:lstStyle/>
          <a:p>
            <a:pPr marL="0" indent="0">
              <a:lnSpc>
                <a:spcPct val="110000"/>
              </a:lnSpc>
              <a:buNone/>
            </a:pPr>
            <a:r>
              <a:rPr lang="en-US" sz="1400" b="1" dirty="0">
                <a:solidFill>
                  <a:srgbClr val="0B6E75"/>
                </a:solidFill>
                <a:latin typeface="Calibri" pitchFamily="34" charset="0"/>
                <a:ea typeface="Calibri" pitchFamily="34" charset="-122"/>
                <a:cs typeface="Calibri" pitchFamily="34" charset="-120"/>
              </a:rPr>
              <a:t>github.com/unitreerobotics/</a:t>
            </a:r>
            <a:endParaRPr lang="en-US" sz="1400" dirty="0"/>
          </a:p>
          <a:p>
            <a:pPr marL="0" indent="0">
              <a:lnSpc>
                <a:spcPct val="110000"/>
              </a:lnSpc>
              <a:buNone/>
            </a:pPr>
            <a:r>
              <a:rPr lang="en-US" sz="1400" b="1" dirty="0">
                <a:solidFill>
                  <a:srgbClr val="0B6E75"/>
                </a:solidFill>
                <a:latin typeface="Calibri" pitchFamily="34" charset="0"/>
                <a:ea typeface="Calibri" pitchFamily="34" charset="-122"/>
                <a:cs typeface="Calibri" pitchFamily="34" charset="-120"/>
              </a:rPr>
              <a:t>unitree_sdk2_python</a:t>
            </a:r>
            <a:endParaRPr lang="en-US" sz="1400" dirty="0"/>
          </a:p>
        </p:txBody>
      </p:sp>
      <p:sp>
        <p:nvSpPr>
          <p:cNvPr id="14" name="Text 12"/>
          <p:cNvSpPr txBox="1"/>
          <p:nvPr/>
        </p:nvSpPr>
        <p:spPr>
          <a:xfrm>
            <a:off x="7132320" y="2240280"/>
            <a:ext cx="3931920" cy="411480"/>
          </a:xfrm>
          <a:prstGeom prst="rect">
            <a:avLst/>
          </a:prstGeom>
          <a:noFill/>
          <a:ln/>
        </p:spPr>
        <p:txBody>
          <a:bodyPr wrap="square" lIns="0" tIns="0" rIns="0" bIns="0" rtlCol="0" anchor="ctr"/>
          <a:lstStyle/>
          <a:p>
            <a:pPr marL="0" indent="0">
              <a:buNone/>
            </a:pPr>
            <a:r>
              <a:rPr lang="en-US" sz="1800" b="1" dirty="0">
                <a:latin typeface="Calibri" pitchFamily="34" charset="0"/>
                <a:ea typeface="Calibri" pitchFamily="34" charset="-122"/>
                <a:cs typeface="Calibri" pitchFamily="34" charset="-120"/>
              </a:rPr>
              <a:t>My project repo</a:t>
            </a:r>
            <a:endParaRPr lang="en-US" sz="1800" dirty="0"/>
          </a:p>
        </p:txBody>
      </p:sp>
      <p:sp>
        <p:nvSpPr>
          <p:cNvPr id="16" name="Text 14"/>
          <p:cNvSpPr txBox="1"/>
          <p:nvPr/>
        </p:nvSpPr>
        <p:spPr>
          <a:xfrm>
            <a:off x="6446520" y="2834640"/>
            <a:ext cx="4663440" cy="822960"/>
          </a:xfrm>
          <a:prstGeom prst="rect">
            <a:avLst/>
          </a:prstGeom>
          <a:noFill/>
          <a:ln/>
        </p:spPr>
        <p:txBody>
          <a:bodyPr wrap="square" lIns="0" tIns="0" rIns="0" bIns="0" rtlCol="0" anchor="ctr"/>
          <a:lstStyle/>
          <a:p>
            <a:pPr marL="0" indent="0">
              <a:lnSpc>
                <a:spcPct val="110000"/>
              </a:lnSpc>
              <a:buNone/>
            </a:pPr>
            <a:r>
              <a:rPr lang="en-US" sz="1400" dirty="0"/>
              <a:t>https://</a:t>
            </a:r>
            <a:r>
              <a:rPr lang="en-US" sz="1400" dirty="0" err="1"/>
              <a:t>github.com</a:t>
            </a:r>
            <a:r>
              <a:rPr lang="en-US" sz="1400" dirty="0"/>
              <a:t>/Prachi817/go2-vla-navigation</a:t>
            </a:r>
          </a:p>
        </p:txBody>
      </p:sp>
      <p:sp>
        <p:nvSpPr>
          <p:cNvPr id="18" name="Text 16"/>
          <p:cNvSpPr txBox="1"/>
          <p:nvPr/>
        </p:nvSpPr>
        <p:spPr>
          <a:xfrm>
            <a:off x="11612880" y="6400800"/>
            <a:ext cx="365760" cy="274320"/>
          </a:xfrm>
          <a:prstGeom prst="rect">
            <a:avLst/>
          </a:prstGeom>
          <a:noFill/>
          <a:ln/>
        </p:spPr>
        <p:txBody>
          <a:bodyPr wrap="square" lIns="0" tIns="0" rIns="0" bIns="0" rtlCol="0" anchor="ctr"/>
          <a:lstStyle/>
          <a:p>
            <a:pPr marL="0" indent="0" algn="r">
              <a:buNone/>
            </a:pPr>
            <a:r>
              <a:rPr lang="en-US" sz="1000" dirty="0">
                <a:solidFill>
                  <a:srgbClr val="5A6E7A"/>
                </a:solidFill>
                <a:latin typeface="Calibri" pitchFamily="34" charset="0"/>
                <a:ea typeface="Calibri" pitchFamily="34" charset="-122"/>
                <a:cs typeface="Calibri" pitchFamily="34" charset="-120"/>
              </a:rPr>
              <a:t>5</a:t>
            </a:r>
            <a:endParaRPr lang="en-US" sz="1000" dirty="0"/>
          </a:p>
        </p:txBody>
      </p:sp>
      <p:sp>
        <p:nvSpPr>
          <p:cNvPr id="19" name="TextBox 18">
            <a:extLst>
              <a:ext uri="{FF2B5EF4-FFF2-40B4-BE49-F238E27FC236}">
                <a16:creationId xmlns:a16="http://schemas.microsoft.com/office/drawing/2014/main" id="{72446A74-E51A-5C4B-BDD0-3CFD593E8968}"/>
              </a:ext>
            </a:extLst>
          </p:cNvPr>
          <p:cNvSpPr txBox="1"/>
          <p:nvPr/>
        </p:nvSpPr>
        <p:spPr>
          <a:xfrm>
            <a:off x="2030818" y="4646428"/>
            <a:ext cx="3444949" cy="646331"/>
          </a:xfrm>
          <a:prstGeom prst="rect">
            <a:avLst/>
          </a:prstGeom>
          <a:noFill/>
        </p:spPr>
        <p:txBody>
          <a:bodyPr wrap="square" rtlCol="0">
            <a:spAutoFit/>
          </a:bodyPr>
          <a:lstStyle/>
          <a:p>
            <a:r>
              <a:rPr lang="en-US" dirty="0">
                <a:hlinkClick r:id="rId3"/>
              </a:rPr>
              <a:t>https://navila-bot.github.io/</a:t>
            </a:r>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68680" y="384048"/>
            <a:ext cx="10789920" cy="640080"/>
          </a:xfrm>
          <a:prstGeom prst="rect">
            <a:avLst/>
          </a:prstGeom>
          <a:noFill/>
          <a:ln/>
        </p:spPr>
        <p:txBody>
          <a:bodyPr wrap="square" lIns="0" tIns="0" rIns="0" bIns="0" rtlCol="0" anchor="ctr"/>
          <a:lstStyle/>
          <a:p>
            <a:pPr marL="0" indent="0" algn="ctr">
              <a:buNone/>
            </a:pPr>
            <a:r>
              <a:rPr lang="en-US" sz="3000" b="1" dirty="0">
                <a:solidFill>
                  <a:srgbClr val="13293D"/>
                </a:solidFill>
                <a:latin typeface="Century Schoolbook" pitchFamily="34" charset="0"/>
                <a:ea typeface="Century Schoolbook" pitchFamily="34" charset="-122"/>
                <a:cs typeface="Century Schoolbook" pitchFamily="34" charset="-120"/>
              </a:rPr>
              <a:t>Related Papers </a:t>
            </a:r>
            <a:endParaRPr lang="en-US" sz="3000" dirty="0"/>
          </a:p>
        </p:txBody>
      </p:sp>
      <p:sp>
        <p:nvSpPr>
          <p:cNvPr id="17" name="Text 15"/>
          <p:cNvSpPr txBox="1"/>
          <p:nvPr/>
        </p:nvSpPr>
        <p:spPr>
          <a:xfrm>
            <a:off x="8140181" y="1939590"/>
            <a:ext cx="2880360" cy="457200"/>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3.TrackVLA</a:t>
            </a:r>
            <a:endParaRPr lang="en-US" sz="1400" dirty="0"/>
          </a:p>
        </p:txBody>
      </p:sp>
      <p:sp>
        <p:nvSpPr>
          <p:cNvPr id="18" name="Text 16"/>
          <p:cNvSpPr txBox="1"/>
          <p:nvPr/>
        </p:nvSpPr>
        <p:spPr>
          <a:xfrm>
            <a:off x="8135609" y="2282596"/>
            <a:ext cx="2880360" cy="658368"/>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A VLA that follows a moving target (runs on a Go2)</a:t>
            </a:r>
            <a:endParaRPr lang="en-US" sz="1400" dirty="0"/>
          </a:p>
        </p:txBody>
      </p:sp>
      <p:grpSp>
        <p:nvGrpSpPr>
          <p:cNvPr id="28" name="Group 27">
            <a:extLst>
              <a:ext uri="{FF2B5EF4-FFF2-40B4-BE49-F238E27FC236}">
                <a16:creationId xmlns:a16="http://schemas.microsoft.com/office/drawing/2014/main" id="{E0E7CA57-17B1-2C2A-64C4-0177509F3875}"/>
              </a:ext>
            </a:extLst>
          </p:cNvPr>
          <p:cNvGrpSpPr/>
          <p:nvPr/>
        </p:nvGrpSpPr>
        <p:grpSpPr>
          <a:xfrm>
            <a:off x="948425" y="1476862"/>
            <a:ext cx="7918704" cy="3739896"/>
            <a:chOff x="1097280" y="1965960"/>
            <a:chExt cx="7918704" cy="3739896"/>
          </a:xfrm>
        </p:grpSpPr>
        <p:sp>
          <p:nvSpPr>
            <p:cNvPr id="8" name="Text 6"/>
            <p:cNvSpPr txBox="1"/>
            <p:nvPr/>
          </p:nvSpPr>
          <p:spPr>
            <a:xfrm>
              <a:off x="1097280" y="1965960"/>
              <a:ext cx="731520" cy="548640"/>
            </a:xfrm>
            <a:prstGeom prst="rect">
              <a:avLst/>
            </a:prstGeom>
            <a:noFill/>
            <a:ln/>
          </p:spPr>
          <p:txBody>
            <a:bodyPr wrap="square" lIns="0" tIns="0" rIns="0" bIns="0" rtlCol="0" anchor="ctr"/>
            <a:lstStyle/>
            <a:p>
              <a:pPr marL="0" indent="0">
                <a:buNone/>
              </a:pPr>
              <a:endParaRPr lang="en-US" sz="1400" dirty="0"/>
            </a:p>
          </p:txBody>
        </p:sp>
        <p:sp>
          <p:nvSpPr>
            <p:cNvPr id="9" name="Text 7"/>
            <p:cNvSpPr txBox="1"/>
            <p:nvPr/>
          </p:nvSpPr>
          <p:spPr>
            <a:xfrm>
              <a:off x="1097280" y="2496312"/>
              <a:ext cx="2880360" cy="45720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1.NaVILA</a:t>
              </a:r>
              <a:endParaRPr lang="en-US" sz="1400" dirty="0"/>
            </a:p>
          </p:txBody>
        </p:sp>
        <p:sp>
          <p:nvSpPr>
            <p:cNvPr id="10" name="Text 8"/>
            <p:cNvSpPr txBox="1"/>
            <p:nvPr/>
          </p:nvSpPr>
          <p:spPr>
            <a:xfrm>
              <a:off x="1097280" y="2916936"/>
              <a:ext cx="2880360" cy="658368"/>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Legged robot follows language using a VLA + a walking policy</a:t>
              </a:r>
              <a:endParaRPr lang="en-US" sz="1400" dirty="0"/>
            </a:p>
          </p:txBody>
        </p:sp>
        <p:sp>
          <p:nvSpPr>
            <p:cNvPr id="13" name="Text 11"/>
            <p:cNvSpPr txBox="1"/>
            <p:nvPr/>
          </p:nvSpPr>
          <p:spPr>
            <a:xfrm>
              <a:off x="4690872" y="2496312"/>
              <a:ext cx="2880360" cy="45720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2.MobileVLA-R1</a:t>
              </a:r>
              <a:endParaRPr lang="en-US" sz="1400" dirty="0"/>
            </a:p>
          </p:txBody>
        </p:sp>
        <p:sp>
          <p:nvSpPr>
            <p:cNvPr id="14" name="Text 12"/>
            <p:cNvSpPr txBox="1"/>
            <p:nvPr/>
          </p:nvSpPr>
          <p:spPr>
            <a:xfrm>
              <a:off x="4690872" y="2916936"/>
              <a:ext cx="2880360" cy="658368"/>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Adds step-by-step reasoning, trained with reinforcement learning</a:t>
              </a:r>
              <a:endParaRPr lang="en-US" sz="1400" dirty="0"/>
            </a:p>
          </p:txBody>
        </p:sp>
        <p:sp>
          <p:nvSpPr>
            <p:cNvPr id="16" name="Text 14"/>
            <p:cNvSpPr txBox="1"/>
            <p:nvPr/>
          </p:nvSpPr>
          <p:spPr>
            <a:xfrm>
              <a:off x="8284464" y="1965960"/>
              <a:ext cx="731520" cy="548640"/>
            </a:xfrm>
            <a:prstGeom prst="rect">
              <a:avLst/>
            </a:prstGeom>
            <a:noFill/>
            <a:ln/>
          </p:spPr>
          <p:txBody>
            <a:bodyPr wrap="square" lIns="0" tIns="0" rIns="0" bIns="0" rtlCol="0" anchor="ctr"/>
            <a:lstStyle/>
            <a:p>
              <a:pPr marL="0" indent="0">
                <a:buNone/>
              </a:pPr>
              <a:endParaRPr lang="en-US" sz="1400" dirty="0"/>
            </a:p>
          </p:txBody>
        </p:sp>
        <p:sp>
          <p:nvSpPr>
            <p:cNvPr id="21" name="Text 19"/>
            <p:cNvSpPr txBox="1"/>
            <p:nvPr/>
          </p:nvSpPr>
          <p:spPr>
            <a:xfrm>
              <a:off x="1097280" y="4626864"/>
              <a:ext cx="2880360" cy="45720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4.MoRE</a:t>
              </a:r>
              <a:endParaRPr lang="en-US" sz="1400" dirty="0"/>
            </a:p>
          </p:txBody>
        </p:sp>
        <p:sp>
          <p:nvSpPr>
            <p:cNvPr id="22" name="Text 20"/>
            <p:cNvSpPr txBox="1"/>
            <p:nvPr/>
          </p:nvSpPr>
          <p:spPr>
            <a:xfrm>
              <a:off x="1097280" y="5047488"/>
              <a:ext cx="2880360" cy="658368"/>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Scales up training for quadruped VLAs (runs on a Go2)</a:t>
              </a:r>
              <a:endParaRPr lang="en-US" sz="1400" dirty="0"/>
            </a:p>
          </p:txBody>
        </p:sp>
        <p:sp>
          <p:nvSpPr>
            <p:cNvPr id="25" name="Text 23"/>
            <p:cNvSpPr txBox="1"/>
            <p:nvPr/>
          </p:nvSpPr>
          <p:spPr>
            <a:xfrm>
              <a:off x="4690872" y="4626864"/>
              <a:ext cx="2880360" cy="45720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5.Token Pruning</a:t>
              </a:r>
              <a:endParaRPr lang="en-US" sz="1400" dirty="0"/>
            </a:p>
          </p:txBody>
        </p:sp>
        <p:sp>
          <p:nvSpPr>
            <p:cNvPr id="26" name="Text 24"/>
            <p:cNvSpPr txBox="1"/>
            <p:nvPr/>
          </p:nvSpPr>
          <p:spPr>
            <a:xfrm>
              <a:off x="4690872" y="5047488"/>
              <a:ext cx="2880360" cy="658368"/>
            </a:xfrm>
            <a:prstGeom prst="rect">
              <a:avLst/>
            </a:prstGeom>
            <a:noFill/>
            <a:ln/>
          </p:spPr>
          <p:txBody>
            <a:bodyPr wrap="square" lIns="0" tIns="0" rIns="0" bIns="0" rtlCol="0" anchor="ctr"/>
            <a:lstStyle/>
            <a:p>
              <a:pPr marL="0" indent="0">
                <a:buNone/>
              </a:pPr>
              <a:r>
                <a:rPr lang="en-US" sz="1400" dirty="0">
                  <a:latin typeface="Calibri" pitchFamily="34" charset="0"/>
                  <a:ea typeface="Calibri" pitchFamily="34" charset="-122"/>
                  <a:cs typeface="Calibri" pitchFamily="34" charset="-120"/>
                </a:rPr>
                <a:t>Makes navigation models faster (runs on a Go2)</a:t>
              </a:r>
              <a:endParaRPr lang="en-US" sz="1400" dirty="0"/>
            </a:p>
          </p:txBody>
        </p:sp>
      </p:grpSp>
      <p:sp>
        <p:nvSpPr>
          <p:cNvPr id="27" name="Text 25"/>
          <p:cNvSpPr txBox="1"/>
          <p:nvPr/>
        </p:nvSpPr>
        <p:spPr>
          <a:xfrm>
            <a:off x="11612880" y="6400800"/>
            <a:ext cx="365760" cy="274320"/>
          </a:xfrm>
          <a:prstGeom prst="rect">
            <a:avLst/>
          </a:prstGeom>
          <a:noFill/>
          <a:ln/>
        </p:spPr>
        <p:txBody>
          <a:bodyPr wrap="square" lIns="0" tIns="0" rIns="0" bIns="0" rtlCol="0" anchor="ctr"/>
          <a:lstStyle/>
          <a:p>
            <a:pPr marL="0" indent="0" algn="r">
              <a:buNone/>
            </a:pPr>
            <a:r>
              <a:rPr lang="en-US" sz="1400" dirty="0">
                <a:solidFill>
                  <a:srgbClr val="5A6E7A"/>
                </a:solidFill>
                <a:latin typeface="Calibri" pitchFamily="34" charset="0"/>
                <a:ea typeface="Calibri" pitchFamily="34" charset="-122"/>
                <a:cs typeface="Calibri"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68680" y="384048"/>
            <a:ext cx="10789920" cy="640080"/>
          </a:xfrm>
          <a:prstGeom prst="rect">
            <a:avLst/>
          </a:prstGeom>
          <a:noFill/>
          <a:ln/>
        </p:spPr>
        <p:txBody>
          <a:bodyPr wrap="square" lIns="0" tIns="0" rIns="0" bIns="0" rtlCol="0" anchor="ctr"/>
          <a:lstStyle/>
          <a:p>
            <a:pPr marL="0" indent="0" algn="ctr">
              <a:buNone/>
            </a:pPr>
            <a:r>
              <a:rPr lang="en-US" sz="3000" b="1" dirty="0">
                <a:solidFill>
                  <a:srgbClr val="13293D"/>
                </a:solidFill>
                <a:latin typeface="Century Schoolbook" pitchFamily="34" charset="0"/>
                <a:ea typeface="Century Schoolbook" pitchFamily="34" charset="-122"/>
                <a:cs typeface="Century Schoolbook" pitchFamily="34" charset="-120"/>
              </a:rPr>
              <a:t>NaVILA</a:t>
            </a:r>
            <a:endParaRPr lang="en-US" sz="3000" dirty="0"/>
          </a:p>
        </p:txBody>
      </p:sp>
      <p:sp>
        <p:nvSpPr>
          <p:cNvPr id="6" name="Text 4"/>
          <p:cNvSpPr txBox="1"/>
          <p:nvPr/>
        </p:nvSpPr>
        <p:spPr>
          <a:xfrm>
            <a:off x="1097280" y="1965960"/>
            <a:ext cx="5943600" cy="365760"/>
          </a:xfrm>
          <a:prstGeom prst="rect">
            <a:avLst/>
          </a:prstGeom>
          <a:noFill/>
          <a:ln/>
        </p:spPr>
        <p:txBody>
          <a:bodyPr wrap="square" lIns="0" tIns="0" rIns="0" bIns="0" rtlCol="0" anchor="ctr"/>
          <a:lstStyle/>
          <a:p>
            <a:pPr marL="0" indent="0" algn="ctr">
              <a:buNone/>
            </a:pPr>
            <a:r>
              <a:rPr lang="en-US" sz="1600" b="1" dirty="0">
                <a:solidFill>
                  <a:srgbClr val="0B6E75"/>
                </a:solidFill>
                <a:latin typeface="Calibri" pitchFamily="34" charset="0"/>
                <a:ea typeface="Calibri" pitchFamily="34" charset="-122"/>
                <a:cs typeface="Calibri" pitchFamily="34" charset="-120"/>
              </a:rPr>
              <a:t>What it does</a:t>
            </a:r>
            <a:endParaRPr lang="en-US" sz="1600" dirty="0"/>
          </a:p>
        </p:txBody>
      </p:sp>
      <p:sp>
        <p:nvSpPr>
          <p:cNvPr id="7" name="Text 5"/>
          <p:cNvSpPr txBox="1"/>
          <p:nvPr/>
        </p:nvSpPr>
        <p:spPr>
          <a:xfrm>
            <a:off x="3291840" y="2331720"/>
            <a:ext cx="5943600" cy="2880360"/>
          </a:xfrm>
          <a:prstGeom prst="rect">
            <a:avLst/>
          </a:prstGeom>
          <a:noFill/>
          <a:ln/>
        </p:spPr>
        <p:txBody>
          <a:bodyPr wrap="square" lIns="0" tIns="0" rIns="0" bIns="0" rtlCol="0" anchor="t"/>
          <a:lstStyle/>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Splits the job in two: a “brain” (vision-language model) and “legs” (walking policy).</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The brain reads camera + instruction and outputs a simple command like “move forward 75 cm.”</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The legs turn that into real walking and avoid obstacles in real time.</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Works with just a camera; runs on Go2, H1, and T1 robots.</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~17% more better than previous benchmark.</a:t>
            </a:r>
            <a:endParaRPr lang="en-US" sz="1450" dirty="0"/>
          </a:p>
        </p:txBody>
      </p:sp>
      <p:sp>
        <p:nvSpPr>
          <p:cNvPr id="11" name="Text 9"/>
          <p:cNvSpPr txBox="1"/>
          <p:nvPr/>
        </p:nvSpPr>
        <p:spPr>
          <a:xfrm>
            <a:off x="868680" y="864108"/>
            <a:ext cx="10058400" cy="320040"/>
          </a:xfrm>
          <a:prstGeom prst="rect">
            <a:avLst/>
          </a:prstGeom>
          <a:noFill/>
          <a:ln/>
        </p:spPr>
        <p:txBody>
          <a:bodyPr wrap="square" lIns="0" tIns="0" rIns="0" bIns="0" rtlCol="0" anchor="ctr"/>
          <a:lstStyle/>
          <a:p>
            <a:pPr marL="0" indent="0" algn="ctr">
              <a:buNone/>
            </a:pPr>
            <a:r>
              <a:rPr lang="en-US" sz="1100" i="1" dirty="0">
                <a:solidFill>
                  <a:srgbClr val="5A6E7A"/>
                </a:solidFill>
                <a:latin typeface="Calibri" pitchFamily="34" charset="0"/>
                <a:ea typeface="Calibri" pitchFamily="34" charset="-122"/>
                <a:cs typeface="Calibri" pitchFamily="34" charset="-120"/>
              </a:rPr>
              <a:t>Cheng et al., RSS 2025  ·  arXiv 2412.04453</a:t>
            </a:r>
            <a:endParaRPr lang="en-US" sz="1100" dirty="0"/>
          </a:p>
        </p:txBody>
      </p:sp>
      <p:sp>
        <p:nvSpPr>
          <p:cNvPr id="12" name="Text 10"/>
          <p:cNvSpPr txBox="1"/>
          <p:nvPr/>
        </p:nvSpPr>
        <p:spPr>
          <a:xfrm>
            <a:off x="11612880" y="6400800"/>
            <a:ext cx="365760" cy="274320"/>
          </a:xfrm>
          <a:prstGeom prst="rect">
            <a:avLst/>
          </a:prstGeom>
          <a:noFill/>
          <a:ln/>
        </p:spPr>
        <p:txBody>
          <a:bodyPr wrap="square" lIns="0" tIns="0" rIns="0" bIns="0" rtlCol="0" anchor="ctr"/>
          <a:lstStyle/>
          <a:p>
            <a:pPr marL="0" indent="0" algn="r">
              <a:buNone/>
            </a:pPr>
            <a:r>
              <a:rPr lang="en-US" sz="1000" dirty="0">
                <a:solidFill>
                  <a:srgbClr val="5A6E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room&#10;&#10;AI-generated content may be incorrect.">
            <a:extLst>
              <a:ext uri="{FF2B5EF4-FFF2-40B4-BE49-F238E27FC236}">
                <a16:creationId xmlns:a16="http://schemas.microsoft.com/office/drawing/2014/main" id="{A444E38D-A33E-84E0-0C4D-AAE4E4CAA429}"/>
              </a:ext>
            </a:extLst>
          </p:cNvPr>
          <p:cNvPicPr>
            <a:picLocks noChangeAspect="1"/>
          </p:cNvPicPr>
          <p:nvPr/>
        </p:nvPicPr>
        <p:blipFill>
          <a:blip r:embed="rId2"/>
          <a:stretch>
            <a:fillRect/>
          </a:stretch>
        </p:blipFill>
        <p:spPr>
          <a:xfrm>
            <a:off x="609600" y="906694"/>
            <a:ext cx="11247120" cy="4914986"/>
          </a:xfrm>
          <a:prstGeom prst="rect">
            <a:avLst/>
          </a:prstGeom>
        </p:spPr>
      </p:pic>
      <p:sp>
        <p:nvSpPr>
          <p:cNvPr id="4" name="TextBox 3">
            <a:extLst>
              <a:ext uri="{FF2B5EF4-FFF2-40B4-BE49-F238E27FC236}">
                <a16:creationId xmlns:a16="http://schemas.microsoft.com/office/drawing/2014/main" id="{F4873367-F6F8-37A4-F1A0-5819292BC54C}"/>
              </a:ext>
            </a:extLst>
          </p:cNvPr>
          <p:cNvSpPr txBox="1"/>
          <p:nvPr/>
        </p:nvSpPr>
        <p:spPr>
          <a:xfrm>
            <a:off x="2286000" y="697468"/>
            <a:ext cx="7467600" cy="369332"/>
          </a:xfrm>
          <a:prstGeom prst="rect">
            <a:avLst/>
          </a:prstGeom>
          <a:noFill/>
        </p:spPr>
        <p:txBody>
          <a:bodyPr wrap="square" rtlCol="0">
            <a:spAutoFit/>
          </a:bodyPr>
          <a:lstStyle/>
          <a:p>
            <a:r>
              <a:rPr lang="en-US" dirty="0"/>
              <a:t>the architecture diagram showing how the whole system works end to end</a:t>
            </a:r>
          </a:p>
        </p:txBody>
      </p:sp>
    </p:spTree>
    <p:extLst>
      <p:ext uri="{BB962C8B-B14F-4D97-AF65-F5344CB8AC3E}">
        <p14:creationId xmlns:p14="http://schemas.microsoft.com/office/powerpoint/2010/main" val="2984042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table with numbers and a number of objects&#10;&#10;AI-generated content may be incorrect.">
            <a:extLst>
              <a:ext uri="{FF2B5EF4-FFF2-40B4-BE49-F238E27FC236}">
                <a16:creationId xmlns:a16="http://schemas.microsoft.com/office/drawing/2014/main" id="{4A7916B3-4AD7-3C3C-FC7B-C4EA9395C001}"/>
              </a:ext>
            </a:extLst>
          </p:cNvPr>
          <p:cNvPicPr>
            <a:picLocks noChangeAspect="1"/>
          </p:cNvPicPr>
          <p:nvPr/>
        </p:nvPicPr>
        <p:blipFill>
          <a:blip r:embed="rId2"/>
          <a:stretch>
            <a:fillRect/>
          </a:stretch>
        </p:blipFill>
        <p:spPr>
          <a:xfrm>
            <a:off x="1178560" y="898123"/>
            <a:ext cx="9225280" cy="4700037"/>
          </a:xfrm>
          <a:prstGeom prst="rect">
            <a:avLst/>
          </a:prstGeom>
        </p:spPr>
      </p:pic>
    </p:spTree>
    <p:extLst>
      <p:ext uri="{BB962C8B-B14F-4D97-AF65-F5344CB8AC3E}">
        <p14:creationId xmlns:p14="http://schemas.microsoft.com/office/powerpoint/2010/main" val="2166519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68680" y="384048"/>
            <a:ext cx="10789920" cy="640080"/>
          </a:xfrm>
          <a:prstGeom prst="rect">
            <a:avLst/>
          </a:prstGeom>
          <a:noFill/>
          <a:ln/>
        </p:spPr>
        <p:txBody>
          <a:bodyPr wrap="square" lIns="0" tIns="0" rIns="0" bIns="0" rtlCol="0" anchor="ctr"/>
          <a:lstStyle/>
          <a:p>
            <a:pPr marL="0" indent="0" algn="ctr">
              <a:buNone/>
            </a:pPr>
            <a:r>
              <a:rPr lang="en-US" sz="3000" b="1" dirty="0">
                <a:solidFill>
                  <a:srgbClr val="13293D"/>
                </a:solidFill>
                <a:latin typeface="Century Schoolbook" pitchFamily="34" charset="0"/>
                <a:ea typeface="Century Schoolbook" pitchFamily="34" charset="-122"/>
                <a:cs typeface="Century Schoolbook" pitchFamily="34" charset="-120"/>
              </a:rPr>
              <a:t>MobileVLA-R1</a:t>
            </a:r>
            <a:endParaRPr lang="en-US" sz="3000" dirty="0"/>
          </a:p>
        </p:txBody>
      </p:sp>
      <p:sp>
        <p:nvSpPr>
          <p:cNvPr id="4" name="Text 2"/>
          <p:cNvSpPr txBox="1"/>
          <p:nvPr/>
        </p:nvSpPr>
        <p:spPr>
          <a:xfrm>
            <a:off x="868680" y="1373408"/>
            <a:ext cx="10607040" cy="365760"/>
          </a:xfrm>
          <a:prstGeom prst="rect">
            <a:avLst/>
          </a:prstGeom>
          <a:noFill/>
          <a:ln/>
        </p:spPr>
        <p:txBody>
          <a:bodyPr wrap="square" lIns="0" tIns="0" rIns="0" bIns="0" rtlCol="0" anchor="ctr"/>
          <a:lstStyle/>
          <a:p>
            <a:pPr marL="0" indent="0" algn="ctr">
              <a:buNone/>
            </a:pPr>
            <a:r>
              <a:rPr lang="en-US" sz="1500" i="1" dirty="0">
                <a:solidFill>
                  <a:srgbClr val="0B6E75"/>
                </a:solidFill>
                <a:latin typeface="Calibri" pitchFamily="34" charset="0"/>
                <a:ea typeface="Calibri" pitchFamily="34" charset="-122"/>
                <a:cs typeface="Calibri" pitchFamily="34" charset="-120"/>
              </a:rPr>
              <a:t>Adds reasoning, trained with reinforcement learning</a:t>
            </a:r>
            <a:endParaRPr lang="en-US" sz="1500" dirty="0"/>
          </a:p>
        </p:txBody>
      </p:sp>
      <p:sp>
        <p:nvSpPr>
          <p:cNvPr id="6" name="Text 4"/>
          <p:cNvSpPr txBox="1"/>
          <p:nvPr/>
        </p:nvSpPr>
        <p:spPr>
          <a:xfrm>
            <a:off x="3576320" y="1960880"/>
            <a:ext cx="5943600" cy="365760"/>
          </a:xfrm>
          <a:prstGeom prst="rect">
            <a:avLst/>
          </a:prstGeom>
          <a:noFill/>
          <a:ln/>
        </p:spPr>
        <p:txBody>
          <a:bodyPr wrap="square" lIns="0" tIns="0" rIns="0" bIns="0" rtlCol="0" anchor="ctr"/>
          <a:lstStyle/>
          <a:p>
            <a:pPr marL="0" indent="0">
              <a:buNone/>
            </a:pPr>
            <a:r>
              <a:rPr lang="en-US" sz="1600" b="1" dirty="0">
                <a:solidFill>
                  <a:srgbClr val="0B6E75"/>
                </a:solidFill>
                <a:latin typeface="Calibri" pitchFamily="34" charset="0"/>
                <a:ea typeface="Calibri" pitchFamily="34" charset="-122"/>
                <a:cs typeface="Calibri" pitchFamily="34" charset="-120"/>
              </a:rPr>
              <a:t>What it does</a:t>
            </a:r>
            <a:endParaRPr lang="en-US" sz="1600" dirty="0"/>
          </a:p>
        </p:txBody>
      </p:sp>
      <p:sp>
        <p:nvSpPr>
          <p:cNvPr id="7" name="Text 5"/>
          <p:cNvSpPr txBox="1"/>
          <p:nvPr/>
        </p:nvSpPr>
        <p:spPr>
          <a:xfrm>
            <a:off x="3576320" y="2568672"/>
            <a:ext cx="5943600" cy="2880360"/>
          </a:xfrm>
          <a:prstGeom prst="rect">
            <a:avLst/>
          </a:prstGeom>
          <a:noFill/>
          <a:ln/>
        </p:spPr>
        <p:txBody>
          <a:bodyPr wrap="square" lIns="0" tIns="0" rIns="0" bIns="0" rtlCol="0" anchor="t"/>
          <a:lstStyle/>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Targets the same problem: language → smooth control for quadrupeds.</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Teaches the model to “think step by step” before acting (chain-of-thought).</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Two-stage training: learn to reason, then sharpen with reinforcement learning.</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Uses camera + depth + point cloud as input.</a:t>
            </a:r>
            <a:endParaRPr lang="en-US" sz="1450" dirty="0"/>
          </a:p>
          <a:p>
            <a:pPr marL="342900" indent="-342900">
              <a:spcAft>
                <a:spcPts val="1100"/>
              </a:spcAft>
              <a:buSzPct val="100000"/>
              <a:buChar char="•"/>
            </a:pPr>
            <a:r>
              <a:rPr lang="en-US" sz="1600" dirty="0"/>
              <a:t>About a </a:t>
            </a:r>
            <a:r>
              <a:rPr lang="en-US" sz="1600" b="1" dirty="0"/>
              <a:t>5% improvement</a:t>
            </a:r>
            <a:r>
              <a:rPr lang="en-US" sz="1600" dirty="0"/>
              <a:t> over strong baselines on VLN and VLA tasks</a:t>
            </a:r>
            <a:r>
              <a:rPr lang="en-US" sz="1450" dirty="0">
                <a:solidFill>
                  <a:srgbClr val="13293D"/>
                </a:solidFill>
                <a:latin typeface="Calibri" pitchFamily="34" charset="0"/>
                <a:ea typeface="Calibri" pitchFamily="34" charset="-122"/>
                <a:cs typeface="Calibri" pitchFamily="34" charset="-120"/>
              </a:rPr>
              <a:t>.</a:t>
            </a:r>
            <a:endParaRPr lang="en-US" sz="1450" dirty="0"/>
          </a:p>
        </p:txBody>
      </p:sp>
      <p:sp>
        <p:nvSpPr>
          <p:cNvPr id="11" name="Text 9"/>
          <p:cNvSpPr txBox="1"/>
          <p:nvPr/>
        </p:nvSpPr>
        <p:spPr>
          <a:xfrm>
            <a:off x="868680" y="824768"/>
            <a:ext cx="10058400" cy="320040"/>
          </a:xfrm>
          <a:prstGeom prst="rect">
            <a:avLst/>
          </a:prstGeom>
          <a:noFill/>
          <a:ln/>
        </p:spPr>
        <p:txBody>
          <a:bodyPr wrap="square" lIns="0" tIns="0" rIns="0" bIns="0" rtlCol="0" anchor="ctr"/>
          <a:lstStyle/>
          <a:p>
            <a:pPr marL="0" indent="0" algn="ctr">
              <a:buNone/>
            </a:pPr>
            <a:r>
              <a:rPr lang="en-US" sz="1100" i="1" dirty="0">
                <a:solidFill>
                  <a:srgbClr val="5A6E7A"/>
                </a:solidFill>
                <a:latin typeface="Calibri" pitchFamily="34" charset="0"/>
                <a:ea typeface="Calibri" pitchFamily="34" charset="-122"/>
                <a:cs typeface="Calibri" pitchFamily="34" charset="-120"/>
              </a:rPr>
              <a:t>Huang et al., 2025  ·  arXiv 2511.17889</a:t>
            </a:r>
            <a:endParaRPr lang="en-US" sz="1100" dirty="0"/>
          </a:p>
        </p:txBody>
      </p:sp>
      <p:sp>
        <p:nvSpPr>
          <p:cNvPr id="12" name="Text 10"/>
          <p:cNvSpPr txBox="1"/>
          <p:nvPr/>
        </p:nvSpPr>
        <p:spPr>
          <a:xfrm>
            <a:off x="11612880" y="6400800"/>
            <a:ext cx="365760" cy="274320"/>
          </a:xfrm>
          <a:prstGeom prst="rect">
            <a:avLst/>
          </a:prstGeom>
          <a:noFill/>
          <a:ln/>
        </p:spPr>
        <p:txBody>
          <a:bodyPr wrap="square" lIns="0" tIns="0" rIns="0" bIns="0" rtlCol="0" anchor="ctr"/>
          <a:lstStyle/>
          <a:p>
            <a:pPr marL="0" indent="0" algn="r">
              <a:buNone/>
            </a:pPr>
            <a:r>
              <a:rPr lang="en-US" sz="1000" dirty="0">
                <a:solidFill>
                  <a:srgbClr val="5A6E7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68680" y="384048"/>
            <a:ext cx="10789920" cy="640080"/>
          </a:xfrm>
          <a:prstGeom prst="rect">
            <a:avLst/>
          </a:prstGeom>
          <a:noFill/>
          <a:ln/>
        </p:spPr>
        <p:txBody>
          <a:bodyPr wrap="square" lIns="0" tIns="0" rIns="0" bIns="0" rtlCol="0" anchor="ctr"/>
          <a:lstStyle/>
          <a:p>
            <a:pPr marL="0" indent="0" algn="l">
              <a:buNone/>
            </a:pPr>
            <a:r>
              <a:rPr lang="en-US" sz="3000" b="1" dirty="0">
                <a:solidFill>
                  <a:srgbClr val="13293D"/>
                </a:solidFill>
                <a:latin typeface="Century Schoolbook" pitchFamily="34" charset="0"/>
                <a:ea typeface="Century Schoolbook" pitchFamily="34" charset="-122"/>
                <a:cs typeface="Century Schoolbook" pitchFamily="34" charset="-120"/>
              </a:rPr>
              <a:t>TrackVLA</a:t>
            </a:r>
            <a:endParaRPr lang="en-US" sz="3000" dirty="0"/>
          </a:p>
        </p:txBody>
      </p:sp>
      <p:sp>
        <p:nvSpPr>
          <p:cNvPr id="4" name="Text 2"/>
          <p:cNvSpPr txBox="1"/>
          <p:nvPr/>
        </p:nvSpPr>
        <p:spPr>
          <a:xfrm>
            <a:off x="868680" y="1369314"/>
            <a:ext cx="10607040" cy="365760"/>
          </a:xfrm>
          <a:prstGeom prst="rect">
            <a:avLst/>
          </a:prstGeom>
          <a:noFill/>
          <a:ln/>
        </p:spPr>
        <p:txBody>
          <a:bodyPr wrap="square" lIns="0" tIns="0" rIns="0" bIns="0" rtlCol="0" anchor="ctr"/>
          <a:lstStyle/>
          <a:p>
            <a:pPr marL="0" indent="0" algn="l">
              <a:buNone/>
            </a:pPr>
            <a:r>
              <a:rPr lang="en-US" sz="1500" i="1" dirty="0">
                <a:solidFill>
                  <a:srgbClr val="0B6E75"/>
                </a:solidFill>
                <a:latin typeface="Calibri" pitchFamily="34" charset="0"/>
                <a:ea typeface="Calibri" pitchFamily="34" charset="-122"/>
                <a:cs typeface="Calibri" pitchFamily="34" charset="-120"/>
              </a:rPr>
              <a:t>Following a moving target — runs on a Go2</a:t>
            </a:r>
            <a:endParaRPr lang="en-US" sz="1500" dirty="0"/>
          </a:p>
        </p:txBody>
      </p:sp>
      <p:sp>
        <p:nvSpPr>
          <p:cNvPr id="6" name="Text 4"/>
          <p:cNvSpPr txBox="1"/>
          <p:nvPr/>
        </p:nvSpPr>
        <p:spPr>
          <a:xfrm>
            <a:off x="1097280" y="1965960"/>
            <a:ext cx="5943600" cy="365760"/>
          </a:xfrm>
          <a:prstGeom prst="rect">
            <a:avLst/>
          </a:prstGeom>
          <a:noFill/>
          <a:ln/>
        </p:spPr>
        <p:txBody>
          <a:bodyPr wrap="square" lIns="0" tIns="0" rIns="0" bIns="0" rtlCol="0" anchor="ctr"/>
          <a:lstStyle/>
          <a:p>
            <a:pPr marL="0" indent="0">
              <a:buNone/>
            </a:pPr>
            <a:r>
              <a:rPr lang="en-US" sz="1600" b="1" dirty="0">
                <a:solidFill>
                  <a:srgbClr val="0B6E75"/>
                </a:solidFill>
                <a:latin typeface="Calibri" pitchFamily="34" charset="0"/>
                <a:ea typeface="Calibri" pitchFamily="34" charset="-122"/>
                <a:cs typeface="Calibri" pitchFamily="34" charset="-120"/>
              </a:rPr>
              <a:t>What it does</a:t>
            </a:r>
            <a:endParaRPr lang="en-US" sz="1600" dirty="0"/>
          </a:p>
        </p:txBody>
      </p:sp>
      <p:sp>
        <p:nvSpPr>
          <p:cNvPr id="7" name="Text 5"/>
          <p:cNvSpPr txBox="1"/>
          <p:nvPr/>
        </p:nvSpPr>
        <p:spPr>
          <a:xfrm>
            <a:off x="1097280" y="2377440"/>
            <a:ext cx="5943600" cy="2880360"/>
          </a:xfrm>
          <a:prstGeom prst="rect">
            <a:avLst/>
          </a:prstGeom>
          <a:noFill/>
          <a:ln/>
        </p:spPr>
        <p:txBody>
          <a:bodyPr wrap="square" lIns="0" tIns="0" rIns="0" bIns="0" rtlCol="0" anchor="t"/>
          <a:lstStyle/>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Different task: follow a described moving target (e.g. a person), not navigate to a place.</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One model does both recognition and path planning together.</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Fast — runs at 10 frames per second.</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Deployed on a real Unitree Go2 with a camera streaming to a GPU server.</a:t>
            </a:r>
            <a:endParaRPr lang="en-US" sz="1450" dirty="0"/>
          </a:p>
        </p:txBody>
      </p:sp>
      <p:sp>
        <p:nvSpPr>
          <p:cNvPr id="11" name="Text 9"/>
          <p:cNvSpPr txBox="1"/>
          <p:nvPr/>
        </p:nvSpPr>
        <p:spPr>
          <a:xfrm>
            <a:off x="868680" y="933060"/>
            <a:ext cx="10058400" cy="320040"/>
          </a:xfrm>
          <a:prstGeom prst="rect">
            <a:avLst/>
          </a:prstGeom>
          <a:noFill/>
          <a:ln/>
        </p:spPr>
        <p:txBody>
          <a:bodyPr wrap="square" lIns="0" tIns="0" rIns="0" bIns="0" rtlCol="0" anchor="ctr"/>
          <a:lstStyle/>
          <a:p>
            <a:pPr marL="0" indent="0">
              <a:buNone/>
            </a:pPr>
            <a:r>
              <a:rPr lang="en-US" sz="1100" i="1" dirty="0">
                <a:solidFill>
                  <a:srgbClr val="5A6E7A"/>
                </a:solidFill>
                <a:latin typeface="Calibri" pitchFamily="34" charset="0"/>
                <a:ea typeface="Calibri" pitchFamily="34" charset="-122"/>
                <a:cs typeface="Calibri" pitchFamily="34" charset="-120"/>
              </a:rPr>
              <a:t>Wang et al., 2025  ·  arXiv 2505.23189</a:t>
            </a:r>
            <a:endParaRPr lang="en-US" sz="1100" dirty="0"/>
          </a:p>
        </p:txBody>
      </p:sp>
      <p:sp>
        <p:nvSpPr>
          <p:cNvPr id="12" name="Text 10"/>
          <p:cNvSpPr txBox="1"/>
          <p:nvPr/>
        </p:nvSpPr>
        <p:spPr>
          <a:xfrm>
            <a:off x="11612880" y="6400800"/>
            <a:ext cx="365760" cy="274320"/>
          </a:xfrm>
          <a:prstGeom prst="rect">
            <a:avLst/>
          </a:prstGeom>
          <a:noFill/>
          <a:ln/>
        </p:spPr>
        <p:txBody>
          <a:bodyPr wrap="square" lIns="0" tIns="0" rIns="0" bIns="0" rtlCol="0" anchor="ctr"/>
          <a:lstStyle/>
          <a:p>
            <a:pPr marL="0" indent="0" algn="r">
              <a:buNone/>
            </a:pPr>
            <a:r>
              <a:rPr lang="en-US" sz="1000" dirty="0">
                <a:solidFill>
                  <a:srgbClr val="5A6E7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68680" y="384048"/>
            <a:ext cx="10789920" cy="640080"/>
          </a:xfrm>
          <a:prstGeom prst="rect">
            <a:avLst/>
          </a:prstGeom>
          <a:noFill/>
          <a:ln/>
        </p:spPr>
        <p:txBody>
          <a:bodyPr wrap="square" lIns="0" tIns="0" rIns="0" bIns="0" rtlCol="0" anchor="ctr"/>
          <a:lstStyle/>
          <a:p>
            <a:pPr marL="0" indent="0" algn="l">
              <a:buNone/>
            </a:pPr>
            <a:r>
              <a:rPr lang="en-US" sz="3000" b="1" dirty="0">
                <a:solidFill>
                  <a:srgbClr val="13293D"/>
                </a:solidFill>
                <a:latin typeface="Century Schoolbook" pitchFamily="34" charset="0"/>
                <a:ea typeface="Century Schoolbook" pitchFamily="34" charset="-122"/>
                <a:cs typeface="Century Schoolbook" pitchFamily="34" charset="-120"/>
              </a:rPr>
              <a:t>MoRE</a:t>
            </a:r>
            <a:endParaRPr lang="en-US" sz="3000" dirty="0"/>
          </a:p>
        </p:txBody>
      </p:sp>
      <p:sp>
        <p:nvSpPr>
          <p:cNvPr id="4" name="Text 2"/>
          <p:cNvSpPr txBox="1"/>
          <p:nvPr/>
        </p:nvSpPr>
        <p:spPr>
          <a:xfrm>
            <a:off x="868680" y="1348740"/>
            <a:ext cx="10607040" cy="365760"/>
          </a:xfrm>
          <a:prstGeom prst="rect">
            <a:avLst/>
          </a:prstGeom>
          <a:noFill/>
          <a:ln/>
        </p:spPr>
        <p:txBody>
          <a:bodyPr wrap="square" lIns="0" tIns="0" rIns="0" bIns="0" rtlCol="0" anchor="ctr"/>
          <a:lstStyle/>
          <a:p>
            <a:pPr marL="0" indent="0" algn="l">
              <a:buNone/>
            </a:pPr>
            <a:r>
              <a:rPr lang="en-US" sz="1500" i="1" dirty="0">
                <a:solidFill>
                  <a:srgbClr val="0B6E75"/>
                </a:solidFill>
                <a:latin typeface="Calibri" pitchFamily="34" charset="0"/>
                <a:ea typeface="Calibri" pitchFamily="34" charset="-122"/>
                <a:cs typeface="Calibri" pitchFamily="34" charset="-120"/>
              </a:rPr>
              <a:t>Scaling up training for quadruped VLAs — runs on a Go2</a:t>
            </a:r>
            <a:endParaRPr lang="en-US" sz="1500" dirty="0"/>
          </a:p>
        </p:txBody>
      </p:sp>
      <p:sp>
        <p:nvSpPr>
          <p:cNvPr id="6" name="Text 4"/>
          <p:cNvSpPr txBox="1"/>
          <p:nvPr/>
        </p:nvSpPr>
        <p:spPr>
          <a:xfrm>
            <a:off x="1097280" y="1943100"/>
            <a:ext cx="5943600" cy="365760"/>
          </a:xfrm>
          <a:prstGeom prst="rect">
            <a:avLst/>
          </a:prstGeom>
          <a:noFill/>
          <a:ln/>
        </p:spPr>
        <p:txBody>
          <a:bodyPr wrap="square" lIns="0" tIns="0" rIns="0" bIns="0" rtlCol="0" anchor="ctr"/>
          <a:lstStyle/>
          <a:p>
            <a:pPr marL="0" indent="0">
              <a:buNone/>
            </a:pPr>
            <a:r>
              <a:rPr lang="en-US" sz="1600" b="1" dirty="0">
                <a:solidFill>
                  <a:srgbClr val="0B6E75"/>
                </a:solidFill>
                <a:latin typeface="Calibri" pitchFamily="34" charset="0"/>
                <a:ea typeface="Calibri" pitchFamily="34" charset="-122"/>
                <a:cs typeface="Calibri" pitchFamily="34" charset="-120"/>
              </a:rPr>
              <a:t>What it does</a:t>
            </a:r>
            <a:endParaRPr lang="en-US" sz="1600" dirty="0"/>
          </a:p>
        </p:txBody>
      </p:sp>
      <p:sp>
        <p:nvSpPr>
          <p:cNvPr id="7" name="Text 5"/>
          <p:cNvSpPr txBox="1"/>
          <p:nvPr/>
        </p:nvSpPr>
        <p:spPr>
          <a:xfrm>
            <a:off x="1097280" y="2377440"/>
            <a:ext cx="5943600" cy="2880360"/>
          </a:xfrm>
          <a:prstGeom prst="rect">
            <a:avLst/>
          </a:prstGeom>
          <a:noFill/>
          <a:ln/>
        </p:spPr>
        <p:txBody>
          <a:bodyPr wrap="square" lIns="0" tIns="0" rIns="0" bIns="0" rtlCol="0" anchor="t"/>
          <a:lstStyle/>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Makes a quadruped VLA bigger without a big jump in compute.</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Uses a “mixture of experts”: only the relevant parts of the model switch on per task.</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Learns from messy, mixed-quality data — not just perfect demos.</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Beat baselines by up to ~20% across six skills, on a real Go2.</a:t>
            </a:r>
            <a:endParaRPr lang="en-US" sz="1450" dirty="0"/>
          </a:p>
        </p:txBody>
      </p:sp>
      <p:sp>
        <p:nvSpPr>
          <p:cNvPr id="11" name="Text 9"/>
          <p:cNvSpPr txBox="1"/>
          <p:nvPr/>
        </p:nvSpPr>
        <p:spPr>
          <a:xfrm>
            <a:off x="868680" y="864108"/>
            <a:ext cx="10058400" cy="320040"/>
          </a:xfrm>
          <a:prstGeom prst="rect">
            <a:avLst/>
          </a:prstGeom>
          <a:noFill/>
          <a:ln/>
        </p:spPr>
        <p:txBody>
          <a:bodyPr wrap="square" lIns="0" tIns="0" rIns="0" bIns="0" rtlCol="0" anchor="ctr"/>
          <a:lstStyle/>
          <a:p>
            <a:pPr marL="0" indent="0">
              <a:buNone/>
            </a:pPr>
            <a:r>
              <a:rPr lang="en-US" sz="1100" i="1" dirty="0">
                <a:solidFill>
                  <a:srgbClr val="5A6E7A"/>
                </a:solidFill>
                <a:latin typeface="Calibri" pitchFamily="34" charset="0"/>
                <a:ea typeface="Calibri" pitchFamily="34" charset="-122"/>
                <a:cs typeface="Calibri" pitchFamily="34" charset="-120"/>
              </a:rPr>
              <a:t>Zhao et al., 2025  ·  arXiv 2503.08007</a:t>
            </a:r>
            <a:endParaRPr lang="en-US" sz="1100" dirty="0"/>
          </a:p>
        </p:txBody>
      </p:sp>
      <p:sp>
        <p:nvSpPr>
          <p:cNvPr id="12" name="Text 10"/>
          <p:cNvSpPr txBox="1"/>
          <p:nvPr/>
        </p:nvSpPr>
        <p:spPr>
          <a:xfrm>
            <a:off x="11612880" y="6400800"/>
            <a:ext cx="365760" cy="274320"/>
          </a:xfrm>
          <a:prstGeom prst="rect">
            <a:avLst/>
          </a:prstGeom>
          <a:noFill/>
          <a:ln/>
        </p:spPr>
        <p:txBody>
          <a:bodyPr wrap="square" lIns="0" tIns="0" rIns="0" bIns="0" rtlCol="0" anchor="ctr"/>
          <a:lstStyle/>
          <a:p>
            <a:pPr marL="0" indent="0" algn="r">
              <a:buNone/>
            </a:pPr>
            <a:r>
              <a:rPr lang="en-US" sz="1000" dirty="0">
                <a:solidFill>
                  <a:srgbClr val="5A6E7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68680" y="384048"/>
            <a:ext cx="10789920" cy="640080"/>
          </a:xfrm>
          <a:prstGeom prst="rect">
            <a:avLst/>
          </a:prstGeom>
          <a:noFill/>
          <a:ln/>
        </p:spPr>
        <p:txBody>
          <a:bodyPr wrap="square" lIns="0" tIns="0" rIns="0" bIns="0" rtlCol="0" anchor="ctr"/>
          <a:lstStyle/>
          <a:p>
            <a:pPr marL="0" indent="0" algn="l">
              <a:buNone/>
            </a:pPr>
            <a:r>
              <a:rPr lang="en-US" sz="3000" b="1" dirty="0">
                <a:solidFill>
                  <a:srgbClr val="13293D"/>
                </a:solidFill>
                <a:latin typeface="Century Schoolbook" pitchFamily="34" charset="0"/>
                <a:ea typeface="Century Schoolbook" pitchFamily="34" charset="-122"/>
                <a:cs typeface="Century Schoolbook" pitchFamily="34" charset="-120"/>
              </a:rPr>
              <a:t>Token Pruning for VLN</a:t>
            </a:r>
            <a:endParaRPr lang="en-US" sz="3000" dirty="0"/>
          </a:p>
        </p:txBody>
      </p:sp>
      <p:sp>
        <p:nvSpPr>
          <p:cNvPr id="4" name="Text 2"/>
          <p:cNvSpPr txBox="1"/>
          <p:nvPr/>
        </p:nvSpPr>
        <p:spPr>
          <a:xfrm>
            <a:off x="868680" y="1504188"/>
            <a:ext cx="10607040" cy="365760"/>
          </a:xfrm>
          <a:prstGeom prst="rect">
            <a:avLst/>
          </a:prstGeom>
          <a:noFill/>
          <a:ln/>
        </p:spPr>
        <p:txBody>
          <a:bodyPr wrap="square" lIns="0" tIns="0" rIns="0" bIns="0" rtlCol="0" anchor="ctr"/>
          <a:lstStyle/>
          <a:p>
            <a:pPr marL="0" indent="0" algn="l">
              <a:buNone/>
            </a:pPr>
            <a:r>
              <a:rPr lang="en-US" sz="1500" i="1" dirty="0">
                <a:solidFill>
                  <a:srgbClr val="0B6E75"/>
                </a:solidFill>
                <a:latin typeface="Calibri" pitchFamily="34" charset="0"/>
                <a:ea typeface="Calibri" pitchFamily="34" charset="-122"/>
                <a:cs typeface="Calibri" pitchFamily="34" charset="-120"/>
              </a:rPr>
              <a:t>Making navigation models faster — runs on a Go2</a:t>
            </a:r>
            <a:endParaRPr lang="en-US" sz="1500" dirty="0"/>
          </a:p>
        </p:txBody>
      </p:sp>
      <p:sp>
        <p:nvSpPr>
          <p:cNvPr id="6" name="Text 4"/>
          <p:cNvSpPr txBox="1"/>
          <p:nvPr/>
        </p:nvSpPr>
        <p:spPr>
          <a:xfrm>
            <a:off x="1097280" y="1965960"/>
            <a:ext cx="5943600" cy="365760"/>
          </a:xfrm>
          <a:prstGeom prst="rect">
            <a:avLst/>
          </a:prstGeom>
          <a:noFill/>
          <a:ln/>
        </p:spPr>
        <p:txBody>
          <a:bodyPr wrap="square" lIns="0" tIns="0" rIns="0" bIns="0" rtlCol="0" anchor="ctr"/>
          <a:lstStyle/>
          <a:p>
            <a:pPr marL="0" indent="0">
              <a:buNone/>
            </a:pPr>
            <a:r>
              <a:rPr lang="en-US" sz="1600" b="1" dirty="0">
                <a:solidFill>
                  <a:srgbClr val="0B6E75"/>
                </a:solidFill>
                <a:latin typeface="Calibri" pitchFamily="34" charset="0"/>
                <a:ea typeface="Calibri" pitchFamily="34" charset="-122"/>
                <a:cs typeface="Calibri" pitchFamily="34" charset="-120"/>
              </a:rPr>
              <a:t>What it does</a:t>
            </a:r>
            <a:endParaRPr lang="en-US" sz="1600" dirty="0"/>
          </a:p>
        </p:txBody>
      </p:sp>
      <p:sp>
        <p:nvSpPr>
          <p:cNvPr id="7" name="Text 5"/>
          <p:cNvSpPr txBox="1"/>
          <p:nvPr/>
        </p:nvSpPr>
        <p:spPr>
          <a:xfrm>
            <a:off x="1097280" y="2377440"/>
            <a:ext cx="5943600" cy="2880360"/>
          </a:xfrm>
          <a:prstGeom prst="rect">
            <a:avLst/>
          </a:prstGeom>
          <a:noFill/>
          <a:ln/>
        </p:spPr>
        <p:txBody>
          <a:bodyPr wrap="square" lIns="0" tIns="0" rIns="0" bIns="0" rtlCol="0" anchor="t"/>
          <a:lstStyle/>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Navigation models are slow because they process many image pieces (“tokens”).</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This method drops the tokens that don’t add useful information.</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Treats the current view and past frames differently (keeps recent detail, compresses old).</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No retraining needed — plug it into an existing model.</a:t>
            </a:r>
            <a:endParaRPr lang="en-US" sz="1450" dirty="0"/>
          </a:p>
          <a:p>
            <a:pPr marL="342900" indent="-342900">
              <a:spcAft>
                <a:spcPts val="1100"/>
              </a:spcAft>
              <a:buSzPct val="100000"/>
              <a:buChar char="•"/>
            </a:pPr>
            <a:r>
              <a:rPr lang="en-US" sz="1450" dirty="0">
                <a:solidFill>
                  <a:srgbClr val="13293D"/>
                </a:solidFill>
                <a:latin typeface="Calibri" pitchFamily="34" charset="0"/>
                <a:ea typeface="Calibri" pitchFamily="34" charset="-122"/>
                <a:cs typeface="Calibri" pitchFamily="34" charset="-120"/>
              </a:rPr>
              <a:t>Faster with little loss in accuracy; tested on a real Go2.</a:t>
            </a:r>
            <a:endParaRPr lang="en-US" sz="1450" dirty="0"/>
          </a:p>
        </p:txBody>
      </p:sp>
      <p:sp>
        <p:nvSpPr>
          <p:cNvPr id="11" name="Text 9"/>
          <p:cNvSpPr txBox="1"/>
          <p:nvPr/>
        </p:nvSpPr>
        <p:spPr>
          <a:xfrm>
            <a:off x="868680" y="864108"/>
            <a:ext cx="10058400" cy="320040"/>
          </a:xfrm>
          <a:prstGeom prst="rect">
            <a:avLst/>
          </a:prstGeom>
          <a:noFill/>
          <a:ln/>
        </p:spPr>
        <p:txBody>
          <a:bodyPr wrap="square" lIns="0" tIns="0" rIns="0" bIns="0" rtlCol="0" anchor="ctr"/>
          <a:lstStyle/>
          <a:p>
            <a:pPr marL="0" indent="0">
              <a:buNone/>
            </a:pPr>
            <a:r>
              <a:rPr lang="en-US" sz="1100" i="1" dirty="0">
                <a:solidFill>
                  <a:srgbClr val="5A6E7A"/>
                </a:solidFill>
                <a:latin typeface="Calibri" pitchFamily="34" charset="0"/>
                <a:ea typeface="Calibri" pitchFamily="34" charset="-122"/>
                <a:cs typeface="Calibri" pitchFamily="34" charset="-120"/>
              </a:rPr>
              <a:t>Wang et al., 2026  ·  arXiv 2603.06480</a:t>
            </a:r>
            <a:endParaRPr lang="en-US" sz="1100" dirty="0"/>
          </a:p>
        </p:txBody>
      </p:sp>
      <p:sp>
        <p:nvSpPr>
          <p:cNvPr id="12" name="Text 10"/>
          <p:cNvSpPr txBox="1"/>
          <p:nvPr/>
        </p:nvSpPr>
        <p:spPr>
          <a:xfrm>
            <a:off x="11612880" y="6400800"/>
            <a:ext cx="365760" cy="274320"/>
          </a:xfrm>
          <a:prstGeom prst="rect">
            <a:avLst/>
          </a:prstGeom>
          <a:noFill/>
          <a:ln/>
        </p:spPr>
        <p:txBody>
          <a:bodyPr wrap="square" lIns="0" tIns="0" rIns="0" bIns="0" rtlCol="0" anchor="ctr"/>
          <a:lstStyle/>
          <a:p>
            <a:pPr marL="0" indent="0" algn="r">
              <a:buNone/>
            </a:pPr>
            <a:r>
              <a:rPr lang="en-US" sz="1000" dirty="0">
                <a:solidFill>
                  <a:srgbClr val="5A6E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68680" y="384048"/>
            <a:ext cx="10789920" cy="640080"/>
          </a:xfrm>
          <a:prstGeom prst="rect">
            <a:avLst/>
          </a:prstGeom>
          <a:noFill/>
          <a:ln/>
        </p:spPr>
        <p:txBody>
          <a:bodyPr wrap="square" lIns="0" tIns="0" rIns="0" bIns="0" rtlCol="0" anchor="ctr"/>
          <a:lstStyle/>
          <a:p>
            <a:pPr marL="0" indent="0" algn="l">
              <a:buNone/>
            </a:pPr>
            <a:r>
              <a:rPr lang="en-US" sz="3000" b="1" dirty="0">
                <a:solidFill>
                  <a:srgbClr val="13293D"/>
                </a:solidFill>
                <a:latin typeface="Century Schoolbook" pitchFamily="34" charset="0"/>
                <a:ea typeface="Century Schoolbook" pitchFamily="34" charset="-122"/>
                <a:cs typeface="Century Schoolbook" pitchFamily="34" charset="-120"/>
              </a:rPr>
              <a:t>Future work</a:t>
            </a:r>
            <a:endParaRPr lang="en-US" sz="3000" dirty="0"/>
          </a:p>
        </p:txBody>
      </p:sp>
      <p:sp>
        <p:nvSpPr>
          <p:cNvPr id="5" name="Shape 3"/>
          <p:cNvSpPr/>
          <p:nvPr/>
        </p:nvSpPr>
        <p:spPr>
          <a:xfrm>
            <a:off x="868680" y="1783080"/>
            <a:ext cx="10424160" cy="1417320"/>
          </a:xfrm>
          <a:prstGeom prst="roundRect">
            <a:avLst>
              <a:gd name="adj" fmla="val 5806"/>
            </a:avLst>
          </a:prstGeom>
          <a:solidFill>
            <a:srgbClr val="E8F1F2"/>
          </a:solidFill>
          <a:ln/>
          <a:effectLst>
            <a:outerShdw blurRad="76200" dist="25400" dir="5400000" algn="bl" rotWithShape="0">
              <a:srgbClr val="AAB4BB">
                <a:alpha val="35000"/>
              </a:srgbClr>
            </a:outerShdw>
          </a:effectLst>
        </p:spPr>
        <p:txBody>
          <a:bodyPr/>
          <a:lstStyle/>
          <a:p>
            <a:endParaRPr lang="en-US"/>
          </a:p>
        </p:txBody>
      </p:sp>
      <p:sp>
        <p:nvSpPr>
          <p:cNvPr id="6" name="Text 4"/>
          <p:cNvSpPr txBox="1"/>
          <p:nvPr/>
        </p:nvSpPr>
        <p:spPr>
          <a:xfrm>
            <a:off x="1097280" y="1920240"/>
            <a:ext cx="2743200" cy="365760"/>
          </a:xfrm>
          <a:prstGeom prst="rect">
            <a:avLst/>
          </a:prstGeom>
          <a:noFill/>
          <a:ln/>
        </p:spPr>
        <p:txBody>
          <a:bodyPr wrap="square" lIns="0" tIns="0" rIns="0" bIns="0" rtlCol="0" anchor="ctr"/>
          <a:lstStyle/>
          <a:p>
            <a:pPr marL="0" indent="0">
              <a:buNone/>
            </a:pPr>
            <a:r>
              <a:rPr lang="en-US" sz="1500" b="1" dirty="0">
                <a:solidFill>
                  <a:srgbClr val="0B6E75"/>
                </a:solidFill>
                <a:latin typeface="Calibri" pitchFamily="34" charset="0"/>
                <a:ea typeface="Calibri" pitchFamily="34" charset="-122"/>
                <a:cs typeface="Calibri" pitchFamily="34" charset="-120"/>
              </a:rPr>
              <a:t>Core path</a:t>
            </a:r>
            <a:endParaRPr lang="en-US" sz="1500" dirty="0"/>
          </a:p>
        </p:txBody>
      </p:sp>
      <p:sp>
        <p:nvSpPr>
          <p:cNvPr id="7" name="Shape 5"/>
          <p:cNvSpPr/>
          <p:nvPr/>
        </p:nvSpPr>
        <p:spPr>
          <a:xfrm>
            <a:off x="1097280" y="2331720"/>
            <a:ext cx="2240280" cy="640080"/>
          </a:xfrm>
          <a:prstGeom prst="roundRect">
            <a:avLst>
              <a:gd name="adj" fmla="val 11429"/>
            </a:avLst>
          </a:prstGeom>
          <a:solidFill>
            <a:srgbClr val="0B6E75"/>
          </a:solidFill>
          <a:ln/>
        </p:spPr>
        <p:txBody>
          <a:bodyPr/>
          <a:lstStyle/>
          <a:p>
            <a:endParaRPr lang="en-US"/>
          </a:p>
        </p:txBody>
      </p:sp>
      <p:sp>
        <p:nvSpPr>
          <p:cNvPr id="8" name="Text 6"/>
          <p:cNvSpPr txBox="1"/>
          <p:nvPr/>
        </p:nvSpPr>
        <p:spPr>
          <a:xfrm>
            <a:off x="1097280" y="2331720"/>
            <a:ext cx="224028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Connect Orin ↔ Go2</a:t>
            </a:r>
            <a:endParaRPr lang="en-US" sz="1250" dirty="0"/>
          </a:p>
        </p:txBody>
      </p:sp>
      <p:sp>
        <p:nvSpPr>
          <p:cNvPr id="9" name="Text 7"/>
          <p:cNvSpPr txBox="1"/>
          <p:nvPr/>
        </p:nvSpPr>
        <p:spPr>
          <a:xfrm>
            <a:off x="3310128" y="2331720"/>
            <a:ext cx="320040" cy="640080"/>
          </a:xfrm>
          <a:prstGeom prst="rect">
            <a:avLst/>
          </a:prstGeom>
          <a:noFill/>
          <a:ln/>
        </p:spPr>
        <p:txBody>
          <a:bodyPr wrap="square" lIns="0" tIns="0" rIns="0" bIns="0" rtlCol="0" anchor="ctr"/>
          <a:lstStyle/>
          <a:p>
            <a:pPr marL="0" indent="0" algn="ctr">
              <a:buNone/>
            </a:pPr>
            <a:r>
              <a:rPr lang="en-US" sz="1600" dirty="0">
                <a:solidFill>
                  <a:srgbClr val="5A6E7A"/>
                </a:solidFill>
              </a:rPr>
              <a:t>➜</a:t>
            </a:r>
            <a:endParaRPr lang="en-US" sz="1600" dirty="0"/>
          </a:p>
        </p:txBody>
      </p:sp>
      <p:sp>
        <p:nvSpPr>
          <p:cNvPr id="10" name="Shape 8"/>
          <p:cNvSpPr/>
          <p:nvPr/>
        </p:nvSpPr>
        <p:spPr>
          <a:xfrm>
            <a:off x="3639312" y="2331720"/>
            <a:ext cx="2240280" cy="640080"/>
          </a:xfrm>
          <a:prstGeom prst="roundRect">
            <a:avLst>
              <a:gd name="adj" fmla="val 11429"/>
            </a:avLst>
          </a:prstGeom>
          <a:solidFill>
            <a:srgbClr val="0B6E75"/>
          </a:solidFill>
          <a:ln/>
        </p:spPr>
        <p:txBody>
          <a:bodyPr/>
          <a:lstStyle/>
          <a:p>
            <a:endParaRPr lang="en-US"/>
          </a:p>
        </p:txBody>
      </p:sp>
      <p:sp>
        <p:nvSpPr>
          <p:cNvPr id="11" name="Text 9"/>
          <p:cNvSpPr txBox="1"/>
          <p:nvPr/>
        </p:nvSpPr>
        <p:spPr>
          <a:xfrm>
            <a:off x="3639312" y="2331720"/>
            <a:ext cx="224028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Build Go2 in Isaac Sim</a:t>
            </a:r>
            <a:endParaRPr lang="en-US" sz="1250" dirty="0"/>
          </a:p>
        </p:txBody>
      </p:sp>
      <p:sp>
        <p:nvSpPr>
          <p:cNvPr id="12" name="Text 10"/>
          <p:cNvSpPr txBox="1"/>
          <p:nvPr/>
        </p:nvSpPr>
        <p:spPr>
          <a:xfrm>
            <a:off x="5852160" y="2331720"/>
            <a:ext cx="320040" cy="640080"/>
          </a:xfrm>
          <a:prstGeom prst="rect">
            <a:avLst/>
          </a:prstGeom>
          <a:noFill/>
          <a:ln/>
        </p:spPr>
        <p:txBody>
          <a:bodyPr wrap="square" lIns="0" tIns="0" rIns="0" bIns="0" rtlCol="0" anchor="ctr"/>
          <a:lstStyle/>
          <a:p>
            <a:pPr marL="0" indent="0" algn="ctr">
              <a:buNone/>
            </a:pPr>
            <a:r>
              <a:rPr lang="en-US" sz="1600" dirty="0">
                <a:solidFill>
                  <a:srgbClr val="5A6E7A"/>
                </a:solidFill>
              </a:rPr>
              <a:t>➜</a:t>
            </a:r>
            <a:endParaRPr lang="en-US" sz="1600" dirty="0"/>
          </a:p>
        </p:txBody>
      </p:sp>
      <p:sp>
        <p:nvSpPr>
          <p:cNvPr id="13" name="Shape 11"/>
          <p:cNvSpPr/>
          <p:nvPr/>
        </p:nvSpPr>
        <p:spPr>
          <a:xfrm>
            <a:off x="6181344" y="2331720"/>
            <a:ext cx="2240280" cy="640080"/>
          </a:xfrm>
          <a:prstGeom prst="roundRect">
            <a:avLst>
              <a:gd name="adj" fmla="val 11429"/>
            </a:avLst>
          </a:prstGeom>
          <a:solidFill>
            <a:srgbClr val="0B6E75"/>
          </a:solidFill>
          <a:ln/>
        </p:spPr>
        <p:txBody>
          <a:bodyPr/>
          <a:lstStyle/>
          <a:p>
            <a:endParaRPr lang="en-US"/>
          </a:p>
        </p:txBody>
      </p:sp>
      <p:sp>
        <p:nvSpPr>
          <p:cNvPr id="14" name="Text 12"/>
          <p:cNvSpPr txBox="1"/>
          <p:nvPr/>
        </p:nvSpPr>
        <p:spPr>
          <a:xfrm>
            <a:off x="6181344" y="2331720"/>
            <a:ext cx="224028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Run the VLA in sim</a:t>
            </a:r>
            <a:endParaRPr lang="en-US" sz="1250" dirty="0"/>
          </a:p>
        </p:txBody>
      </p:sp>
      <p:sp>
        <p:nvSpPr>
          <p:cNvPr id="15" name="Text 13"/>
          <p:cNvSpPr txBox="1"/>
          <p:nvPr/>
        </p:nvSpPr>
        <p:spPr>
          <a:xfrm>
            <a:off x="8394192" y="2331720"/>
            <a:ext cx="320040" cy="640080"/>
          </a:xfrm>
          <a:prstGeom prst="rect">
            <a:avLst/>
          </a:prstGeom>
          <a:noFill/>
          <a:ln/>
        </p:spPr>
        <p:txBody>
          <a:bodyPr wrap="square" lIns="0" tIns="0" rIns="0" bIns="0" rtlCol="0" anchor="ctr"/>
          <a:lstStyle/>
          <a:p>
            <a:pPr marL="0" indent="0" algn="ctr">
              <a:buNone/>
            </a:pPr>
            <a:r>
              <a:rPr lang="en-US" sz="1600" dirty="0">
                <a:solidFill>
                  <a:srgbClr val="5A6E7A"/>
                </a:solidFill>
              </a:rPr>
              <a:t>➜</a:t>
            </a:r>
            <a:endParaRPr lang="en-US" sz="1600" dirty="0"/>
          </a:p>
        </p:txBody>
      </p:sp>
      <p:sp>
        <p:nvSpPr>
          <p:cNvPr id="16" name="Shape 14"/>
          <p:cNvSpPr/>
          <p:nvPr/>
        </p:nvSpPr>
        <p:spPr>
          <a:xfrm>
            <a:off x="8723376" y="2331720"/>
            <a:ext cx="2240280" cy="640080"/>
          </a:xfrm>
          <a:prstGeom prst="roundRect">
            <a:avLst>
              <a:gd name="adj" fmla="val 11429"/>
            </a:avLst>
          </a:prstGeom>
          <a:solidFill>
            <a:srgbClr val="EE6C4D"/>
          </a:solidFill>
          <a:ln/>
        </p:spPr>
        <p:txBody>
          <a:bodyPr/>
          <a:lstStyle/>
          <a:p>
            <a:endParaRPr lang="en-US"/>
          </a:p>
        </p:txBody>
      </p:sp>
      <p:sp>
        <p:nvSpPr>
          <p:cNvPr id="17" name="Text 15"/>
          <p:cNvSpPr txBox="1"/>
          <p:nvPr/>
        </p:nvSpPr>
        <p:spPr>
          <a:xfrm>
            <a:off x="8723376" y="2331720"/>
            <a:ext cx="224028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Deploy on real Go2</a:t>
            </a:r>
            <a:endParaRPr lang="en-US" sz="1250" dirty="0"/>
          </a:p>
        </p:txBody>
      </p:sp>
      <p:sp>
        <p:nvSpPr>
          <p:cNvPr id="18" name="Text 16"/>
          <p:cNvSpPr txBox="1"/>
          <p:nvPr/>
        </p:nvSpPr>
        <p:spPr>
          <a:xfrm>
            <a:off x="1097280" y="3474720"/>
            <a:ext cx="7315200" cy="365760"/>
          </a:xfrm>
          <a:prstGeom prst="rect">
            <a:avLst/>
          </a:prstGeom>
          <a:noFill/>
          <a:ln/>
        </p:spPr>
        <p:txBody>
          <a:bodyPr wrap="square" lIns="0" tIns="0" rIns="0" bIns="0" rtlCol="0" anchor="ctr"/>
          <a:lstStyle/>
          <a:p>
            <a:pPr marL="0" indent="0">
              <a:buNone/>
            </a:pPr>
            <a:r>
              <a:rPr lang="en-US" sz="1500" b="1" dirty="0">
                <a:solidFill>
                  <a:srgbClr val="0B6E75"/>
                </a:solidFill>
                <a:latin typeface="Calibri" pitchFamily="34" charset="0"/>
                <a:ea typeface="Calibri" pitchFamily="34" charset="-122"/>
                <a:cs typeface="Calibri" pitchFamily="34" charset="-120"/>
              </a:rPr>
              <a:t>Next steps (near term)</a:t>
            </a:r>
            <a:endParaRPr lang="en-US" sz="1500" dirty="0"/>
          </a:p>
        </p:txBody>
      </p:sp>
      <p:sp>
        <p:nvSpPr>
          <p:cNvPr id="19" name="Shape 17"/>
          <p:cNvSpPr/>
          <p:nvPr/>
        </p:nvSpPr>
        <p:spPr>
          <a:xfrm>
            <a:off x="868680" y="3886200"/>
            <a:ext cx="3337560" cy="1371600"/>
          </a:xfrm>
          <a:prstGeom prst="roundRect">
            <a:avLst>
              <a:gd name="adj" fmla="val 6000"/>
            </a:avLst>
          </a:prstGeom>
          <a:solidFill>
            <a:srgbClr val="E8F1F2"/>
          </a:solidFill>
          <a:ln/>
          <a:effectLst>
            <a:outerShdw blurRad="76200" dist="25400" dir="5400000" algn="bl" rotWithShape="0">
              <a:srgbClr val="AAB4BB">
                <a:alpha val="35000"/>
              </a:srgbClr>
            </a:outerShdw>
          </a:effectLst>
        </p:spPr>
        <p:txBody>
          <a:bodyPr/>
          <a:lstStyle/>
          <a:p>
            <a:endParaRPr lang="en-US"/>
          </a:p>
        </p:txBody>
      </p:sp>
      <p:sp>
        <p:nvSpPr>
          <p:cNvPr id="20" name="Text 18"/>
          <p:cNvSpPr txBox="1"/>
          <p:nvPr/>
        </p:nvSpPr>
        <p:spPr>
          <a:xfrm>
            <a:off x="1097280" y="4069080"/>
            <a:ext cx="2880360" cy="548640"/>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Get Task 1 working</a:t>
            </a:r>
            <a:endParaRPr lang="en-US" sz="1450" dirty="0"/>
          </a:p>
        </p:txBody>
      </p:sp>
      <p:sp>
        <p:nvSpPr>
          <p:cNvPr id="21" name="Text 19"/>
          <p:cNvSpPr txBox="1"/>
          <p:nvPr/>
        </p:nvSpPr>
        <p:spPr>
          <a:xfrm>
            <a:off x="1097280" y="4553712"/>
            <a:ext cx="2880360" cy="594360"/>
          </a:xfrm>
          <a:prstGeom prst="rect">
            <a:avLst/>
          </a:prstGeom>
          <a:noFill/>
          <a:ln/>
        </p:spPr>
        <p:txBody>
          <a:bodyPr wrap="square" lIns="0" tIns="0" rIns="0" bIns="0" rtlCol="0" anchor="ctr"/>
          <a:lstStyle/>
          <a:p>
            <a:pPr marL="0" indent="0">
              <a:buNone/>
            </a:pPr>
            <a:r>
              <a:rPr lang="en-US" sz="1200" dirty="0">
                <a:solidFill>
                  <a:srgbClr val="5A6E7A"/>
                </a:solidFill>
                <a:latin typeface="Calibri" pitchFamily="34" charset="0"/>
                <a:ea typeface="Calibri" pitchFamily="34" charset="-122"/>
                <a:cs typeface="Calibri" pitchFamily="34" charset="-120"/>
              </a:rPr>
              <a:t>Read sensors + send commands on the real Go2</a:t>
            </a:r>
            <a:endParaRPr lang="en-US" sz="1200" dirty="0"/>
          </a:p>
        </p:txBody>
      </p:sp>
      <p:sp>
        <p:nvSpPr>
          <p:cNvPr id="22" name="Shape 20"/>
          <p:cNvSpPr/>
          <p:nvPr/>
        </p:nvSpPr>
        <p:spPr>
          <a:xfrm>
            <a:off x="4370832" y="3886200"/>
            <a:ext cx="3337560" cy="1371600"/>
          </a:xfrm>
          <a:prstGeom prst="roundRect">
            <a:avLst>
              <a:gd name="adj" fmla="val 6000"/>
            </a:avLst>
          </a:prstGeom>
          <a:solidFill>
            <a:srgbClr val="E8F1F2"/>
          </a:solidFill>
          <a:ln/>
          <a:effectLst>
            <a:outerShdw blurRad="76200" dist="25400" dir="5400000" algn="bl" rotWithShape="0">
              <a:srgbClr val="AAB4BB">
                <a:alpha val="35000"/>
              </a:srgbClr>
            </a:outerShdw>
          </a:effectLst>
        </p:spPr>
        <p:txBody>
          <a:bodyPr/>
          <a:lstStyle/>
          <a:p>
            <a:endParaRPr lang="en-US"/>
          </a:p>
        </p:txBody>
      </p:sp>
      <p:sp>
        <p:nvSpPr>
          <p:cNvPr id="23" name="Text 21"/>
          <p:cNvSpPr txBox="1"/>
          <p:nvPr/>
        </p:nvSpPr>
        <p:spPr>
          <a:xfrm>
            <a:off x="4599432" y="4069080"/>
            <a:ext cx="2880360" cy="548640"/>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Set up simulation</a:t>
            </a:r>
            <a:endParaRPr lang="en-US" sz="1450" dirty="0"/>
          </a:p>
        </p:txBody>
      </p:sp>
      <p:sp>
        <p:nvSpPr>
          <p:cNvPr id="24" name="Text 22"/>
          <p:cNvSpPr txBox="1"/>
          <p:nvPr/>
        </p:nvSpPr>
        <p:spPr>
          <a:xfrm>
            <a:off x="4599432" y="4553712"/>
            <a:ext cx="2880360" cy="594360"/>
          </a:xfrm>
          <a:prstGeom prst="rect">
            <a:avLst/>
          </a:prstGeom>
          <a:noFill/>
          <a:ln/>
        </p:spPr>
        <p:txBody>
          <a:bodyPr wrap="square" lIns="0" tIns="0" rIns="0" bIns="0" rtlCol="0" anchor="ctr"/>
          <a:lstStyle/>
          <a:p>
            <a:pPr marL="0" indent="0">
              <a:buNone/>
            </a:pPr>
            <a:r>
              <a:rPr lang="en-US" sz="1200" dirty="0">
                <a:solidFill>
                  <a:srgbClr val="5A6E7A"/>
                </a:solidFill>
                <a:latin typeface="Calibri" pitchFamily="34" charset="0"/>
                <a:ea typeface="Calibri" pitchFamily="34" charset="-122"/>
                <a:cs typeface="Calibri" pitchFamily="34" charset="-120"/>
              </a:rPr>
              <a:t>Install Isaac Sim / Isaac Lab, load the Go2</a:t>
            </a:r>
            <a:endParaRPr lang="en-US" sz="1200" dirty="0"/>
          </a:p>
        </p:txBody>
      </p:sp>
      <p:sp>
        <p:nvSpPr>
          <p:cNvPr id="25" name="Shape 23"/>
          <p:cNvSpPr/>
          <p:nvPr/>
        </p:nvSpPr>
        <p:spPr>
          <a:xfrm>
            <a:off x="7872984" y="3886200"/>
            <a:ext cx="3337560" cy="1371600"/>
          </a:xfrm>
          <a:prstGeom prst="roundRect">
            <a:avLst>
              <a:gd name="adj" fmla="val 6000"/>
            </a:avLst>
          </a:prstGeom>
          <a:solidFill>
            <a:srgbClr val="E8F1F2"/>
          </a:solidFill>
          <a:ln/>
          <a:effectLst>
            <a:outerShdw blurRad="76200" dist="25400" dir="5400000" algn="bl" rotWithShape="0">
              <a:srgbClr val="AAB4BB">
                <a:alpha val="35000"/>
              </a:srgbClr>
            </a:outerShdw>
          </a:effectLst>
        </p:spPr>
        <p:txBody>
          <a:bodyPr/>
          <a:lstStyle/>
          <a:p>
            <a:endParaRPr lang="en-US"/>
          </a:p>
        </p:txBody>
      </p:sp>
      <p:sp>
        <p:nvSpPr>
          <p:cNvPr id="26" name="Text 24"/>
          <p:cNvSpPr txBox="1"/>
          <p:nvPr/>
        </p:nvSpPr>
        <p:spPr>
          <a:xfrm>
            <a:off x="8101584" y="4069080"/>
            <a:ext cx="2880360" cy="548640"/>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Pick a VLA model</a:t>
            </a:r>
            <a:endParaRPr lang="en-US" sz="1450" dirty="0"/>
          </a:p>
        </p:txBody>
      </p:sp>
      <p:sp>
        <p:nvSpPr>
          <p:cNvPr id="27" name="Text 25"/>
          <p:cNvSpPr txBox="1"/>
          <p:nvPr/>
        </p:nvSpPr>
        <p:spPr>
          <a:xfrm>
            <a:off x="8101584" y="4553712"/>
            <a:ext cx="2880360" cy="594360"/>
          </a:xfrm>
          <a:prstGeom prst="rect">
            <a:avLst/>
          </a:prstGeom>
          <a:noFill/>
          <a:ln/>
        </p:spPr>
        <p:txBody>
          <a:bodyPr wrap="square" lIns="0" tIns="0" rIns="0" bIns="0" rtlCol="0" anchor="ctr"/>
          <a:lstStyle/>
          <a:p>
            <a:pPr marL="0" indent="0">
              <a:buNone/>
            </a:pPr>
            <a:r>
              <a:rPr lang="en-US" sz="1200" dirty="0">
                <a:solidFill>
                  <a:srgbClr val="5A6E7A"/>
                </a:solidFill>
                <a:latin typeface="Calibri" pitchFamily="34" charset="0"/>
                <a:ea typeface="Calibri" pitchFamily="34" charset="-122"/>
                <a:cs typeface="Calibri" pitchFamily="34" charset="-120"/>
              </a:rPr>
              <a:t>Start from NaVILA; keep StreamVLN as backup</a:t>
            </a:r>
            <a:endParaRPr lang="en-US" sz="1200" dirty="0"/>
          </a:p>
        </p:txBody>
      </p:sp>
      <p:sp>
        <p:nvSpPr>
          <p:cNvPr id="30" name="Text 28"/>
          <p:cNvSpPr txBox="1"/>
          <p:nvPr/>
        </p:nvSpPr>
        <p:spPr>
          <a:xfrm>
            <a:off x="11612880" y="6400800"/>
            <a:ext cx="365760" cy="274320"/>
          </a:xfrm>
          <a:prstGeom prst="rect">
            <a:avLst/>
          </a:prstGeom>
          <a:noFill/>
          <a:ln/>
        </p:spPr>
        <p:txBody>
          <a:bodyPr wrap="square" lIns="0" tIns="0" rIns="0" bIns="0" rtlCol="0" anchor="ctr"/>
          <a:lstStyle/>
          <a:p>
            <a:pPr marL="0" indent="0" algn="r">
              <a:buNone/>
            </a:pPr>
            <a:r>
              <a:rPr lang="en-US" sz="1000" dirty="0">
                <a:solidFill>
                  <a:srgbClr val="5A6E7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black and white text&#10;&#10;AI-generated content may be incorrect.">
            <a:extLst>
              <a:ext uri="{FF2B5EF4-FFF2-40B4-BE49-F238E27FC236}">
                <a16:creationId xmlns:a16="http://schemas.microsoft.com/office/drawing/2014/main" id="{9E5BCF9B-7288-A58D-2D6A-7B97F149B7BB}"/>
              </a:ext>
            </a:extLst>
          </p:cNvPr>
          <p:cNvPicPr>
            <a:picLocks noChangeAspect="1"/>
          </p:cNvPicPr>
          <p:nvPr/>
        </p:nvPicPr>
        <p:blipFill>
          <a:blip r:embed="rId2"/>
          <a:stretch>
            <a:fillRect/>
          </a:stretch>
        </p:blipFill>
        <p:spPr>
          <a:xfrm>
            <a:off x="1168400" y="934282"/>
            <a:ext cx="9855200" cy="5344598"/>
          </a:xfrm>
          <a:prstGeom prst="rect">
            <a:avLst/>
          </a:prstGeom>
        </p:spPr>
      </p:pic>
    </p:spTree>
    <p:extLst>
      <p:ext uri="{BB962C8B-B14F-4D97-AF65-F5344CB8AC3E}">
        <p14:creationId xmlns:p14="http://schemas.microsoft.com/office/powerpoint/2010/main" val="22124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TotalTime>
  <Words>2170</Words>
  <Application>Microsoft Macintosh PowerPoint</Application>
  <PresentationFormat>Widescreen</PresentationFormat>
  <Paragraphs>151</Paragraphs>
  <Slides>15</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Century Schoolbook</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Prachi Yadav</cp:lastModifiedBy>
  <cp:revision>3</cp:revision>
  <dcterms:created xsi:type="dcterms:W3CDTF">2026-09-10T16:35:48Z</dcterms:created>
  <dcterms:modified xsi:type="dcterms:W3CDTF">2026-09-10T19:33:40Z</dcterms:modified>
</cp:coreProperties>
</file>