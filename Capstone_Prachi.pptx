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9d880c349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9d880c349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f9d880c349_1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d880c34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d880c349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f9d880c349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023211" y="422432"/>
            <a:ext cx="1338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963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8963A"/>
                </a:solidFill>
                <a:latin typeface="Calibri"/>
                <a:ea typeface="Calibri"/>
                <a:cs typeface="Calibri"/>
                <a:sym typeface="Calibri"/>
              </a:rPr>
              <a:t>CAPSTONE PROJECT  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9993" y="1315919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dirty="0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Vision-Language-Action Navigation for a Quadruped Robot</a:t>
            </a:r>
            <a:endParaRPr sz="4000" b="1" dirty="0">
              <a:solidFill>
                <a:srgbClr val="1A22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4000"/>
              <a:buFont typeface="Calibri"/>
              <a:buNone/>
            </a:pPr>
            <a:endParaRPr sz="4000" b="1" dirty="0">
              <a:solidFill>
                <a:srgbClr val="1A22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655292" y="2792675"/>
            <a:ext cx="10881423" cy="3211276"/>
            <a:chOff x="640017" y="3200400"/>
            <a:chExt cx="10881423" cy="3211276"/>
          </a:xfrm>
        </p:grpSpPr>
        <p:cxnSp>
          <p:nvCxnSpPr>
            <p:cNvPr id="19" name="Google Shape;19;p3"/>
            <p:cNvCxnSpPr/>
            <p:nvPr/>
          </p:nvCxnSpPr>
          <p:spPr>
            <a:xfrm>
              <a:off x="4434840" y="3200400"/>
              <a:ext cx="0" cy="2377440"/>
            </a:xfrm>
            <a:prstGeom prst="straightConnector1">
              <a:avLst/>
            </a:prstGeom>
            <a:noFill/>
            <a:ln w="12700" cap="flat" cmpd="sng">
              <a:solidFill>
                <a:srgbClr val="E3E7E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3"/>
            <p:cNvCxnSpPr/>
            <p:nvPr/>
          </p:nvCxnSpPr>
          <p:spPr>
            <a:xfrm>
              <a:off x="7635240" y="3200400"/>
              <a:ext cx="0" cy="2377440"/>
            </a:xfrm>
            <a:prstGeom prst="straightConnector1">
              <a:avLst/>
            </a:prstGeom>
            <a:noFill/>
            <a:ln w="12700" cap="flat" cmpd="sng">
              <a:solidFill>
                <a:srgbClr val="E3E7E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" name="Google Shape;21;p3"/>
            <p:cNvSpPr/>
            <p:nvPr/>
          </p:nvSpPr>
          <p:spPr>
            <a:xfrm>
              <a:off x="640080" y="3200400"/>
              <a:ext cx="475488" cy="475488"/>
            </a:xfrm>
            <a:prstGeom prst="ellipse">
              <a:avLst/>
            </a:prstGeom>
            <a:solidFill>
              <a:srgbClr val="1C72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640080" y="3200400"/>
              <a:ext cx="475488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 txBox="1"/>
            <p:nvPr/>
          </p:nvSpPr>
          <p:spPr>
            <a:xfrm>
              <a:off x="1261872" y="3291840"/>
              <a:ext cx="27614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AA3B0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9AA3B0"/>
                  </a:solidFill>
                  <a:latin typeface="Calibri"/>
                  <a:ea typeface="Calibri"/>
                  <a:cs typeface="Calibri"/>
                  <a:sym typeface="Calibri"/>
                </a:rPr>
                <a:t>PHASE 1  ·  </a:t>
              </a:r>
              <a:r>
                <a:rPr lang="en-US" sz="1200" b="1">
                  <a:solidFill>
                    <a:srgbClr val="9AA3B0"/>
                  </a:solidFill>
                  <a:latin typeface="Calibri"/>
                  <a:ea typeface="Calibri"/>
                  <a:cs typeface="Calibri"/>
                  <a:sym typeface="Calibri"/>
                </a:rPr>
                <a:t>Task 1 &amp; Task 2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640080" y="3931920"/>
              <a:ext cx="33832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2233"/>
                </a:buClr>
                <a:buSzPts val="2200"/>
                <a:buFont typeface="Calibri"/>
                <a:buNone/>
              </a:pPr>
              <a:r>
                <a:rPr lang="en-US" sz="2200" b="1" i="0" u="none" strike="noStrike" cap="none">
                  <a:solidFill>
                    <a:srgbClr val="1A2233"/>
                  </a:solidFill>
                  <a:latin typeface="Calibri"/>
                  <a:ea typeface="Calibri"/>
                  <a:cs typeface="Calibri"/>
                  <a:sym typeface="Calibri"/>
                </a:rPr>
                <a:t>Sep 1 – Sep 30</a:t>
              </a:r>
              <a:endPara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640025" y="4709176"/>
              <a:ext cx="3383400" cy="17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Task 1: NVIDIA Orin–Go2 Integration and High-Level Control.</a:t>
              </a: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Task 2: Go2 Simulation Environment</a:t>
              </a: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400"/>
                <a:buFont typeface="Calibri"/>
                <a:buNone/>
              </a:pPr>
              <a:endParaRPr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 txBox="1"/>
            <p:nvPr/>
          </p:nvSpPr>
          <p:spPr>
            <a:xfrm>
              <a:off x="640017" y="5736040"/>
              <a:ext cx="3383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C7293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≈ 4 weeks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663440" y="3200400"/>
              <a:ext cx="475488" cy="475488"/>
            </a:xfrm>
            <a:prstGeom prst="ellipse">
              <a:avLst/>
            </a:prstGeom>
            <a:solidFill>
              <a:srgbClr val="E896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 txBox="1"/>
            <p:nvPr/>
          </p:nvSpPr>
          <p:spPr>
            <a:xfrm>
              <a:off x="4663440" y="3200400"/>
              <a:ext cx="475488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"/>
            <p:cNvSpPr txBox="1"/>
            <p:nvPr/>
          </p:nvSpPr>
          <p:spPr>
            <a:xfrm>
              <a:off x="5285232" y="3291840"/>
              <a:ext cx="2121408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9AA3B0"/>
                </a:buClr>
                <a:buSzPts val="1200"/>
              </a:pPr>
              <a:r>
                <a:rPr lang="en-US" sz="1200" b="1" i="0" u="none" strike="noStrike" cap="none" dirty="0">
                  <a:solidFill>
                    <a:srgbClr val="9AA3B0"/>
                  </a:solidFill>
                  <a:latin typeface="Calibri"/>
                  <a:ea typeface="Calibri"/>
                  <a:cs typeface="Calibri"/>
                  <a:sym typeface="Calibri"/>
                </a:rPr>
                <a:t>PHASE 2  ·  </a:t>
              </a:r>
              <a:r>
                <a:rPr lang="en-US" sz="1200" b="1" dirty="0">
                  <a:solidFill>
                    <a:srgbClr val="9AA3B0"/>
                  </a:solidFill>
                  <a:latin typeface="Calibri"/>
                  <a:ea typeface="Calibri"/>
                  <a:cs typeface="Calibri"/>
                  <a:sym typeface="Calibri"/>
                </a:rPr>
                <a:t>TASK 3 VLA</a:t>
              </a:r>
              <a:endPara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AA3B0"/>
                </a:buClr>
                <a:buSzPts val="1200"/>
                <a:buFont typeface="Calibri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"/>
            <p:cNvSpPr txBox="1"/>
            <p:nvPr/>
          </p:nvSpPr>
          <p:spPr>
            <a:xfrm>
              <a:off x="4663440" y="3931920"/>
              <a:ext cx="2743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2233"/>
                </a:buClr>
                <a:buSzPts val="2200"/>
                <a:buFont typeface="Calibri"/>
                <a:buNone/>
              </a:pPr>
              <a:r>
                <a:rPr lang="en-US" sz="2200" b="1" i="0" u="none" strike="noStrike" cap="none" dirty="0">
                  <a:solidFill>
                    <a:srgbClr val="1A2233"/>
                  </a:solidFill>
                  <a:latin typeface="Calibri"/>
                  <a:ea typeface="Calibri"/>
                  <a:cs typeface="Calibri"/>
                  <a:sym typeface="Calibri"/>
                </a:rPr>
                <a:t>Oct 1 – </a:t>
              </a:r>
              <a:r>
                <a:rPr lang="en-US" sz="2200" b="1" dirty="0">
                  <a:solidFill>
                    <a:srgbClr val="1A2233"/>
                  </a:solidFill>
                  <a:latin typeface="Calibri"/>
                  <a:ea typeface="Calibri"/>
                  <a:cs typeface="Calibri"/>
                  <a:sym typeface="Calibri"/>
                </a:rPr>
                <a:t>Nov 15</a:t>
              </a:r>
              <a:endParaRPr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"/>
            <p:cNvSpPr txBox="1"/>
            <p:nvPr/>
          </p:nvSpPr>
          <p:spPr>
            <a:xfrm>
              <a:off x="4663440" y="4434840"/>
              <a:ext cx="2743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400"/>
                <a:buFont typeface="Calibri"/>
                <a:buNone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Task 3: VLA-Based Control in Simulation</a:t>
              </a:r>
            </a:p>
          </p:txBody>
        </p:sp>
        <p:sp>
          <p:nvSpPr>
            <p:cNvPr id="32" name="Google Shape;32;p3"/>
            <p:cNvSpPr txBox="1"/>
            <p:nvPr/>
          </p:nvSpPr>
          <p:spPr>
            <a:xfrm>
              <a:off x="4546058" y="5257800"/>
              <a:ext cx="27432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963A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 dirty="0">
                  <a:solidFill>
                    <a:srgbClr val="E8963A"/>
                  </a:solidFill>
                  <a:latin typeface="Calibri"/>
                  <a:ea typeface="Calibri"/>
                  <a:cs typeface="Calibri"/>
                  <a:sym typeface="Calibri"/>
                </a:rPr>
                <a:t>≈ 6 week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7863840" y="3200400"/>
              <a:ext cx="475488" cy="475488"/>
            </a:xfrm>
            <a:prstGeom prst="ellipse">
              <a:avLst/>
            </a:prstGeom>
            <a:solidFill>
              <a:srgbClr val="5B6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7863840" y="3200400"/>
              <a:ext cx="475488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 txBox="1"/>
            <p:nvPr/>
          </p:nvSpPr>
          <p:spPr>
            <a:xfrm>
              <a:off x="8485562" y="3314700"/>
              <a:ext cx="3035808" cy="320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9AA3B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Phase 3 . Task 4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"/>
            <p:cNvSpPr txBox="1"/>
            <p:nvPr/>
          </p:nvSpPr>
          <p:spPr>
            <a:xfrm>
              <a:off x="7863840" y="3931920"/>
              <a:ext cx="3657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A2233"/>
                </a:buClr>
                <a:buSzPts val="2200"/>
                <a:buFont typeface="Calibri"/>
                <a:buNone/>
              </a:pPr>
              <a:r>
                <a:rPr lang="en-US" sz="2200" b="1" dirty="0">
                  <a:solidFill>
                    <a:srgbClr val="1A2233"/>
                  </a:solidFill>
                  <a:latin typeface="Calibri"/>
                  <a:ea typeface="Calibri"/>
                  <a:cs typeface="Calibri"/>
                  <a:sym typeface="Calibri"/>
                </a:rPr>
                <a:t>Nov 16 -</a:t>
              </a:r>
              <a:r>
                <a:rPr lang="en-US" sz="2200" b="1" i="0" u="none" strike="noStrike" cap="none" dirty="0">
                  <a:solidFill>
                    <a:srgbClr val="1A2233"/>
                  </a:solidFill>
                  <a:latin typeface="Calibri"/>
                  <a:ea typeface="Calibri"/>
                  <a:cs typeface="Calibri"/>
                  <a:sym typeface="Calibri"/>
                </a:rPr>
                <a:t> Dec 7</a:t>
              </a:r>
              <a:endParaRPr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 txBox="1"/>
            <p:nvPr/>
          </p:nvSpPr>
          <p:spPr>
            <a:xfrm>
              <a:off x="7863840" y="4434840"/>
              <a:ext cx="36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5B6472"/>
                </a:buClr>
                <a:buSzPts val="14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Task 4: </a:t>
              </a:r>
              <a:r>
                <a:rPr lang="en-US" dirty="0">
                  <a:solidFill>
                    <a:srgbClr val="000000"/>
                  </a:solidFill>
                  <a:effectLst/>
                  <a:latin typeface="Helvetica" pitchFamily="2" charset="0"/>
                </a:rPr>
                <a:t>VLA Deployment on the Real Go2</a:t>
              </a: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6472"/>
                </a:buClr>
                <a:buSzPts val="1400"/>
                <a:buFont typeface="Calibri"/>
                <a:buNone/>
              </a:pPr>
              <a:endParaRPr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 txBox="1"/>
            <p:nvPr/>
          </p:nvSpPr>
          <p:spPr>
            <a:xfrm>
              <a:off x="7863840" y="5349240"/>
              <a:ext cx="36576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5B6FCF"/>
                </a:buClr>
                <a:buSzPts val="1200"/>
                <a:buFont typeface="Calibri"/>
                <a:buNone/>
              </a:pPr>
              <a:r>
                <a:rPr lang="en-US" sz="1200" b="1" i="0" u="none" strike="noStrike" cap="none" dirty="0">
                  <a:solidFill>
                    <a:srgbClr val="5B6FCF"/>
                  </a:solidFill>
                  <a:latin typeface="Calibri"/>
                  <a:ea typeface="Calibri"/>
                  <a:cs typeface="Calibri"/>
                  <a:sym typeface="Calibri"/>
                </a:rPr>
                <a:t>≈ 3</a:t>
              </a:r>
              <a:r>
                <a:rPr lang="en-US" sz="1200" b="1" dirty="0">
                  <a:solidFill>
                    <a:srgbClr val="5B6FC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 b="1" i="0" u="none" strike="noStrike" cap="none" dirty="0">
                  <a:solidFill>
                    <a:srgbClr val="5B6FCF"/>
                  </a:solidFill>
                  <a:latin typeface="Calibri"/>
                  <a:ea typeface="Calibri"/>
                  <a:cs typeface="Calibri"/>
                  <a:sym typeface="Calibri"/>
                </a:rPr>
                <a:t>weeks</a:t>
              </a: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9FCDEA-95D9-BB15-40AC-2DCDA8C2FDB6}"/>
              </a:ext>
            </a:extLst>
          </p:cNvPr>
          <p:cNvSpPr txBox="1"/>
          <p:nvPr/>
        </p:nvSpPr>
        <p:spPr>
          <a:xfrm>
            <a:off x="3819214" y="2119138"/>
            <a:ext cx="4462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Grades will be based on efforts not on the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/>
        </p:nvSpPr>
        <p:spPr>
          <a:xfrm>
            <a:off x="1802125" y="614425"/>
            <a:ext cx="74853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Plan for this week:</a:t>
            </a:r>
            <a:endParaRPr sz="23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279425" y="1513475"/>
            <a:ext cx="9670200" cy="4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Read through the various research papers related to VLA and robotics: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NaVILA: Legged Robot Vision-Language-Action Model for Navigation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MobileVLA-R1: Reinforcing Vision-Language-Action for Mobile Robots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TrackVLA: Embodied Visual Tracking in the Wild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MoRE: Unlocking Scalability in Reinforcement Learning for Quadruped Vision-Language-Action Models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History-Conditioned Spatio-Temporal Visual Token Pruning for Efficient Vision-Language Navigation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1938050" y="363500"/>
            <a:ext cx="80079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Blockers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903075" y="1199850"/>
            <a:ext cx="11165100" cy="41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 version of Go2 SDK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Macintosh PowerPoint</Application>
  <PresentationFormat>Widescreen</PresentationFormat>
  <Paragraphs>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Prachi Yadav</cp:lastModifiedBy>
  <cp:revision>1</cp:revision>
  <dcterms:modified xsi:type="dcterms:W3CDTF">2026-09-01T20:30:58Z</dcterms:modified>
</cp:coreProperties>
</file>